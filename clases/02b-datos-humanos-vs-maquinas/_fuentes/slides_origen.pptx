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28.xml.rels" ContentType="application/vnd.openxmlformats-package.relationships+xml"/>
  <Override PartName="/ppt/notesSlides/_rels/notesSlide22.xml.rels" ContentType="application/vnd.openxmlformats-package.relationships+xml"/>
  <Override PartName="/ppt/notesSlides/_rels/notesSlide20.xml.rels" ContentType="application/vnd.openxmlformats-package.relationships+xml"/>
  <Override PartName="/ppt/notesSlides/_rels/notesSlide30.xml.rels" ContentType="application/vnd.openxmlformats-package.relationships+xml"/>
  <Override PartName="/ppt/notesSlides/_rels/notesSlide1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24.xml.rels" ContentType="application/vnd.openxmlformats-package.relationships+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24.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_rels/presentation.xml.rels" ContentType="application/vnd.openxmlformats-package.relationships+xml"/>
  <Override PartName="/ppt/media/image56.png" ContentType="image/png"/>
  <Override PartName="/ppt/media/image55.png" ContentType="image/png"/>
  <Override PartName="/ppt/media/image54.png" ContentType="image/png"/>
  <Override PartName="/ppt/media/image5.wmf" ContentType="image/x-wmf"/>
  <Override PartName="/ppt/media/image10.png" ContentType="image/png"/>
  <Override PartName="/ppt/media/image47.png" ContentType="image/png"/>
  <Override PartName="/ppt/media/image34.png" ContentType="image/png"/>
  <Override PartName="/ppt/media/image4.png" ContentType="image/png"/>
  <Override PartName="/ppt/media/image16.png" ContentType="image/png"/>
  <Override PartName="/ppt/media/image49.jpeg" ContentType="image/jpeg"/>
  <Override PartName="/ppt/media/image27.png" ContentType="image/png"/>
  <Override PartName="/ppt/media/image33.png" ContentType="image/png"/>
  <Override PartName="/ppt/media/image3.png" ContentType="image/png"/>
  <Override PartName="/ppt/media/image15.png" ContentType="image/png"/>
  <Override PartName="/ppt/media/image26.png" ContentType="image/png"/>
  <Override PartName="/ppt/media/image29.png" ContentType="image/png"/>
  <Override PartName="/ppt/media/image14.png" ContentType="image/png"/>
  <Override PartName="/ppt/media/image62.png" ContentType="image/png"/>
  <Override PartName="/ppt/media/image25.png" ContentType="image/png"/>
  <Override PartName="/ppt/media/image28.png" ContentType="image/png"/>
  <Override PartName="/ppt/media/image61.png" ContentType="image/png"/>
  <Override PartName="/ppt/media/image19.png" ContentType="image/png"/>
  <Override PartName="/ppt/media/image24.png" ContentType="image/png"/>
  <Override PartName="/ppt/media/image59.png" ContentType="image/png"/>
  <Override PartName="/ppt/media/image22.png" ContentType="image/png"/>
  <Override PartName="/ppt/media/image2.wmf" ContentType="image/x-wmf"/>
  <Override PartName="/ppt/media/image57.png" ContentType="image/png"/>
  <Override PartName="/ppt/media/image20.png" ContentType="image/png"/>
  <Override PartName="/ppt/media/image60.png" ContentType="image/png"/>
  <Override PartName="/ppt/media/image23.png" ContentType="image/png"/>
  <Override PartName="/ppt/media/image58.png" ContentType="image/png"/>
  <Override PartName="/ppt/media/image21.png" ContentType="image/png"/>
  <Override PartName="/ppt/media/image18.png" ContentType="image/png"/>
  <Override PartName="/ppt/media/image6.png" ContentType="image/png"/>
  <Override PartName="/ppt/media/image36.png" ContentType="image/png"/>
  <Override PartName="/ppt/media/image1.tif" ContentType="image/tiff"/>
  <Override PartName="/ppt/media/image11.png" ContentType="image/png"/>
  <Override PartName="/ppt/media/image48.png" ContentType="image/png"/>
  <Override PartName="/ppt/media/image17.png" ContentType="image/png"/>
  <Override PartName="/ppt/media/image7.tif" ContentType="image/tiff"/>
  <Override PartName="/ppt/media/image41.png" ContentType="image/png"/>
  <Override PartName="/ppt/media/image9.png" ContentType="image/png"/>
  <Override PartName="/ppt/media/image39.png" ContentType="image/png"/>
  <Override PartName="/ppt/media/image12.png" ContentType="image/png"/>
  <Override PartName="/ppt/media/image8.wmf" ContentType="image/x-wmf"/>
  <Override PartName="/ppt/media/image40.png" ContentType="image/png"/>
  <Override PartName="/ppt/media/image13.png" ContentType="image/png"/>
  <Override PartName="/ppt/media/image30.png" ContentType="image/png"/>
  <Override PartName="/ppt/media/image31.png" ContentType="image/png"/>
  <Override PartName="/ppt/media/image32.png" ContentType="image/png"/>
  <Override PartName="/ppt/media/image35.png" ContentType="image/png"/>
  <Override PartName="/ppt/media/image37.png" ContentType="image/png"/>
  <Override PartName="/ppt/media/image38.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50.png" ContentType="image/png"/>
  <Override PartName="/ppt/media/image51.png" ContentType="image/png"/>
  <Override PartName="/ppt/media/image52.png" ContentType="image/png"/>
  <Override PartName="/ppt/media/image53.png" ContentType="image/png"/>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charts/chart1.xml" ContentType="application/vnd.openxmlformats-officedocument.drawingml.char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1.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DeepEye-SQL</c:v>
                </c:pt>
              </c:strCache>
            </c:strRef>
          </c:tx>
          <c:spPr>
            <a:solidFill>
              <a:srgbClr val="7a828c"/>
            </a:solidFill>
            <a:ln w="0">
              <a:solidFill>
                <a:srgbClr val="7a828c"/>
              </a:solidFill>
            </a:ln>
          </c:spPr>
          <c:invertIfNegative val="0"/>
          <c:dLbls>
            <c:numFmt formatCode="0.0" sourceLinked="0"/>
            <c:txPr>
              <a:bodyPr wrap="square"/>
              <a:lstStyle/>
              <a:p>
                <a:pPr>
                  <a:defRPr b="0" sz="1000" spc="-1" strike="noStrike">
                    <a:solidFill>
                      <a:srgbClr val="323232"/>
                    </a:solidFill>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GPT-5.3 Codex</c:v>
                </c:pt>
                <c:pt idx="1">
                  <c:v>GPT-5</c:v>
                </c:pt>
                <c:pt idx="2">
                  <c:v>Gemma-4-31B</c:v>
                </c:pt>
              </c:strCache>
            </c:strRef>
          </c:cat>
          <c:val>
            <c:numRef>
              <c:f>0</c:f>
              <c:numCache>
                <c:formatCode>General</c:formatCode>
                <c:ptCount val="3"/>
                <c:pt idx="0">
                  <c:v>41</c:v>
                </c:pt>
                <c:pt idx="1">
                  <c:v>42</c:v>
                </c:pt>
                <c:pt idx="2">
                  <c:v>35.5</c:v>
                </c:pt>
              </c:numCache>
            </c:numRef>
          </c:val>
        </c:ser>
        <c:ser>
          <c:idx val="1"/>
          <c:order val="1"/>
          <c:tx>
            <c:strRef>
              <c:f>label 1</c:f>
              <c:strCache>
                <c:ptCount val="1"/>
                <c:pt idx="0">
                  <c:v>AutoLink</c:v>
                </c:pt>
              </c:strCache>
            </c:strRef>
          </c:tx>
          <c:spPr>
            <a:solidFill>
              <a:srgbClr val="c5ab72"/>
            </a:solidFill>
            <a:ln w="0">
              <a:solidFill>
                <a:srgbClr val="c5ab72"/>
              </a:solidFill>
            </a:ln>
          </c:spPr>
          <c:invertIfNegative val="0"/>
          <c:dLbls>
            <c:numFmt formatCode="0.0" sourceLinked="0"/>
            <c:txPr>
              <a:bodyPr wrap="square"/>
              <a:lstStyle/>
              <a:p>
                <a:pPr>
                  <a:defRPr b="0" sz="1000" spc="-1" strike="noStrike">
                    <a:solidFill>
                      <a:srgbClr val="323232"/>
                    </a:solidFill>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GPT-5.3 Codex</c:v>
                </c:pt>
                <c:pt idx="1">
                  <c:v>GPT-5</c:v>
                </c:pt>
                <c:pt idx="2">
                  <c:v>Gemma-4-31B</c:v>
                </c:pt>
              </c:strCache>
            </c:strRef>
          </c:cat>
          <c:val>
            <c:numRef>
              <c:f>1</c:f>
              <c:numCache>
                <c:formatCode>General</c:formatCode>
                <c:ptCount val="3"/>
                <c:pt idx="0">
                  <c:v>55.2</c:v>
                </c:pt>
                <c:pt idx="1">
                  <c:v>53.2</c:v>
                </c:pt>
                <c:pt idx="2">
                  <c:v>43.3</c:v>
                </c:pt>
              </c:numCache>
            </c:numRef>
          </c:val>
        </c:ser>
        <c:ser>
          <c:idx val="2"/>
          <c:order val="2"/>
          <c:tx>
            <c:strRef>
              <c:f>label 2</c:f>
              <c:strCache>
                <c:ptCount val="1"/>
                <c:pt idx="0">
                  <c:v>SOMA-SQL</c:v>
                </c:pt>
              </c:strCache>
            </c:strRef>
          </c:tx>
          <c:spPr>
            <a:solidFill>
              <a:srgbClr val="2f6b3a"/>
            </a:solidFill>
            <a:ln w="0">
              <a:solidFill>
                <a:srgbClr val="2f6b3a"/>
              </a:solidFill>
            </a:ln>
          </c:spPr>
          <c:invertIfNegative val="0"/>
          <c:dLbls>
            <c:numFmt formatCode="0.0" sourceLinked="0"/>
            <c:txPr>
              <a:bodyPr wrap="square"/>
              <a:lstStyle/>
              <a:p>
                <a:pPr>
                  <a:defRPr b="0" sz="1000" spc="-1" strike="noStrike">
                    <a:solidFill>
                      <a:srgbClr val="323232"/>
                    </a:solidFill>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GPT-5.3 Codex</c:v>
                </c:pt>
                <c:pt idx="1">
                  <c:v>GPT-5</c:v>
                </c:pt>
                <c:pt idx="2">
                  <c:v>Gemma-4-31B</c:v>
                </c:pt>
              </c:strCache>
            </c:strRef>
          </c:cat>
          <c:val>
            <c:numRef>
              <c:f>2</c:f>
              <c:numCache>
                <c:formatCode>General</c:formatCode>
                <c:ptCount val="3"/>
                <c:pt idx="0">
                  <c:v>64.5</c:v>
                </c:pt>
                <c:pt idx="1">
                  <c:v>66</c:v>
                </c:pt>
                <c:pt idx="2">
                  <c:v>60</c:v>
                </c:pt>
              </c:numCache>
            </c:numRef>
          </c:val>
        </c:ser>
        <c:gapWidth val="150"/>
        <c:overlap val="0"/>
        <c:axId val="4217936"/>
        <c:axId val="84137545"/>
      </c:barChart>
      <c:catAx>
        <c:axId val="4217936"/>
        <c:scaling>
          <c:orientation val="minMax"/>
        </c:scaling>
        <c:delete val="0"/>
        <c:axPos val="b"/>
        <c:numFmt formatCode="General" sourceLinked="0"/>
        <c:majorTickMark val="out"/>
        <c:minorTickMark val="none"/>
        <c:tickLblPos val="nextTo"/>
        <c:spPr>
          <a:ln w="9360">
            <a:solidFill>
              <a:srgbClr val="787878"/>
            </a:solidFill>
            <a:round/>
          </a:ln>
        </c:spPr>
        <c:txPr>
          <a:bodyPr/>
          <a:lstStyle/>
          <a:p>
            <a:pPr>
              <a:defRPr b="1" sz="1400" spc="-1" strike="noStrike">
                <a:solidFill>
                  <a:srgbClr val="373737"/>
                </a:solidFill>
                <a:latin typeface="Calibri"/>
              </a:defRPr>
            </a:pPr>
          </a:p>
        </c:txPr>
        <c:crossAx val="84137545"/>
        <c:crosses val="autoZero"/>
        <c:auto val="1"/>
        <c:lblAlgn val="ctr"/>
        <c:lblOffset val="100"/>
        <c:noMultiLvlLbl val="0"/>
      </c:catAx>
      <c:valAx>
        <c:axId val="84137545"/>
        <c:scaling>
          <c:orientation val="minMax"/>
          <c:max val="100"/>
          <c:min val="0"/>
        </c:scaling>
        <c:delete val="0"/>
        <c:axPos val="l"/>
        <c:majorGridlines>
          <c:spPr>
            <a:ln w="9000">
              <a:solidFill>
                <a:srgbClr val="dcdfe4"/>
              </a:solidFill>
              <a:round/>
            </a:ln>
          </c:spPr>
        </c:majorGridlines>
        <c:numFmt formatCode="General" sourceLinked="0"/>
        <c:majorTickMark val="out"/>
        <c:minorTickMark val="none"/>
        <c:tickLblPos val="nextTo"/>
        <c:spPr>
          <a:ln w="9360">
            <a:solidFill>
              <a:srgbClr val="787878"/>
            </a:solidFill>
            <a:round/>
          </a:ln>
        </c:spPr>
        <c:txPr>
          <a:bodyPr/>
          <a:lstStyle/>
          <a:p>
            <a:pPr>
              <a:defRPr b="0" sz="1000" spc="-1" strike="noStrike">
                <a:solidFill>
                  <a:srgbClr val="5f6267"/>
                </a:solidFill>
                <a:latin typeface="Calibri"/>
              </a:defRPr>
            </a:pPr>
          </a:p>
        </c:txPr>
        <c:crossAx val="4217936"/>
        <c:crosses val="autoZero"/>
        <c:crossBetween val="between"/>
        <c:majorUnit val="20"/>
      </c:valAx>
      <c:spPr>
        <a:noFill/>
        <a:ln w="0">
          <a:noFill/>
        </a:ln>
      </c:spPr>
    </c:plotArea>
    <c:plotVisOnly val="1"/>
    <c:dispBlanksAs val="gap"/>
  </c:chart>
  <c:spPr>
    <a:noFill/>
    <a:ln w="9360">
      <a:solidFill>
        <a:srgbClr val="d9d9d9"/>
      </a:solidFill>
      <a:round/>
    </a:ln>
  </c:spPr>
</c:chartSpac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9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95"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96"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97"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AE2516BB-8567-4557-A26A-55BA6CD2AB70}"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Times New Roman"/>
              </a:defRPr>
            </a:lvl1pPr>
          </a:lstStyle>
          <a:p>
            <a:pPr algn="r">
              <a:lnSpc>
                <a:spcPct val="100000"/>
              </a:lnSpc>
              <a:buNone/>
            </a:pPr>
            <a:fld id="{7AB89B30-7E2A-4314-8462-5B4480A54668}" type="slidenum">
              <a:rPr b="0" lang="en-US" sz="1200" spc="-1" strike="noStrike">
                <a:solidFill>
                  <a:srgbClr val="000000"/>
                </a:solidFill>
                <a:latin typeface="Times New Roman"/>
              </a:rPr>
              <a:t>&lt;number&gt;</a:t>
            </a:fld>
            <a:endParaRPr b="0" lang="en-US" sz="1200" spc="-1" strike="noStrike">
              <a:latin typeface="Times New Roman"/>
            </a:endParaRPr>
          </a:p>
        </p:txBody>
      </p:sp>
      <p:sp>
        <p:nvSpPr>
          <p:cNvPr id="446" name="PlaceHolder 2"/>
          <p:cNvSpPr>
            <a:spLocks noGrp="1"/>
          </p:cNvSpPr>
          <p:nvPr>
            <p:ph type="sldImg"/>
          </p:nvPr>
        </p:nvSpPr>
        <p:spPr>
          <a:xfrm>
            <a:off x="685800" y="1143000"/>
            <a:ext cx="5486040" cy="3085920"/>
          </a:xfrm>
          <a:prstGeom prst="rect">
            <a:avLst/>
          </a:prstGeom>
          <a:ln w="0">
            <a:noFill/>
          </a:ln>
        </p:spPr>
      </p:sp>
      <p:sp>
        <p:nvSpPr>
          <p:cNvPr id="447" name="PlaceHolder 3"/>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86040" cy="3085920"/>
          </a:xfrm>
          <a:prstGeom prst="rect">
            <a:avLst/>
          </a:prstGeom>
          <a:ln w="0">
            <a:noFill/>
          </a:ln>
        </p:spPr>
      </p:sp>
      <p:sp>
        <p:nvSpPr>
          <p:cNvPr id="44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reason is the Dense retrieval is inherently difficult. </a:t>
            </a:r>
            <a:endParaRPr b="0" lang="en-US" sz="2000" spc="-1" strike="noStrike">
              <a:latin typeface="Arial"/>
            </a:endParaRPr>
          </a:p>
        </p:txBody>
      </p:sp>
      <p:sp>
        <p:nvSpPr>
          <p:cNvPr id="450"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0DF8E32-B607-4B8B-B716-30067F2ABF6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6040" cy="3085920"/>
          </a:xfrm>
          <a:prstGeom prst="rect">
            <a:avLst/>
          </a:prstGeom>
          <a:ln w="0">
            <a:noFill/>
          </a:ln>
        </p:spPr>
      </p:sp>
      <p:sp>
        <p:nvSpPr>
          <p:cNvPr id="45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and perhaps retrieve one table and document for each concept. However, upon close inspection, we will notice that this is insufficient because the table and document do not share overlapping information, and thus cannot be connected to answer the user question.</a:t>
            </a:r>
            <a:endParaRPr b="0" lang="en-US" sz="2000" spc="-1" strike="noStrike">
              <a:latin typeface="Arial"/>
            </a:endParaRPr>
          </a:p>
        </p:txBody>
      </p:sp>
      <p:sp>
        <p:nvSpPr>
          <p:cNvPr id="453"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A424CDE-7C45-46E3-8A9E-A02095E2E25F}"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6040" cy="3085920"/>
          </a:xfrm>
          <a:prstGeom prst="rect">
            <a:avLst/>
          </a:prstGeom>
          <a:ln w="0">
            <a:noFill/>
          </a:ln>
        </p:spPr>
      </p:sp>
      <p:sp>
        <p:nvSpPr>
          <p:cNvPr id="45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In fact, two more tables need to be retrieved to connect the two pieces of information even though they are explicitly mentioned in the user query.</a:t>
            </a:r>
            <a:endParaRPr b="0" lang="en-US" sz="2000" spc="-1" strike="noStrike">
              <a:latin typeface="Arial"/>
            </a:endParaRPr>
          </a:p>
        </p:txBody>
      </p:sp>
      <p:sp>
        <p:nvSpPr>
          <p:cNvPr id="456"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CD89B8F-31D6-49F4-BAC2-D52150A170D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Therefore, an optimal retrieval system should consider both information alignment and structural alignment.</a:t>
            </a:r>
            <a:endParaRPr b="0" lang="en-US" sz="2000" spc="-1" strike="noStrike">
              <a:latin typeface="Arial"/>
            </a:endParaRPr>
          </a:p>
        </p:txBody>
      </p:sp>
      <p:sp>
        <p:nvSpPr>
          <p:cNvPr id="459"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00EF682-CCE3-4F64-9949-1F3DB4E31034}"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62"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775D75-B9D2-49F6-B251-3AECE76A79C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65"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7A81998-1A92-40AB-9C21-58D3A0DE18B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68"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47792EE-60E9-4E67-83ED-06A785F1ADFE}"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Choosing the tools is only one step – we also need to use it</a:t>
            </a:r>
            <a:endParaRPr b="0" lang="en-US" sz="2000" spc="-1" strike="noStrike">
              <a:latin typeface="Arial"/>
            </a:endParaRPr>
          </a:p>
        </p:txBody>
      </p:sp>
      <p:sp>
        <p:nvSpPr>
          <p:cNvPr id="471"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863323B-66D9-4BDE-BAB5-1BEA51B8ABE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best segue to this is by looking at a realistic example that requires agents, but information seeking agents. This is from my collaboration with Epilepsia Clinicians </a:t>
            </a:r>
            <a:endParaRPr b="0" lang="en-US" sz="2000" spc="-1" strike="noStrike">
              <a:latin typeface="Arial"/>
            </a:endParaRPr>
          </a:p>
        </p:txBody>
      </p:sp>
      <p:sp>
        <p:nvSpPr>
          <p:cNvPr id="474"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888CBDA-7433-48BC-83C6-74BC95B870F5}"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77"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9F0AD90-7613-4EBE-9AEB-1770E30B77F4}"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480"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49C12C5-9634-4EC4-910A-EA1869808E08}"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 name="PlaceHolder 2"/>
          <p:cNvSpPr>
            <a:spLocks noGrp="1"/>
          </p:cNvSpPr>
          <p:nvPr>
            <p:ph type="subTitle"/>
          </p:nvPr>
        </p:nvSpPr>
        <p:spPr>
          <a:xfrm>
            <a:off x="609480" y="1251720"/>
            <a:ext cx="10972440" cy="448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609480" y="1251720"/>
            <a:ext cx="1097244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7" name="PlaceHolder 2"/>
          <p:cNvSpPr>
            <a:spLocks noGrp="1"/>
          </p:cNvSpPr>
          <p:nvPr>
            <p:ph/>
          </p:nvPr>
        </p:nvSpPr>
        <p:spPr>
          <a:xfrm>
            <a:off x="60948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18" name="PlaceHolder 3"/>
          <p:cNvSpPr>
            <a:spLocks noGrp="1"/>
          </p:cNvSpPr>
          <p:nvPr>
            <p:ph/>
          </p:nvPr>
        </p:nvSpPr>
        <p:spPr>
          <a:xfrm>
            <a:off x="623196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 name="PlaceHolder 1"/>
          <p:cNvSpPr>
            <a:spLocks noGrp="1"/>
          </p:cNvSpPr>
          <p:nvPr>
            <p:ph type="subTitle"/>
          </p:nvPr>
        </p:nvSpPr>
        <p:spPr>
          <a:xfrm>
            <a:off x="457200" y="207000"/>
            <a:ext cx="9880200" cy="2472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2"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23" name="PlaceHolder 3"/>
          <p:cNvSpPr>
            <a:spLocks noGrp="1"/>
          </p:cNvSpPr>
          <p:nvPr>
            <p:ph/>
          </p:nvPr>
        </p:nvSpPr>
        <p:spPr>
          <a:xfrm>
            <a:off x="623196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24" name="PlaceHolder 4"/>
          <p:cNvSpPr>
            <a:spLocks noGrp="1"/>
          </p:cNvSpPr>
          <p:nvPr>
            <p:ph/>
          </p:nvPr>
        </p:nvSpPr>
        <p:spPr>
          <a:xfrm>
            <a:off x="60948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6" name="PlaceHolder 2"/>
          <p:cNvSpPr>
            <a:spLocks noGrp="1"/>
          </p:cNvSpPr>
          <p:nvPr>
            <p:ph/>
          </p:nvPr>
        </p:nvSpPr>
        <p:spPr>
          <a:xfrm>
            <a:off x="60948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27"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28" name="PlaceHolder 4"/>
          <p:cNvSpPr>
            <a:spLocks noGrp="1"/>
          </p:cNvSpPr>
          <p:nvPr>
            <p:ph/>
          </p:nvPr>
        </p:nvSpPr>
        <p:spPr>
          <a:xfrm>
            <a:off x="623196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31"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32" name="PlaceHolder 4"/>
          <p:cNvSpPr>
            <a:spLocks noGrp="1"/>
          </p:cNvSpPr>
          <p:nvPr>
            <p:ph/>
          </p:nvPr>
        </p:nvSpPr>
        <p:spPr>
          <a:xfrm>
            <a:off x="609480" y="359388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4" name="PlaceHolder 2"/>
          <p:cNvSpPr>
            <a:spLocks noGrp="1"/>
          </p:cNvSpPr>
          <p:nvPr>
            <p:ph/>
          </p:nvPr>
        </p:nvSpPr>
        <p:spPr>
          <a:xfrm>
            <a:off x="609480" y="125172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35" name="PlaceHolder 3"/>
          <p:cNvSpPr>
            <a:spLocks noGrp="1"/>
          </p:cNvSpPr>
          <p:nvPr>
            <p:ph/>
          </p:nvPr>
        </p:nvSpPr>
        <p:spPr>
          <a:xfrm>
            <a:off x="609480" y="359388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7"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38"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39" name="PlaceHolder 4"/>
          <p:cNvSpPr>
            <a:spLocks noGrp="1"/>
          </p:cNvSpPr>
          <p:nvPr>
            <p:ph/>
          </p:nvPr>
        </p:nvSpPr>
        <p:spPr>
          <a:xfrm>
            <a:off x="60948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0" name="PlaceHolder 5"/>
          <p:cNvSpPr>
            <a:spLocks noGrp="1"/>
          </p:cNvSpPr>
          <p:nvPr>
            <p:ph/>
          </p:nvPr>
        </p:nvSpPr>
        <p:spPr>
          <a:xfrm>
            <a:off x="623196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2" name="PlaceHolder 2"/>
          <p:cNvSpPr>
            <a:spLocks noGrp="1"/>
          </p:cNvSpPr>
          <p:nvPr>
            <p:ph/>
          </p:nvPr>
        </p:nvSpPr>
        <p:spPr>
          <a:xfrm>
            <a:off x="60948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3" name="PlaceHolder 3"/>
          <p:cNvSpPr>
            <a:spLocks noGrp="1"/>
          </p:cNvSpPr>
          <p:nvPr>
            <p:ph/>
          </p:nvPr>
        </p:nvSpPr>
        <p:spPr>
          <a:xfrm>
            <a:off x="431964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4" name="PlaceHolder 4"/>
          <p:cNvSpPr>
            <a:spLocks noGrp="1"/>
          </p:cNvSpPr>
          <p:nvPr>
            <p:ph/>
          </p:nvPr>
        </p:nvSpPr>
        <p:spPr>
          <a:xfrm>
            <a:off x="802980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5" name="PlaceHolder 5"/>
          <p:cNvSpPr>
            <a:spLocks noGrp="1"/>
          </p:cNvSpPr>
          <p:nvPr>
            <p:ph/>
          </p:nvPr>
        </p:nvSpPr>
        <p:spPr>
          <a:xfrm>
            <a:off x="60948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6" name="PlaceHolder 6"/>
          <p:cNvSpPr>
            <a:spLocks noGrp="1"/>
          </p:cNvSpPr>
          <p:nvPr>
            <p:ph/>
          </p:nvPr>
        </p:nvSpPr>
        <p:spPr>
          <a:xfrm>
            <a:off x="431964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7" name="PlaceHolder 7"/>
          <p:cNvSpPr>
            <a:spLocks noGrp="1"/>
          </p:cNvSpPr>
          <p:nvPr>
            <p:ph/>
          </p:nvPr>
        </p:nvSpPr>
        <p:spPr>
          <a:xfrm>
            <a:off x="802980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AEAD03C-4B4A-413B-A852-F8C2F7A51995}"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7" name="PlaceHolder 2"/>
          <p:cNvSpPr>
            <a:spLocks noGrp="1"/>
          </p:cNvSpPr>
          <p:nvPr>
            <p:ph type="subTitle"/>
          </p:nvPr>
        </p:nvSpPr>
        <p:spPr>
          <a:xfrm>
            <a:off x="609480" y="1251720"/>
            <a:ext cx="10972440" cy="448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5A974A1-B63A-421D-B667-955334889078}"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9" name="PlaceHolder 2"/>
          <p:cNvSpPr>
            <a:spLocks noGrp="1"/>
          </p:cNvSpPr>
          <p:nvPr>
            <p:ph/>
          </p:nvPr>
        </p:nvSpPr>
        <p:spPr>
          <a:xfrm>
            <a:off x="609480" y="1251720"/>
            <a:ext cx="1097244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C5E5D29-A097-4C8D-A385-F2748BE99D5A}"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1" name="PlaceHolder 2"/>
          <p:cNvSpPr>
            <a:spLocks noGrp="1"/>
          </p:cNvSpPr>
          <p:nvPr>
            <p:ph/>
          </p:nvPr>
        </p:nvSpPr>
        <p:spPr>
          <a:xfrm>
            <a:off x="60948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2" name="PlaceHolder 3"/>
          <p:cNvSpPr>
            <a:spLocks noGrp="1"/>
          </p:cNvSpPr>
          <p:nvPr>
            <p:ph/>
          </p:nvPr>
        </p:nvSpPr>
        <p:spPr>
          <a:xfrm>
            <a:off x="623196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90D8681-9698-430F-96D9-C956DC43D128}"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5D5C993-C31C-4C80-8438-8AEBB19E0FAD}"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457200" y="207000"/>
            <a:ext cx="9880200" cy="2472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3780437A-E3D7-4601-8C1E-0C34638C564B}"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6"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7" name="PlaceHolder 3"/>
          <p:cNvSpPr>
            <a:spLocks noGrp="1"/>
          </p:cNvSpPr>
          <p:nvPr>
            <p:ph/>
          </p:nvPr>
        </p:nvSpPr>
        <p:spPr>
          <a:xfrm>
            <a:off x="623196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8" name="PlaceHolder 4"/>
          <p:cNvSpPr>
            <a:spLocks noGrp="1"/>
          </p:cNvSpPr>
          <p:nvPr>
            <p:ph/>
          </p:nvPr>
        </p:nvSpPr>
        <p:spPr>
          <a:xfrm>
            <a:off x="60948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980D703-F8FE-47CD-A560-E222D800F0D5}"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0" name="PlaceHolder 2"/>
          <p:cNvSpPr>
            <a:spLocks noGrp="1"/>
          </p:cNvSpPr>
          <p:nvPr>
            <p:ph/>
          </p:nvPr>
        </p:nvSpPr>
        <p:spPr>
          <a:xfrm>
            <a:off x="609480" y="1251720"/>
            <a:ext cx="5354280" cy="448452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1"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2" name="PlaceHolder 4"/>
          <p:cNvSpPr>
            <a:spLocks noGrp="1"/>
          </p:cNvSpPr>
          <p:nvPr>
            <p:ph/>
          </p:nvPr>
        </p:nvSpPr>
        <p:spPr>
          <a:xfrm>
            <a:off x="623196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1122369-0A3B-4BB0-9D73-AFD7BBF886B7}"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4"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5"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6" name="PlaceHolder 4"/>
          <p:cNvSpPr>
            <a:spLocks noGrp="1"/>
          </p:cNvSpPr>
          <p:nvPr>
            <p:ph/>
          </p:nvPr>
        </p:nvSpPr>
        <p:spPr>
          <a:xfrm>
            <a:off x="609480" y="359388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8ACBF32-C928-4FFD-B93D-4ED34D2AE15E}"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8" name="PlaceHolder 2"/>
          <p:cNvSpPr>
            <a:spLocks noGrp="1"/>
          </p:cNvSpPr>
          <p:nvPr>
            <p:ph/>
          </p:nvPr>
        </p:nvSpPr>
        <p:spPr>
          <a:xfrm>
            <a:off x="609480" y="125172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9" name="PlaceHolder 3"/>
          <p:cNvSpPr>
            <a:spLocks noGrp="1"/>
          </p:cNvSpPr>
          <p:nvPr>
            <p:ph/>
          </p:nvPr>
        </p:nvSpPr>
        <p:spPr>
          <a:xfrm>
            <a:off x="609480" y="3593880"/>
            <a:ext cx="109724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4442FDA-BA5E-461B-94BC-5C0592A00F5D}"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1" name="PlaceHolder 2"/>
          <p:cNvSpPr>
            <a:spLocks noGrp="1"/>
          </p:cNvSpPr>
          <p:nvPr>
            <p:ph/>
          </p:nvPr>
        </p:nvSpPr>
        <p:spPr>
          <a:xfrm>
            <a:off x="60948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2" name="PlaceHolder 3"/>
          <p:cNvSpPr>
            <a:spLocks noGrp="1"/>
          </p:cNvSpPr>
          <p:nvPr>
            <p:ph/>
          </p:nvPr>
        </p:nvSpPr>
        <p:spPr>
          <a:xfrm>
            <a:off x="6231960" y="125172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3" name="PlaceHolder 4"/>
          <p:cNvSpPr>
            <a:spLocks noGrp="1"/>
          </p:cNvSpPr>
          <p:nvPr>
            <p:ph/>
          </p:nvPr>
        </p:nvSpPr>
        <p:spPr>
          <a:xfrm>
            <a:off x="60948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4" name="PlaceHolder 5"/>
          <p:cNvSpPr>
            <a:spLocks noGrp="1"/>
          </p:cNvSpPr>
          <p:nvPr>
            <p:ph/>
          </p:nvPr>
        </p:nvSpPr>
        <p:spPr>
          <a:xfrm>
            <a:off x="6231960" y="3593880"/>
            <a:ext cx="535428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A01C0E8B-DF13-475D-939A-BA65A1FDA731}"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7000"/>
            <a:ext cx="9880200" cy="533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6" name="PlaceHolder 2"/>
          <p:cNvSpPr>
            <a:spLocks noGrp="1"/>
          </p:cNvSpPr>
          <p:nvPr>
            <p:ph/>
          </p:nvPr>
        </p:nvSpPr>
        <p:spPr>
          <a:xfrm>
            <a:off x="60948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7" name="PlaceHolder 3"/>
          <p:cNvSpPr>
            <a:spLocks noGrp="1"/>
          </p:cNvSpPr>
          <p:nvPr>
            <p:ph/>
          </p:nvPr>
        </p:nvSpPr>
        <p:spPr>
          <a:xfrm>
            <a:off x="431964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8" name="PlaceHolder 4"/>
          <p:cNvSpPr>
            <a:spLocks noGrp="1"/>
          </p:cNvSpPr>
          <p:nvPr>
            <p:ph/>
          </p:nvPr>
        </p:nvSpPr>
        <p:spPr>
          <a:xfrm>
            <a:off x="8029800" y="125172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89" name="PlaceHolder 5"/>
          <p:cNvSpPr>
            <a:spLocks noGrp="1"/>
          </p:cNvSpPr>
          <p:nvPr>
            <p:ph/>
          </p:nvPr>
        </p:nvSpPr>
        <p:spPr>
          <a:xfrm>
            <a:off x="60948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90" name="PlaceHolder 6"/>
          <p:cNvSpPr>
            <a:spLocks noGrp="1"/>
          </p:cNvSpPr>
          <p:nvPr>
            <p:ph/>
          </p:nvPr>
        </p:nvSpPr>
        <p:spPr>
          <a:xfrm>
            <a:off x="431964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91" name="PlaceHolder 7"/>
          <p:cNvSpPr>
            <a:spLocks noGrp="1"/>
          </p:cNvSpPr>
          <p:nvPr>
            <p:ph/>
          </p:nvPr>
        </p:nvSpPr>
        <p:spPr>
          <a:xfrm>
            <a:off x="8029800" y="3593880"/>
            <a:ext cx="3533040" cy="2138760"/>
          </a:xfrm>
          <a:prstGeom prst="rect">
            <a:avLst/>
          </a:prstGeom>
          <a:noFill/>
          <a:ln w="0">
            <a:noFill/>
          </a:ln>
        </p:spPr>
        <p:txBody>
          <a:bodyPr lIns="0" rIns="0" tIns="0" bIns="0" anchor="t">
            <a:normAutofit/>
          </a:bodyPr>
          <a:p>
            <a:endParaRPr b="0" lang="en-US" sz="2400" spc="-1" strike="noStrike">
              <a:solidFill>
                <a:srgbClr val="000000"/>
              </a:solidFill>
              <a:latin typeface="Calibri"/>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1BE5D7B2-967D-4BD2-B146-58EEDFE3AD1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tif"/><Relationship Id="rId3" Type="http://schemas.openxmlformats.org/officeDocument/2006/relationships/image" Target="../media/image2.wmf"/><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wmf"/><Relationship Id="rId7" Type="http://schemas.openxmlformats.org/officeDocument/2006/relationships/image" Target="../media/image6.png"/><Relationship Id="rId8" Type="http://schemas.openxmlformats.org/officeDocument/2006/relationships/slideLayout" Target="../slideLayouts/slideLayout1.xml"/><Relationship Id="rId9" Type="http://schemas.openxmlformats.org/officeDocument/2006/relationships/slideLayout" Target="../slideLayouts/slideLayout2.xml"/><Relationship Id="rId10" Type="http://schemas.openxmlformats.org/officeDocument/2006/relationships/slideLayout" Target="../slideLayouts/slideLayout3.xml"/><Relationship Id="rId11" Type="http://schemas.openxmlformats.org/officeDocument/2006/relationships/slideLayout" Target="../slideLayouts/slideLayout4.xml"/><Relationship Id="rId12" Type="http://schemas.openxmlformats.org/officeDocument/2006/relationships/slideLayout" Target="../slideLayouts/slideLayout5.xml"/><Relationship Id="rId13" Type="http://schemas.openxmlformats.org/officeDocument/2006/relationships/slideLayout" Target="../slideLayouts/slideLayout6.xml"/><Relationship Id="rId14" Type="http://schemas.openxmlformats.org/officeDocument/2006/relationships/slideLayout" Target="../slideLayouts/slideLayout7.xml"/><Relationship Id="rId15" Type="http://schemas.openxmlformats.org/officeDocument/2006/relationships/slideLayout" Target="../slideLayouts/slideLayout8.xml"/><Relationship Id="rId16" Type="http://schemas.openxmlformats.org/officeDocument/2006/relationships/slideLayout" Target="../slideLayouts/slideLayout9.xml"/><Relationship Id="rId17" Type="http://schemas.openxmlformats.org/officeDocument/2006/relationships/slideLayout" Target="../slideLayouts/slideLayout10.xml"/><Relationship Id="rId18" Type="http://schemas.openxmlformats.org/officeDocument/2006/relationships/slideLayout" Target="../slideLayouts/slideLayout11.xml"/><Relationship Id="rId19"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tif"/><Relationship Id="rId3" Type="http://schemas.openxmlformats.org/officeDocument/2006/relationships/image" Target="../media/image8.wmf"/><Relationship Id="rId4" Type="http://schemas.openxmlformats.org/officeDocument/2006/relationships/image" Target="../media/image9.png"/><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slideLayout" Target="../slideLayouts/slideLayout21.xml"/><Relationship Id="rId14" Type="http://schemas.openxmlformats.org/officeDocument/2006/relationships/slideLayout" Target="../slideLayouts/slideLayout22.xml"/><Relationship Id="rId15" Type="http://schemas.openxmlformats.org/officeDocument/2006/relationships/slideLayout" Target="../slideLayouts/slideLayout23.xml"/><Relationship Id="rId16"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Straight Connector 18"/>
          <p:cNvSpPr/>
          <p:nvPr/>
        </p:nvSpPr>
        <p:spPr>
          <a:xfrm>
            <a:off x="348120" y="806040"/>
            <a:ext cx="11451960" cy="18000"/>
          </a:xfrm>
          <a:prstGeom prst="line">
            <a:avLst/>
          </a:prstGeom>
          <a:ln w="3175">
            <a:solidFill>
              <a:srgbClr val="093d6e"/>
            </a:solidFill>
            <a:round/>
          </a:ln>
        </p:spPr>
        <p:style>
          <a:lnRef idx="1">
            <a:schemeClr val="accent1"/>
          </a:lnRef>
          <a:fillRef idx="0">
            <a:schemeClr val="accent1"/>
          </a:fillRef>
          <a:effectRef idx="0">
            <a:schemeClr val="accent1"/>
          </a:effectRef>
          <a:fontRef idx="minor"/>
        </p:style>
      </p:sp>
      <p:pic>
        <p:nvPicPr>
          <p:cNvPr id="1" name="Picture 1" descr=""/>
          <p:cNvPicPr/>
          <p:nvPr/>
        </p:nvPicPr>
        <p:blipFill>
          <a:blip r:embed="rId2"/>
          <a:stretch/>
        </p:blipFill>
        <p:spPr>
          <a:xfrm>
            <a:off x="11534400" y="130680"/>
            <a:ext cx="669240" cy="669240"/>
          </a:xfrm>
          <a:prstGeom prst="rect">
            <a:avLst/>
          </a:prstGeom>
          <a:ln w="0">
            <a:noFill/>
          </a:ln>
        </p:spPr>
      </p:pic>
      <p:pic>
        <p:nvPicPr>
          <p:cNvPr id="2" name="Picture 2" descr=""/>
          <p:cNvPicPr/>
          <p:nvPr/>
        </p:nvPicPr>
        <p:blipFill>
          <a:blip r:embed="rId3"/>
          <a:srcRect l="0" t="0" r="74706" b="-300"/>
          <a:stretch/>
        </p:blipFill>
        <p:spPr>
          <a:xfrm>
            <a:off x="11007720" y="181440"/>
            <a:ext cx="561960" cy="618480"/>
          </a:xfrm>
          <a:prstGeom prst="rect">
            <a:avLst/>
          </a:prstGeom>
          <a:ln w="0">
            <a:noFill/>
          </a:ln>
        </p:spPr>
      </p:pic>
      <p:pic>
        <p:nvPicPr>
          <p:cNvPr id="3" name="Picture 2" descr="Oracle Announces Upcoming Cloud Compute Instances: Ice Lake and Milan, A100  and Altra"/>
          <p:cNvPicPr/>
          <p:nvPr/>
        </p:nvPicPr>
        <p:blipFill>
          <a:blip r:embed="rId4"/>
          <a:stretch/>
        </p:blipFill>
        <p:spPr>
          <a:xfrm>
            <a:off x="10053360" y="199080"/>
            <a:ext cx="906840" cy="548280"/>
          </a:xfrm>
          <a:prstGeom prst="rect">
            <a:avLst/>
          </a:prstGeom>
          <a:ln w="0">
            <a:noFill/>
          </a:ln>
        </p:spPr>
      </p:pic>
      <p:sp>
        <p:nvSpPr>
          <p:cNvPr id="4" name="PlaceHolder 1"/>
          <p:cNvSpPr>
            <a:spLocks noGrp="1"/>
          </p:cNvSpPr>
          <p:nvPr>
            <p:ph type="title"/>
          </p:nvPr>
        </p:nvSpPr>
        <p:spPr>
          <a:xfrm>
            <a:off x="963000" y="2282760"/>
            <a:ext cx="10362960" cy="1361880"/>
          </a:xfrm>
          <a:prstGeom prst="rect">
            <a:avLst/>
          </a:prstGeom>
          <a:noFill/>
          <a:ln w="0">
            <a:noFill/>
          </a:ln>
        </p:spPr>
        <p:txBody>
          <a:bodyPr numCol="1" spcCol="0" anchor="t">
            <a:noAutofit/>
          </a:bodyPr>
          <a:p>
            <a:pPr>
              <a:lnSpc>
                <a:spcPct val="100000"/>
              </a:lnSpc>
              <a:buNone/>
            </a:pPr>
            <a:r>
              <a:rPr b="0" lang="en-US" sz="4000" spc="-1" strike="noStrike">
                <a:solidFill>
                  <a:srgbClr val="3366cc"/>
                </a:solidFill>
                <a:latin typeface="Calibri"/>
                <a:ea typeface="Calibri"/>
              </a:rPr>
              <a:t>Clic</a:t>
            </a:r>
            <a:r>
              <a:rPr b="0" lang="en-US" sz="4000" spc="-1" strike="noStrike">
                <a:solidFill>
                  <a:srgbClr val="3366cc"/>
                </a:solidFill>
                <a:latin typeface="Calibri"/>
                <a:ea typeface="Calibri"/>
              </a:rPr>
              <a:t>k to </a:t>
            </a:r>
            <a:r>
              <a:rPr b="0" lang="en-US" sz="4000" spc="-1" strike="noStrike">
                <a:solidFill>
                  <a:srgbClr val="3366cc"/>
                </a:solidFill>
                <a:latin typeface="Calibri"/>
                <a:ea typeface="Calibri"/>
              </a:rPr>
              <a:t>edit </a:t>
            </a:r>
            <a:r>
              <a:rPr b="0" lang="en-US" sz="4000" spc="-1" strike="noStrike">
                <a:solidFill>
                  <a:srgbClr val="3366cc"/>
                </a:solidFill>
                <a:latin typeface="Calibri"/>
                <a:ea typeface="Calibri"/>
              </a:rPr>
              <a:t>mas</a:t>
            </a:r>
            <a:r>
              <a:rPr b="0" lang="en-US" sz="4000" spc="-1" strike="noStrike">
                <a:solidFill>
                  <a:srgbClr val="3366cc"/>
                </a:solidFill>
                <a:latin typeface="Calibri"/>
                <a:ea typeface="Calibri"/>
              </a:rPr>
              <a:t>ter </a:t>
            </a:r>
            <a:r>
              <a:rPr b="0" lang="en-US" sz="4000" spc="-1" strike="noStrike">
                <a:solidFill>
                  <a:srgbClr val="3366cc"/>
                </a:solidFill>
                <a:latin typeface="Calibri"/>
                <a:ea typeface="Calibri"/>
              </a:rPr>
              <a:t>styl</a:t>
            </a:r>
            <a:r>
              <a:rPr b="0" lang="en-US" sz="4000" spc="-1" strike="noStrike">
                <a:solidFill>
                  <a:srgbClr val="3366cc"/>
                </a:solidFill>
                <a:latin typeface="Calibri"/>
                <a:ea typeface="Calibri"/>
              </a:rPr>
              <a:t>e</a:t>
            </a:r>
            <a:endParaRPr b="0" lang="en-US" sz="4000" spc="-1" strike="noStrike">
              <a:solidFill>
                <a:srgbClr val="000000"/>
              </a:solidFill>
              <a:latin typeface="Calibri"/>
            </a:endParaRPr>
          </a:p>
        </p:txBody>
      </p:sp>
      <p:sp>
        <p:nvSpPr>
          <p:cNvPr id="5" name="PlaceHolder 2"/>
          <p:cNvSpPr>
            <a:spLocks noGrp="1"/>
          </p:cNvSpPr>
          <p:nvPr>
            <p:ph type="body"/>
          </p:nvPr>
        </p:nvSpPr>
        <p:spPr>
          <a:xfrm>
            <a:off x="941400" y="3875760"/>
            <a:ext cx="10362960" cy="579960"/>
          </a:xfrm>
          <a:prstGeom prst="rect">
            <a:avLst/>
          </a:prstGeom>
          <a:noFill/>
          <a:ln w="0">
            <a:noFill/>
          </a:ln>
        </p:spPr>
        <p:txBody>
          <a:bodyPr numCol="1" spcCol="0" anchor="b">
            <a:noAutofit/>
          </a:bodyPr>
          <a:p>
            <a:pPr>
              <a:lnSpc>
                <a:spcPct val="100000"/>
              </a:lnSpc>
              <a:spcBef>
                <a:spcPts val="561"/>
              </a:spcBef>
              <a:buNone/>
              <a:tabLst>
                <a:tab algn="l" pos="0"/>
              </a:tabLst>
            </a:pPr>
            <a:r>
              <a:rPr b="0" lang="en-US" sz="2800" spc="-1" strike="noStrike">
                <a:solidFill>
                  <a:srgbClr val="595959"/>
                </a:solidFill>
                <a:latin typeface="Calibri"/>
                <a:ea typeface="Calibri"/>
              </a:rPr>
              <a:t>Click to edit Master text styles</a:t>
            </a:r>
            <a:endParaRPr b="0" lang="en-US" sz="2800" spc="-1" strike="noStrike">
              <a:solidFill>
                <a:srgbClr val="000000"/>
              </a:solidFill>
              <a:latin typeface="Calibri"/>
            </a:endParaRPr>
          </a:p>
        </p:txBody>
      </p:sp>
      <p:sp>
        <p:nvSpPr>
          <p:cNvPr id="6" name="Straight Connector 6"/>
          <p:cNvSpPr/>
          <p:nvPr/>
        </p:nvSpPr>
        <p:spPr>
          <a:xfrm>
            <a:off x="326520" y="1839960"/>
            <a:ext cx="11451600" cy="18000"/>
          </a:xfrm>
          <a:prstGeom prst="line">
            <a:avLst/>
          </a:prstGeom>
          <a:ln w="3175">
            <a:solidFill>
              <a:srgbClr val="093d6e"/>
            </a:solidFill>
            <a:round/>
          </a:ln>
        </p:spPr>
        <p:style>
          <a:lnRef idx="1">
            <a:schemeClr val="accent1"/>
          </a:lnRef>
          <a:fillRef idx="0">
            <a:schemeClr val="accent1"/>
          </a:fillRef>
          <a:effectRef idx="0">
            <a:schemeClr val="accent1"/>
          </a:effectRef>
          <a:fontRef idx="minor"/>
        </p:style>
      </p:sp>
      <p:grpSp>
        <p:nvGrpSpPr>
          <p:cNvPr id="7" name="Group 5"/>
          <p:cNvGrpSpPr/>
          <p:nvPr/>
        </p:nvGrpSpPr>
        <p:grpSpPr>
          <a:xfrm>
            <a:off x="2571480" y="921960"/>
            <a:ext cx="7048800" cy="879480"/>
            <a:chOff x="2571480" y="921960"/>
            <a:chExt cx="7048800" cy="879480"/>
          </a:xfrm>
        </p:grpSpPr>
        <p:grpSp>
          <p:nvGrpSpPr>
            <p:cNvPr id="8" name="Group 3"/>
            <p:cNvGrpSpPr/>
            <p:nvPr/>
          </p:nvGrpSpPr>
          <p:grpSpPr>
            <a:xfrm>
              <a:off x="4483080" y="921960"/>
              <a:ext cx="5137200" cy="841320"/>
              <a:chOff x="4483080" y="921960"/>
              <a:chExt cx="5137200" cy="841320"/>
            </a:xfrm>
          </p:grpSpPr>
          <p:pic>
            <p:nvPicPr>
              <p:cNvPr id="9" name="Picture 7" descr=""/>
              <p:cNvPicPr/>
              <p:nvPr/>
            </p:nvPicPr>
            <p:blipFill>
              <a:blip r:embed="rId5"/>
              <a:stretch/>
            </p:blipFill>
            <p:spPr>
              <a:xfrm>
                <a:off x="7167600" y="921960"/>
                <a:ext cx="2452680" cy="841320"/>
              </a:xfrm>
              <a:prstGeom prst="rect">
                <a:avLst/>
              </a:prstGeom>
              <a:ln w="0">
                <a:noFill/>
              </a:ln>
            </p:spPr>
          </p:pic>
          <p:pic>
            <p:nvPicPr>
              <p:cNvPr id="10" name="Picture 8" descr=""/>
              <p:cNvPicPr/>
              <p:nvPr/>
            </p:nvPicPr>
            <p:blipFill>
              <a:blip r:embed="rId6"/>
              <a:stretch/>
            </p:blipFill>
            <p:spPr>
              <a:xfrm>
                <a:off x="4483080" y="1034280"/>
                <a:ext cx="2223360" cy="616320"/>
              </a:xfrm>
              <a:prstGeom prst="rect">
                <a:avLst/>
              </a:prstGeom>
              <a:ln w="0">
                <a:noFill/>
              </a:ln>
            </p:spPr>
          </p:pic>
        </p:grpSp>
        <p:pic>
          <p:nvPicPr>
            <p:cNvPr id="11" name="Picture 2" descr="Oracle Announces Upcoming Cloud Compute Instances: Ice Lake and Milan, A100  and Altra"/>
            <p:cNvPicPr/>
            <p:nvPr/>
          </p:nvPicPr>
          <p:blipFill>
            <a:blip r:embed="rId7"/>
            <a:stretch/>
          </p:blipFill>
          <p:spPr>
            <a:xfrm>
              <a:off x="2571480" y="960480"/>
              <a:ext cx="1390680" cy="84096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49"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 id="2147483659" r:id="rId18"/>
    <p:sldLayoutId id="2147483660" r:id="rId19"/>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Straight Connector 18"/>
          <p:cNvSpPr/>
          <p:nvPr/>
        </p:nvSpPr>
        <p:spPr>
          <a:xfrm>
            <a:off x="348120" y="806040"/>
            <a:ext cx="11451960" cy="18000"/>
          </a:xfrm>
          <a:prstGeom prst="line">
            <a:avLst/>
          </a:prstGeom>
          <a:ln w="3175">
            <a:solidFill>
              <a:srgbClr val="093d6e"/>
            </a:solidFill>
            <a:round/>
          </a:ln>
        </p:spPr>
        <p:style>
          <a:lnRef idx="1">
            <a:schemeClr val="accent1"/>
          </a:lnRef>
          <a:fillRef idx="0">
            <a:schemeClr val="accent1"/>
          </a:fillRef>
          <a:effectRef idx="0">
            <a:schemeClr val="accent1"/>
          </a:effectRef>
          <a:fontRef idx="minor"/>
        </p:style>
      </p:sp>
      <p:pic>
        <p:nvPicPr>
          <p:cNvPr id="49" name="Picture 1" descr=""/>
          <p:cNvPicPr/>
          <p:nvPr/>
        </p:nvPicPr>
        <p:blipFill>
          <a:blip r:embed="rId2"/>
          <a:stretch/>
        </p:blipFill>
        <p:spPr>
          <a:xfrm>
            <a:off x="11534400" y="130680"/>
            <a:ext cx="669240" cy="669240"/>
          </a:xfrm>
          <a:prstGeom prst="rect">
            <a:avLst/>
          </a:prstGeom>
          <a:ln w="0">
            <a:noFill/>
          </a:ln>
        </p:spPr>
      </p:pic>
      <p:pic>
        <p:nvPicPr>
          <p:cNvPr id="50" name="Picture 2" descr=""/>
          <p:cNvPicPr/>
          <p:nvPr/>
        </p:nvPicPr>
        <p:blipFill>
          <a:blip r:embed="rId3"/>
          <a:srcRect l="0" t="0" r="74706" b="-300"/>
          <a:stretch/>
        </p:blipFill>
        <p:spPr>
          <a:xfrm>
            <a:off x="11007720" y="181440"/>
            <a:ext cx="561960" cy="618480"/>
          </a:xfrm>
          <a:prstGeom prst="rect">
            <a:avLst/>
          </a:prstGeom>
          <a:ln w="0">
            <a:noFill/>
          </a:ln>
        </p:spPr>
      </p:pic>
      <p:pic>
        <p:nvPicPr>
          <p:cNvPr id="51" name="Picture 2" descr="Oracle Announces Upcoming Cloud Compute Instances: Ice Lake and Milan, A100  and Altra"/>
          <p:cNvPicPr/>
          <p:nvPr/>
        </p:nvPicPr>
        <p:blipFill>
          <a:blip r:embed="rId4"/>
          <a:stretch/>
        </p:blipFill>
        <p:spPr>
          <a:xfrm>
            <a:off x="10053360" y="199080"/>
            <a:ext cx="906840" cy="548280"/>
          </a:xfrm>
          <a:prstGeom prst="rect">
            <a:avLst/>
          </a:prstGeom>
          <a:ln w="0">
            <a:noFill/>
          </a:ln>
        </p:spPr>
      </p:pic>
      <p:sp>
        <p:nvSpPr>
          <p:cNvPr id="52"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Click to edit Master title style</a:t>
            </a:r>
            <a:endParaRPr b="0" lang="en-US" sz="4000" spc="-1" strike="noStrike">
              <a:solidFill>
                <a:srgbClr val="000000"/>
              </a:solidFill>
              <a:latin typeface="Calibri"/>
            </a:endParaRPr>
          </a:p>
        </p:txBody>
      </p:sp>
      <p:sp>
        <p:nvSpPr>
          <p:cNvPr id="53" name="PlaceHolder 2"/>
          <p:cNvSpPr>
            <a:spLocks noGrp="1"/>
          </p:cNvSpPr>
          <p:nvPr>
            <p:ph type="body"/>
          </p:nvPr>
        </p:nvSpPr>
        <p:spPr>
          <a:xfrm>
            <a:off x="609480" y="1251720"/>
            <a:ext cx="10972440" cy="4484520"/>
          </a:xfrm>
          <a:prstGeom prst="rect">
            <a:avLst/>
          </a:prstGeom>
          <a:noFill/>
          <a:ln w="0">
            <a:noFill/>
          </a:ln>
        </p:spPr>
        <p:txBody>
          <a:bodyPr numCol="1" spcCol="0" anchor="t">
            <a:noAutofit/>
          </a:bodyPr>
          <a:p>
            <a:pPr marL="343080" indent="-343080">
              <a:lnSpc>
                <a:spcPct val="100000"/>
              </a:lnSpc>
              <a:spcBef>
                <a:spcPts val="479"/>
              </a:spcBef>
              <a:buClr>
                <a:srgbClr val="000000"/>
              </a:buClr>
              <a:buSzPct val="75000"/>
              <a:buFont typeface="Wingdings" charset="2"/>
              <a:buChar char=""/>
            </a:pPr>
            <a:r>
              <a:rPr b="0" lang="en-US" sz="2400" spc="-1" strike="noStrike">
                <a:solidFill>
                  <a:srgbClr val="000000"/>
                </a:solidFill>
                <a:latin typeface="Calibri"/>
                <a:ea typeface="Calibri"/>
              </a:rPr>
              <a:t>Click to edit Master text styles</a:t>
            </a:r>
            <a:endParaRPr b="0" lang="en-US" sz="2400" spc="-1" strike="noStrike">
              <a:solidFill>
                <a:srgbClr val="000000"/>
              </a:solidFill>
              <a:latin typeface="Calibri"/>
            </a:endParaRPr>
          </a:p>
          <a:p>
            <a:pPr lvl="1" marL="743040" indent="-285840">
              <a:lnSpc>
                <a:spcPct val="100000"/>
              </a:lnSpc>
              <a:spcBef>
                <a:spcPts val="400"/>
              </a:spcBef>
              <a:buClr>
                <a:srgbClr val="3366cc"/>
              </a:buClr>
              <a:buSzPct val="80000"/>
              <a:buFont typeface="Wingdings" charset="2"/>
              <a:buChar char=""/>
            </a:pPr>
            <a:r>
              <a:rPr b="0" lang="en-US" sz="2000" spc="-1" strike="noStrike">
                <a:solidFill>
                  <a:srgbClr val="3366cc"/>
                </a:solidFill>
                <a:latin typeface="Calibri"/>
                <a:ea typeface="Calibri"/>
              </a:rPr>
              <a:t>Second level</a:t>
            </a:r>
            <a:endParaRPr b="0" lang="en-US" sz="2000" spc="-1" strike="noStrike">
              <a:solidFill>
                <a:srgbClr val="000000"/>
              </a:solidFill>
              <a:latin typeface="Calibri"/>
            </a:endParaRPr>
          </a:p>
          <a:p>
            <a:pPr lvl="2" marL="1143000" indent="-228600">
              <a:lnSpc>
                <a:spcPct val="100000"/>
              </a:lnSpc>
              <a:spcBef>
                <a:spcPts val="360"/>
              </a:spcBef>
              <a:buClr>
                <a:srgbClr val="000000"/>
              </a:buClr>
              <a:buSzPct val="65000"/>
              <a:buFont typeface="Wingdings" charset="2"/>
              <a:buChar char=""/>
            </a:pPr>
            <a:r>
              <a:rPr b="0" lang="en-US" sz="1800" spc="-1" strike="noStrike">
                <a:solidFill>
                  <a:srgbClr val="000000"/>
                </a:solidFill>
                <a:latin typeface="Calibri"/>
                <a:ea typeface="Calibri"/>
              </a:rPr>
              <a:t>Third level</a:t>
            </a:r>
            <a:endParaRPr b="0" lang="en-US" sz="1800" spc="-1" strike="noStrike">
              <a:solidFill>
                <a:srgbClr val="000000"/>
              </a:solidFill>
              <a:latin typeface="Calibri"/>
            </a:endParaRPr>
          </a:p>
          <a:p>
            <a:pPr lvl="3" marL="1600200" indent="-228600">
              <a:lnSpc>
                <a:spcPct val="100000"/>
              </a:lnSpc>
              <a:spcBef>
                <a:spcPts val="320"/>
              </a:spcBef>
              <a:buClr>
                <a:srgbClr val="3366cc"/>
              </a:buClr>
              <a:buSzPct val="70000"/>
              <a:buFont typeface="Wingdings" charset="2"/>
              <a:buChar char=""/>
            </a:pPr>
            <a:r>
              <a:rPr b="0" lang="en-US" sz="1600" spc="-1" strike="noStrike">
                <a:solidFill>
                  <a:srgbClr val="3366cc"/>
                </a:solidFill>
                <a:latin typeface="Calibri"/>
                <a:ea typeface="Calibri"/>
              </a:rPr>
              <a:t>Fourth level</a:t>
            </a:r>
            <a:endParaRPr b="0" lang="en-US" sz="1600" spc="-1" strike="noStrike">
              <a:solidFill>
                <a:srgbClr val="000000"/>
              </a:solidFill>
              <a:latin typeface="Calibri"/>
            </a:endParaRPr>
          </a:p>
          <a:p>
            <a:pPr lvl="4" marL="2057400" indent="-228600">
              <a:lnSpc>
                <a:spcPct val="100000"/>
              </a:lnSpc>
              <a:spcBef>
                <a:spcPts val="320"/>
              </a:spcBef>
              <a:buClr>
                <a:srgbClr val="000000"/>
              </a:buClr>
              <a:buFont typeface="Wingdings" charset="2"/>
              <a:buChar char=""/>
            </a:pPr>
            <a:r>
              <a:rPr b="0" lang="en-US" sz="1600" spc="-1" strike="noStrike">
                <a:solidFill>
                  <a:srgbClr val="000000"/>
                </a:solidFill>
                <a:latin typeface="Calibri"/>
                <a:ea typeface="Calibri"/>
              </a:rPr>
              <a:t>Fifth level</a:t>
            </a:r>
            <a:endParaRPr b="0" lang="en-US" sz="1600" spc="-1" strike="noStrike">
              <a:solidFill>
                <a:srgbClr val="000000"/>
              </a:solidFill>
              <a:latin typeface="Calibri"/>
            </a:endParaRPr>
          </a:p>
        </p:txBody>
      </p:sp>
      <p:sp>
        <p:nvSpPr>
          <p:cNvPr id="54" name="PlaceHolder 3"/>
          <p:cNvSpPr>
            <a:spLocks noGrp="1"/>
          </p:cNvSpPr>
          <p:nvPr>
            <p:ph type="ftr" idx="1"/>
          </p:nvPr>
        </p:nvSpPr>
        <p:spPr>
          <a:xfrm>
            <a:off x="5892840" y="6248520"/>
            <a:ext cx="5384520" cy="228240"/>
          </a:xfrm>
          <a:prstGeom prst="rect">
            <a:avLst/>
          </a:prstGeom>
          <a:noFill/>
          <a:ln w="0">
            <a:noFill/>
          </a:ln>
        </p:spPr>
        <p:txBody>
          <a:bodyPr lIns="90000" rIns="90000" tIns="45000" bIns="4500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55" name="PlaceHolder 4"/>
          <p:cNvSpPr>
            <a:spLocks noGrp="1"/>
          </p:cNvSpPr>
          <p:nvPr>
            <p:ph type="sldNum" idx="2"/>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FF8BEBCB-A2DD-4EED-963C-E6854289448B}" type="slidenum">
              <a:rPr b="0" lang="en-US" sz="1200" spc="-1" strike="noStrike">
                <a:solidFill>
                  <a:srgbClr val="000000"/>
                </a:solidFill>
                <a:latin typeface="Calibri"/>
                <a:ea typeface="Arial Unicode MS"/>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hyperlink" Target="https://cogcomp.seas.upenn.edu/papers/ChenZhRo24.pdf" TargetMode="Externa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3.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slideLayout" Target="../slideLayouts/slideLayout13.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slideLayout" Target="../slideLayouts/slideLayout13.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3.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44.png"/><Relationship Id="rId3" Type="http://schemas.openxmlformats.org/officeDocument/2006/relationships/slideLayout" Target="../slideLayouts/slideLayout13.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49.jpeg"/><Relationship Id="rId2" Type="http://schemas.openxmlformats.org/officeDocument/2006/relationships/slideLayout" Target="../slideLayouts/slideLayout13.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slideLayout" Target="../slideLayouts/slideLayout13.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 Box 4"/>
          <p:cNvSpPr/>
          <p:nvPr/>
        </p:nvSpPr>
        <p:spPr>
          <a:xfrm>
            <a:off x="3080880" y="5281920"/>
            <a:ext cx="5906880" cy="1460520"/>
          </a:xfrm>
          <a:prstGeom prst="rect">
            <a:avLst/>
          </a:prstGeom>
          <a:solidFill>
            <a:schemeClr val="bg1">
              <a:lumMod val="95000"/>
            </a:schemeClr>
          </a:solidFill>
          <a:ln w="19050">
            <a:solidFill>
              <a:srgbClr val="5b9bd5"/>
            </a:solidFill>
            <a:miter/>
          </a:ln>
        </p:spPr>
        <p:style>
          <a:lnRef idx="0"/>
          <a:fillRef idx="0"/>
          <a:effectRef idx="0"/>
          <a:fontRef idx="minor"/>
        </p:style>
        <p:txBody>
          <a:bodyPr lIns="90000" rIns="90000" tIns="45000" bIns="45000" anchor="t">
            <a:spAutoFit/>
          </a:bodyPr>
          <a:p>
            <a:pPr algn="ctr">
              <a:lnSpc>
                <a:spcPct val="100000"/>
              </a:lnSpc>
              <a:buNone/>
            </a:pPr>
            <a:r>
              <a:rPr b="1" lang="en-US" sz="1800" spc="-1" strike="noStrike" cap="all">
                <a:solidFill>
                  <a:srgbClr val="000000"/>
                </a:solidFill>
                <a:latin typeface="Calibri"/>
              </a:rPr>
              <a:t>GRAIL-V, a CVPR Workshop</a:t>
            </a:r>
            <a:endParaRPr b="0" lang="en-US" sz="1800" spc="-1" strike="noStrike">
              <a:latin typeface="Arial"/>
            </a:endParaRPr>
          </a:p>
          <a:p>
            <a:pPr algn="ctr">
              <a:lnSpc>
                <a:spcPct val="100000"/>
              </a:lnSpc>
              <a:buNone/>
            </a:pPr>
            <a:endParaRPr b="0" lang="en-US" sz="1600" spc="-1" strike="noStrike">
              <a:latin typeface="Arial"/>
            </a:endParaRPr>
          </a:p>
          <a:p>
            <a:pPr algn="ctr">
              <a:lnSpc>
                <a:spcPct val="100000"/>
              </a:lnSpc>
              <a:buNone/>
            </a:pPr>
            <a:r>
              <a:rPr b="1" lang="en-US" sz="1600" spc="-1" strike="noStrike" cap="all">
                <a:solidFill>
                  <a:srgbClr val="000000"/>
                </a:solidFill>
                <a:latin typeface="Calibri"/>
              </a:rPr>
              <a:t>Denver, Colorado</a:t>
            </a:r>
            <a:endParaRPr b="0" lang="en-US" sz="1600" spc="-1" strike="noStrike">
              <a:latin typeface="Arial"/>
            </a:endParaRPr>
          </a:p>
          <a:p>
            <a:pPr algn="ctr">
              <a:lnSpc>
                <a:spcPct val="100000"/>
              </a:lnSpc>
              <a:buNone/>
            </a:pPr>
            <a:endParaRPr b="0" lang="en-US" sz="2000" spc="-1" strike="noStrike">
              <a:latin typeface="Arial"/>
            </a:endParaRPr>
          </a:p>
          <a:p>
            <a:pPr algn="ctr">
              <a:lnSpc>
                <a:spcPct val="100000"/>
              </a:lnSpc>
              <a:buNone/>
            </a:pPr>
            <a:r>
              <a:rPr b="1" lang="nn-NO" sz="2000" spc="-1" strike="noStrike">
                <a:solidFill>
                  <a:srgbClr val="0000ff"/>
                </a:solidFill>
                <a:latin typeface="Calibri"/>
              </a:rPr>
              <a:t>June 2026</a:t>
            </a:r>
            <a:endParaRPr b="0" lang="en-US" sz="2000" spc="-1" strike="noStrike">
              <a:latin typeface="Arial"/>
            </a:endParaRPr>
          </a:p>
        </p:txBody>
      </p:sp>
      <p:sp>
        <p:nvSpPr>
          <p:cNvPr id="99" name="PlaceHolder 1"/>
          <p:cNvSpPr>
            <a:spLocks noGrp="1"/>
          </p:cNvSpPr>
          <p:nvPr>
            <p:ph type="title"/>
          </p:nvPr>
        </p:nvSpPr>
        <p:spPr>
          <a:xfrm>
            <a:off x="914400" y="2140200"/>
            <a:ext cx="10362960" cy="1361880"/>
          </a:xfrm>
          <a:prstGeom prst="rect">
            <a:avLst/>
          </a:prstGeom>
          <a:noFill/>
          <a:ln w="0">
            <a:noFill/>
          </a:ln>
        </p:spPr>
        <p:txBody>
          <a:bodyPr numCol="1" spcCol="0" anchor="t">
            <a:noAutofit/>
          </a:bodyPr>
          <a:p>
            <a:pPr algn="ctr">
              <a:lnSpc>
                <a:spcPct val="100000"/>
              </a:lnSpc>
              <a:buNone/>
            </a:pPr>
            <a:r>
              <a:rPr b="0" lang="en-US" sz="3200" spc="-1" strike="noStrike">
                <a:solidFill>
                  <a:srgbClr val="000080"/>
                </a:solidFill>
                <a:latin typeface="Calibri"/>
                <a:ea typeface="Calibri"/>
              </a:rPr>
              <a:t>AI for Data </a:t>
            </a:r>
            <a:r>
              <a:rPr b="0" lang="en-US" sz="3200" spc="-1" strike="noStrike">
                <a:solidFill>
                  <a:srgbClr val="3366cc"/>
                </a:solidFill>
                <a:latin typeface="Calibri"/>
                <a:ea typeface="Calibri"/>
              </a:rPr>
              <a:t>and</a:t>
            </a:r>
            <a:r>
              <a:rPr b="0" lang="en-US" sz="3200" spc="-1" strike="noStrike">
                <a:solidFill>
                  <a:srgbClr val="000080"/>
                </a:solidFill>
                <a:latin typeface="Calibri"/>
                <a:ea typeface="Calibri"/>
              </a:rPr>
              <a:t> Data for AI</a:t>
            </a:r>
            <a:br>
              <a:rPr sz="2400"/>
            </a:br>
            <a:endParaRPr b="0" lang="en-US" sz="3200" spc="-1" strike="noStrike">
              <a:solidFill>
                <a:srgbClr val="000000"/>
              </a:solidFill>
              <a:latin typeface="Calibri"/>
            </a:endParaRPr>
          </a:p>
        </p:txBody>
      </p:sp>
      <p:sp>
        <p:nvSpPr>
          <p:cNvPr id="100" name="PlaceHolder 2"/>
          <p:cNvSpPr>
            <a:spLocks noGrp="1"/>
          </p:cNvSpPr>
          <p:nvPr>
            <p:ph/>
          </p:nvPr>
        </p:nvSpPr>
        <p:spPr>
          <a:xfrm>
            <a:off x="2872080" y="4003200"/>
            <a:ext cx="6447600" cy="1056600"/>
          </a:xfrm>
          <a:prstGeom prst="rect">
            <a:avLst/>
          </a:prstGeom>
          <a:noFill/>
          <a:ln w="0">
            <a:noFill/>
          </a:ln>
        </p:spPr>
        <p:txBody>
          <a:bodyPr numCol="1" spcCol="0" anchor="b">
            <a:noAutofit/>
          </a:bodyPr>
          <a:p>
            <a:pPr algn="ctr">
              <a:lnSpc>
                <a:spcPct val="100000"/>
              </a:lnSpc>
              <a:spcBef>
                <a:spcPts val="479"/>
              </a:spcBef>
              <a:buNone/>
              <a:tabLst>
                <a:tab algn="l" pos="0"/>
              </a:tabLst>
            </a:pPr>
            <a:r>
              <a:rPr b="0" lang="en-US" sz="2400" spc="-1" strike="noStrike">
                <a:solidFill>
                  <a:srgbClr val="0000ff"/>
                </a:solidFill>
                <a:latin typeface="Calibri"/>
                <a:ea typeface="Calibri"/>
              </a:rPr>
              <a:t>Dan Roth</a:t>
            </a:r>
            <a:endParaRPr b="0" lang="en-US" sz="2400" spc="-1" strike="noStrike">
              <a:solidFill>
                <a:srgbClr val="000000"/>
              </a:solidFill>
              <a:latin typeface="Calibri"/>
            </a:endParaRPr>
          </a:p>
          <a:p>
            <a:pPr algn="ctr">
              <a:lnSpc>
                <a:spcPct val="100000"/>
              </a:lnSpc>
              <a:spcBef>
                <a:spcPts val="479"/>
              </a:spcBef>
              <a:buNone/>
              <a:tabLst>
                <a:tab algn="l" pos="0"/>
              </a:tabLst>
            </a:pPr>
            <a:r>
              <a:rPr b="0" lang="en-US" sz="2400" spc="-1" strike="noStrike">
                <a:solidFill>
                  <a:srgbClr val="0000ff"/>
                </a:solidFill>
                <a:latin typeface="Calibri"/>
                <a:ea typeface="Arial Unicode MS"/>
              </a:rPr>
              <a:t>Oracle &amp; The University of Pennsylvania</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7000"/>
            <a:ext cx="9880200" cy="533160"/>
          </a:xfrm>
          <a:prstGeom prst="rect">
            <a:avLst/>
          </a:prstGeom>
          <a:noFill/>
          <a:ln w="0">
            <a:noFill/>
          </a:ln>
        </p:spPr>
        <p:txBody>
          <a:bodyPr numCol="1" spcCol="0" anchor="ctr">
            <a:normAutofit fontScale="71000"/>
          </a:bodyPr>
          <a:p>
            <a:pPr>
              <a:lnSpc>
                <a:spcPct val="100000"/>
              </a:lnSpc>
              <a:buNone/>
            </a:pPr>
            <a:r>
              <a:rPr b="0" lang="en-US" sz="4000" spc="-1" strike="noStrike">
                <a:solidFill>
                  <a:srgbClr val="3366cc"/>
                </a:solidFill>
                <a:latin typeface="Calibri"/>
                <a:ea typeface="Calibri"/>
              </a:rPr>
              <a:t>The Promise of Gen AI to Knowledge Access &amp; Use</a:t>
            </a:r>
            <a:endParaRPr b="0" lang="en-US" sz="4000" spc="-1" strike="noStrike">
              <a:solidFill>
                <a:srgbClr val="000000"/>
              </a:solidFill>
              <a:latin typeface="Calibri"/>
            </a:endParaRPr>
          </a:p>
        </p:txBody>
      </p:sp>
      <p:sp>
        <p:nvSpPr>
          <p:cNvPr id="102" name="PlaceHolder 2"/>
          <p:cNvSpPr>
            <a:spLocks noGrp="1"/>
          </p:cNvSpPr>
          <p:nvPr>
            <p:ph/>
          </p:nvPr>
        </p:nvSpPr>
        <p:spPr>
          <a:xfrm>
            <a:off x="609480" y="1251720"/>
            <a:ext cx="10972440" cy="4484520"/>
          </a:xfrm>
          <a:prstGeom prst="rect">
            <a:avLst/>
          </a:prstGeom>
          <a:noFill/>
          <a:ln w="0">
            <a:noFill/>
          </a:ln>
        </p:spPr>
        <p:txBody>
          <a:bodyPr numCol="1" spcCol="0" anchor="t">
            <a:norm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GenAI promises to bring in a new wave of innovation in knowledge access &amp; use.</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Users will solve their problems at the conceptual level – their terms &amp; metrics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No need to learn domain specific query languages, database schemas</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No need to spend time transforming data from one format to another</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No need to be concerned with fusing diverse data</a:t>
            </a:r>
            <a:endParaRPr b="0" lang="en-US" sz="2000" spc="-1" strike="noStrike">
              <a:solidFill>
                <a:srgbClr val="000000"/>
              </a:solidFill>
              <a:latin typeface="Calibri"/>
            </a:endParaRPr>
          </a:p>
        </p:txBody>
      </p:sp>
      <p:sp>
        <p:nvSpPr>
          <p:cNvPr id="103" name="PlaceHolder 3"/>
          <p:cNvSpPr>
            <a:spLocks noGrp="1"/>
          </p:cNvSpPr>
          <p:nvPr>
            <p:ph type="sldNum" idx="6"/>
          </p:nvPr>
        </p:nvSpPr>
        <p:spPr>
          <a:xfrm>
            <a:off x="11292120" y="6523920"/>
            <a:ext cx="507600" cy="228240"/>
          </a:xfrm>
          <a:prstGeom prst="rect">
            <a:avLst/>
          </a:prstGeom>
          <a:noFill/>
          <a:ln w="0">
            <a:noFill/>
          </a:ln>
        </p:spPr>
        <p:txBody>
          <a:bodyPr numCol="1" spcCol="0" anchor="b">
            <a:normAutofit fontScale="75000"/>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0BE99915-5D5B-41B2-B55F-3919F3EDD1B6}" type="slidenum">
              <a:rPr b="0" lang="en-US" sz="1200" spc="-1" strike="noStrike">
                <a:solidFill>
                  <a:srgbClr val="000000"/>
                </a:solidFill>
                <a:latin typeface="Calibri"/>
                <a:ea typeface="Arial Unicode MS"/>
              </a:rPr>
              <a:t>2</a:t>
            </a:fld>
            <a:endParaRPr b="0" lang="en-US" sz="1200" spc="-1" strike="noStrike">
              <a:latin typeface="Times New Roman"/>
            </a:endParaRPr>
          </a:p>
        </p:txBody>
      </p:sp>
      <p:pic>
        <p:nvPicPr>
          <p:cNvPr id="104" name="Picture 5" descr=""/>
          <p:cNvPicPr/>
          <p:nvPr/>
        </p:nvPicPr>
        <p:blipFill>
          <a:blip r:embed="rId1"/>
          <a:stretch/>
        </p:blipFill>
        <p:spPr>
          <a:xfrm>
            <a:off x="462600" y="3494160"/>
            <a:ext cx="11266560" cy="31262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Knowledge Access &amp; Use</a:t>
            </a:r>
            <a:endParaRPr b="0" lang="en-US" sz="4000" spc="-1" strike="noStrike">
              <a:solidFill>
                <a:srgbClr val="000000"/>
              </a:solidFill>
              <a:latin typeface="Calibri"/>
            </a:endParaRPr>
          </a:p>
        </p:txBody>
      </p:sp>
      <p:sp>
        <p:nvSpPr>
          <p:cNvPr id="106" name="PlaceHolder 2"/>
          <p:cNvSpPr>
            <a:spLocks noGrp="1"/>
          </p:cNvSpPr>
          <p:nvPr>
            <p:ph/>
          </p:nvPr>
        </p:nvSpPr>
        <p:spPr>
          <a:xfrm>
            <a:off x="375480" y="1251720"/>
            <a:ext cx="7342920" cy="51073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Models cannot do it alone</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External Data </a:t>
            </a:r>
            <a:r>
              <a:rPr b="0" lang="en-US" sz="2400" spc="-1" strike="noStrike">
                <a:solidFill>
                  <a:srgbClr val="000000"/>
                </a:solidFill>
                <a:latin typeface="Calibri"/>
                <a:ea typeface="Calibri"/>
              </a:rPr>
              <a:t>is essential for almost all applications</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The key use case for LLMs is going to be that of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Orchestrating and supporting </a:t>
            </a:r>
            <a:r>
              <a:rPr b="1" lang="en-US" sz="2000" spc="-1" strike="noStrike">
                <a:solidFill>
                  <a:srgbClr val="3366cc"/>
                </a:solidFill>
                <a:latin typeface="Calibri"/>
                <a:ea typeface="Calibri"/>
              </a:rPr>
              <a:t>access and use of external data </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Multimodal data that models will not see</a:t>
            </a:r>
            <a:r>
              <a:rPr b="0" lang="en-US" sz="2000" spc="-1" strike="noStrike">
                <a:solidFill>
                  <a:srgbClr val="000000"/>
                </a:solidFill>
                <a:latin typeface="Calibri"/>
                <a:ea typeface="Calibri"/>
              </a:rPr>
              <a:t>*</a:t>
            </a:r>
            <a:r>
              <a:rPr b="0" lang="en-US" sz="2000" spc="-1" strike="noStrike">
                <a:solidFill>
                  <a:srgbClr val="3366cc"/>
                </a:solidFill>
                <a:latin typeface="Calibri"/>
                <a:ea typeface="Calibri"/>
              </a:rPr>
              <a:t> prior to run time. </a:t>
            </a:r>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Reliably supporting decisions that depend on retrieving and using heterogenous data is </a:t>
            </a:r>
            <a:r>
              <a:rPr b="1" lang="en-US" sz="2400" spc="-1" strike="noStrike">
                <a:solidFill>
                  <a:srgbClr val="000000"/>
                </a:solidFill>
                <a:latin typeface="Calibri"/>
                <a:ea typeface="Calibri"/>
              </a:rPr>
              <a:t>hard </a:t>
            </a:r>
            <a:endParaRPr b="0" lang="en-US" sz="2400" spc="-1" strike="noStrike">
              <a:solidFill>
                <a:srgbClr val="000000"/>
              </a:solidFill>
              <a:latin typeface="Calibri"/>
            </a:endParaRPr>
          </a:p>
        </p:txBody>
      </p:sp>
      <p:grpSp>
        <p:nvGrpSpPr>
          <p:cNvPr id="107" name="Group 9"/>
          <p:cNvGrpSpPr/>
          <p:nvPr/>
        </p:nvGrpSpPr>
        <p:grpSpPr>
          <a:xfrm>
            <a:off x="7999920" y="1994760"/>
            <a:ext cx="2255760" cy="1783080"/>
            <a:chOff x="7999920" y="1994760"/>
            <a:chExt cx="2255760" cy="1783080"/>
          </a:xfrm>
        </p:grpSpPr>
        <p:pic>
          <p:nvPicPr>
            <p:cNvPr id="108" name="Picture 4" descr=""/>
            <p:cNvPicPr/>
            <p:nvPr/>
          </p:nvPicPr>
          <p:blipFill>
            <a:blip r:embed="rId1"/>
            <a:stretch/>
          </p:blipFill>
          <p:spPr>
            <a:xfrm>
              <a:off x="8503560" y="1994760"/>
              <a:ext cx="1125360" cy="1125360"/>
            </a:xfrm>
            <a:prstGeom prst="rect">
              <a:avLst/>
            </a:prstGeom>
            <a:ln w="0">
              <a:noFill/>
            </a:ln>
          </p:spPr>
        </p:pic>
        <p:sp>
          <p:nvSpPr>
            <p:cNvPr id="109" name="TextBox 7"/>
            <p:cNvSpPr/>
            <p:nvPr/>
          </p:nvSpPr>
          <p:spPr>
            <a:xfrm>
              <a:off x="7999920" y="3261960"/>
              <a:ext cx="225576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Calibri"/>
                </a:rPr>
                <a:t>Strategic business analysis</a:t>
              </a:r>
              <a:endParaRPr b="0" lang="en-US" sz="1400" spc="-1" strike="noStrike">
                <a:latin typeface="Arial"/>
              </a:endParaRPr>
            </a:p>
          </p:txBody>
        </p:sp>
      </p:grpSp>
      <p:grpSp>
        <p:nvGrpSpPr>
          <p:cNvPr id="110" name="Group 12"/>
          <p:cNvGrpSpPr/>
          <p:nvPr/>
        </p:nvGrpSpPr>
        <p:grpSpPr>
          <a:xfrm>
            <a:off x="10580760" y="3805560"/>
            <a:ext cx="1270440" cy="1658880"/>
            <a:chOff x="10580760" y="3805560"/>
            <a:chExt cx="1270440" cy="1658880"/>
          </a:xfrm>
        </p:grpSpPr>
        <p:pic>
          <p:nvPicPr>
            <p:cNvPr id="111" name="Picture 6" descr=""/>
            <p:cNvPicPr/>
            <p:nvPr/>
          </p:nvPicPr>
          <p:blipFill>
            <a:blip r:embed="rId2"/>
            <a:stretch/>
          </p:blipFill>
          <p:spPr>
            <a:xfrm>
              <a:off x="10580760" y="3805560"/>
              <a:ext cx="1082160" cy="1082160"/>
            </a:xfrm>
            <a:prstGeom prst="rect">
              <a:avLst/>
            </a:prstGeom>
            <a:ln w="0">
              <a:noFill/>
            </a:ln>
          </p:spPr>
        </p:pic>
        <p:sp>
          <p:nvSpPr>
            <p:cNvPr id="112" name="TextBox 8"/>
            <p:cNvSpPr/>
            <p:nvPr/>
          </p:nvSpPr>
          <p:spPr>
            <a:xfrm>
              <a:off x="10580760" y="4888080"/>
              <a:ext cx="127044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E-commerce</a:t>
              </a:r>
              <a:endParaRPr b="0" lang="en-US" sz="1600" spc="-1" strike="noStrike">
                <a:latin typeface="Arial"/>
              </a:endParaRPr>
            </a:p>
          </p:txBody>
        </p:sp>
      </p:grpSp>
      <p:pic>
        <p:nvPicPr>
          <p:cNvPr id="113" name="Picture 10" descr=""/>
          <p:cNvPicPr/>
          <p:nvPr/>
        </p:nvPicPr>
        <p:blipFill>
          <a:blip r:embed="rId3"/>
          <a:stretch/>
        </p:blipFill>
        <p:spPr>
          <a:xfrm>
            <a:off x="8051400" y="1147680"/>
            <a:ext cx="914040" cy="914040"/>
          </a:xfrm>
          <a:prstGeom prst="rect">
            <a:avLst/>
          </a:prstGeom>
          <a:ln w="0">
            <a:noFill/>
          </a:ln>
        </p:spPr>
      </p:pic>
      <p:grpSp>
        <p:nvGrpSpPr>
          <p:cNvPr id="114" name="Group 11"/>
          <p:cNvGrpSpPr/>
          <p:nvPr/>
        </p:nvGrpSpPr>
        <p:grpSpPr>
          <a:xfrm>
            <a:off x="8311320" y="3656880"/>
            <a:ext cx="1307880" cy="1492200"/>
            <a:chOff x="8311320" y="3656880"/>
            <a:chExt cx="1307880" cy="1492200"/>
          </a:xfrm>
        </p:grpSpPr>
        <p:pic>
          <p:nvPicPr>
            <p:cNvPr id="115" name="Picture 13" descr=""/>
            <p:cNvPicPr/>
            <p:nvPr/>
          </p:nvPicPr>
          <p:blipFill>
            <a:blip r:embed="rId4"/>
            <a:stretch/>
          </p:blipFill>
          <p:spPr>
            <a:xfrm>
              <a:off x="8311320" y="3656880"/>
              <a:ext cx="1307880" cy="1135800"/>
            </a:xfrm>
            <a:prstGeom prst="rect">
              <a:avLst/>
            </a:prstGeom>
            <a:ln w="0">
              <a:noFill/>
            </a:ln>
          </p:spPr>
        </p:pic>
        <p:sp>
          <p:nvSpPr>
            <p:cNvPr id="116" name="TextBox 14"/>
            <p:cNvSpPr/>
            <p:nvPr/>
          </p:nvSpPr>
          <p:spPr>
            <a:xfrm>
              <a:off x="8507520" y="4816080"/>
              <a:ext cx="100692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Banking</a:t>
              </a:r>
              <a:endParaRPr b="0" lang="en-US" sz="1600" spc="-1" strike="noStrike">
                <a:latin typeface="Arial"/>
              </a:endParaRPr>
            </a:p>
          </p:txBody>
        </p:sp>
      </p:grpSp>
      <p:grpSp>
        <p:nvGrpSpPr>
          <p:cNvPr id="117" name="Group 2"/>
          <p:cNvGrpSpPr/>
          <p:nvPr/>
        </p:nvGrpSpPr>
        <p:grpSpPr>
          <a:xfrm>
            <a:off x="10258560" y="2472840"/>
            <a:ext cx="1798920" cy="1382040"/>
            <a:chOff x="10258560" y="2472840"/>
            <a:chExt cx="1798920" cy="1382040"/>
          </a:xfrm>
        </p:grpSpPr>
        <p:pic>
          <p:nvPicPr>
            <p:cNvPr id="118" name="Picture 15" descr=""/>
            <p:cNvPicPr/>
            <p:nvPr/>
          </p:nvPicPr>
          <p:blipFill>
            <a:blip r:embed="rId5"/>
            <a:stretch/>
          </p:blipFill>
          <p:spPr>
            <a:xfrm>
              <a:off x="10722960" y="2472840"/>
              <a:ext cx="797040" cy="797040"/>
            </a:xfrm>
            <a:prstGeom prst="rect">
              <a:avLst/>
            </a:prstGeom>
            <a:ln w="0">
              <a:noFill/>
            </a:ln>
          </p:spPr>
        </p:pic>
        <p:sp>
          <p:nvSpPr>
            <p:cNvPr id="119" name="TextBox 17"/>
            <p:cNvSpPr/>
            <p:nvPr/>
          </p:nvSpPr>
          <p:spPr>
            <a:xfrm>
              <a:off x="10258560" y="3278520"/>
              <a:ext cx="179892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Scientific discovery</a:t>
              </a:r>
              <a:endParaRPr b="0" lang="en-US" sz="1600" spc="-1" strike="noStrike">
                <a:latin typeface="Arial"/>
              </a:endParaRPr>
            </a:p>
          </p:txBody>
        </p:sp>
      </p:grpSp>
      <p:grpSp>
        <p:nvGrpSpPr>
          <p:cNvPr id="120" name="Group 5"/>
          <p:cNvGrpSpPr/>
          <p:nvPr/>
        </p:nvGrpSpPr>
        <p:grpSpPr>
          <a:xfrm>
            <a:off x="10518120" y="1121400"/>
            <a:ext cx="1275480" cy="1441800"/>
            <a:chOff x="10518120" y="1121400"/>
            <a:chExt cx="1275480" cy="1441800"/>
          </a:xfrm>
        </p:grpSpPr>
        <p:pic>
          <p:nvPicPr>
            <p:cNvPr id="121" name="Picture 16" descr=""/>
            <p:cNvPicPr/>
            <p:nvPr/>
          </p:nvPicPr>
          <p:blipFill>
            <a:blip r:embed="rId6"/>
            <a:stretch/>
          </p:blipFill>
          <p:spPr>
            <a:xfrm>
              <a:off x="10580760" y="1121400"/>
              <a:ext cx="931680" cy="802440"/>
            </a:xfrm>
            <a:prstGeom prst="rect">
              <a:avLst/>
            </a:prstGeom>
            <a:ln w="0">
              <a:noFill/>
            </a:ln>
          </p:spPr>
        </p:pic>
        <p:sp>
          <p:nvSpPr>
            <p:cNvPr id="122" name="TextBox 18"/>
            <p:cNvSpPr/>
            <p:nvPr/>
          </p:nvSpPr>
          <p:spPr>
            <a:xfrm>
              <a:off x="10518120" y="1924920"/>
              <a:ext cx="12754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rPr>
                <a:t>Healthcare</a:t>
              </a:r>
              <a:endParaRPr b="0" lang="en-US" sz="1800" spc="-1" strike="noStrike">
                <a:latin typeface="Arial"/>
              </a:endParaRPr>
            </a:p>
          </p:txBody>
        </p:sp>
      </p:grpSp>
      <p:sp>
        <p:nvSpPr>
          <p:cNvPr id="123" name="TextBox 22"/>
          <p:cNvSpPr/>
          <p:nvPr/>
        </p:nvSpPr>
        <p:spPr>
          <a:xfrm>
            <a:off x="1141200" y="2202840"/>
            <a:ext cx="6591600" cy="1471680"/>
          </a:xfrm>
          <a:prstGeom prst="rect">
            <a:avLst/>
          </a:prstGeom>
          <a:solidFill>
            <a:schemeClr val="bg1">
              <a:lumMod val="95000"/>
            </a:schemeClr>
          </a:solidFill>
          <a:ln w="0">
            <a:solidFill>
              <a:srgbClr val="5b9bd5"/>
            </a:solidFill>
          </a:ln>
        </p:spPr>
        <p:style>
          <a:lnRef idx="0"/>
          <a:fillRef idx="0"/>
          <a:effectRef idx="0"/>
          <a:fontRef idx="minor"/>
        </p:style>
        <p:txBody>
          <a:bodyPr lIns="90000" rIns="90000" tIns="45000" bIns="45000" anchor="t">
            <a:sp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No more general-purpose data</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The remaining data is owned by corporations, medical centers, people,…</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It will stay </a:t>
            </a:r>
            <a:r>
              <a:rPr b="1" lang="en-US" sz="2000" spc="-1" strike="noStrike">
                <a:solidFill>
                  <a:srgbClr val="3366cc"/>
                </a:solidFill>
                <a:latin typeface="Calibri"/>
                <a:ea typeface="Calibri"/>
              </a:rPr>
              <a:t>external </a:t>
            </a:r>
            <a:r>
              <a:rPr b="0" lang="en-US" sz="2000" spc="-1" strike="noStrike">
                <a:solidFill>
                  <a:srgbClr val="3366cc"/>
                </a:solidFill>
                <a:latin typeface="Calibri"/>
                <a:ea typeface="Calibri"/>
              </a:rPr>
              <a:t>to the models </a:t>
            </a:r>
            <a:endParaRPr b="0" lang="en-US" sz="2000" spc="-1" strike="noStrike">
              <a:latin typeface="Arial"/>
            </a:endParaRPr>
          </a:p>
        </p:txBody>
      </p:sp>
      <p:sp>
        <p:nvSpPr>
          <p:cNvPr id="124" name="Speech Bubble: Rectangle 20"/>
          <p:cNvSpPr/>
          <p:nvPr/>
        </p:nvSpPr>
        <p:spPr>
          <a:xfrm>
            <a:off x="7999920" y="5377320"/>
            <a:ext cx="3896280" cy="1372680"/>
          </a:xfrm>
          <a:prstGeom prst="wedgeRectCallout">
            <a:avLst>
              <a:gd name="adj1" fmla="val -82391"/>
              <a:gd name="adj2" fmla="val -38572"/>
            </a:avLst>
          </a:prstGeom>
          <a:solidFill>
            <a:schemeClr val="bg1">
              <a:lumMod val="95000"/>
            </a:schemeClr>
          </a:solidFill>
          <a:ln w="12700">
            <a:solidFill>
              <a:srgbClr val="ffffff">
                <a:lumMod val="85000"/>
              </a:srgbClr>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marL="186120">
              <a:lnSpc>
                <a:spcPct val="100000"/>
              </a:lnSpc>
              <a:spcBef>
                <a:spcPts val="533"/>
              </a:spcBef>
              <a:buNone/>
            </a:pPr>
            <a:r>
              <a:rPr b="1" lang="en-US" sz="1800" spc="-1" strike="noStrike">
                <a:solidFill>
                  <a:srgbClr val="000000"/>
                </a:solidFill>
                <a:latin typeface="Calibri"/>
              </a:rPr>
              <a:t>Many Reasons: </a:t>
            </a:r>
            <a:endParaRPr b="0" lang="en-US" sz="1800" spc="-1" strike="noStrike">
              <a:latin typeface="Arial"/>
            </a:endParaRPr>
          </a:p>
          <a:p>
            <a:pPr marL="186120">
              <a:lnSpc>
                <a:spcPct val="100000"/>
              </a:lnSpc>
              <a:spcBef>
                <a:spcPts val="533"/>
              </a:spcBef>
              <a:buNone/>
            </a:pPr>
            <a:r>
              <a:rPr b="0" lang="en-US" sz="1800" spc="-1" strike="noStrike">
                <a:solidFill>
                  <a:srgbClr val="000000"/>
                </a:solidFill>
                <a:latin typeface="Calibri"/>
              </a:rPr>
              <a:t>Information Retrieval, Understanding Information Needs, Understanding the stored data, Using data. </a:t>
            </a:r>
            <a:endParaRPr b="0" lang="en-US" sz="1800" spc="-1" strike="noStrike">
              <a:latin typeface="Arial"/>
            </a:endParaRPr>
          </a:p>
        </p:txBody>
      </p:sp>
      <p:sp>
        <p:nvSpPr>
          <p:cNvPr id="125" name="Speech Bubble: Rectangle 21"/>
          <p:cNvSpPr/>
          <p:nvPr/>
        </p:nvSpPr>
        <p:spPr>
          <a:xfrm>
            <a:off x="8058240" y="3578040"/>
            <a:ext cx="3742200" cy="1648080"/>
          </a:xfrm>
          <a:prstGeom prst="wedgeRectCallout">
            <a:avLst>
              <a:gd name="adj1" fmla="val -65059"/>
              <a:gd name="adj2" fmla="val -8817"/>
            </a:avLst>
          </a:prstGeom>
          <a:solidFill>
            <a:schemeClr val="bg1">
              <a:lumMod val="85000"/>
            </a:schemeClr>
          </a:solidFill>
          <a:ln w="12700">
            <a:solidFill>
              <a:srgbClr val="ffffff">
                <a:lumMod val="85000"/>
              </a:srgbClr>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marL="186120">
              <a:lnSpc>
                <a:spcPct val="100000"/>
              </a:lnSpc>
              <a:spcBef>
                <a:spcPts val="533"/>
              </a:spcBef>
              <a:buNone/>
            </a:pPr>
            <a:r>
              <a:rPr b="0" lang="en-US" sz="1800" spc="-1" strike="noStrike">
                <a:solidFill>
                  <a:srgbClr val="000000"/>
                </a:solidFill>
                <a:latin typeface="Calibri"/>
              </a:rPr>
              <a:t>[Coding] Agents </a:t>
            </a:r>
            <a:endParaRPr b="0" lang="en-US" sz="1800" spc="-1" strike="noStrike">
              <a:latin typeface="Arial"/>
            </a:endParaRPr>
          </a:p>
          <a:p>
            <a:pPr marL="186120">
              <a:lnSpc>
                <a:spcPct val="100000"/>
              </a:lnSpc>
              <a:spcBef>
                <a:spcPts val="533"/>
              </a:spcBef>
              <a:buNone/>
            </a:pPr>
            <a:r>
              <a:rPr b="0" lang="en-US" sz="1800" spc="-1" strike="noStrike">
                <a:solidFill>
                  <a:srgbClr val="000000"/>
                </a:solidFill>
                <a:latin typeface="Calibri"/>
              </a:rPr>
              <a:t>need access to </a:t>
            </a:r>
            <a:endParaRPr b="0" lang="en-US" sz="1800" spc="-1" strike="noStrike">
              <a:latin typeface="Arial"/>
            </a:endParaRPr>
          </a:p>
          <a:p>
            <a:pPr marL="186120">
              <a:lnSpc>
                <a:spcPct val="100000"/>
              </a:lnSpc>
              <a:spcBef>
                <a:spcPts val="533"/>
              </a:spcBef>
              <a:buNone/>
            </a:pPr>
            <a:r>
              <a:rPr b="0" lang="en-US" sz="1800" spc="-1" strike="noStrike">
                <a:solidFill>
                  <a:srgbClr val="000000"/>
                </a:solidFill>
                <a:latin typeface="Calibri"/>
              </a:rPr>
              <a:t>heterogenous knowledge sources</a:t>
            </a:r>
            <a:endParaRPr b="0" lang="en-US" sz="1800" spc="-1" strike="noStrike">
              <a:latin typeface="Arial"/>
            </a:endParaRPr>
          </a:p>
        </p:txBody>
      </p:sp>
      <p:pic>
        <p:nvPicPr>
          <p:cNvPr id="126" name="Picture 25" descr=""/>
          <p:cNvPicPr/>
          <p:nvPr/>
        </p:nvPicPr>
        <p:blipFill>
          <a:blip r:embed="rId7"/>
          <a:stretch/>
        </p:blipFill>
        <p:spPr>
          <a:xfrm>
            <a:off x="10129680" y="3663360"/>
            <a:ext cx="1301040" cy="900720"/>
          </a:xfrm>
          <a:prstGeom prst="rect">
            <a:avLst/>
          </a:prstGeom>
          <a:ln w="0">
            <a:noFill/>
          </a:ln>
        </p:spPr>
      </p:pic>
      <p:sp>
        <p:nvSpPr>
          <p:cNvPr id="127" name="Arrow: Right 23"/>
          <p:cNvSpPr/>
          <p:nvPr/>
        </p:nvSpPr>
        <p:spPr>
          <a:xfrm rot="869400">
            <a:off x="5889600" y="5125680"/>
            <a:ext cx="2038680" cy="622800"/>
          </a:xfrm>
          <a:prstGeom prst="rightArrow">
            <a:avLst>
              <a:gd name="adj1" fmla="val 50000"/>
              <a:gd name="adj2" fmla="val 50000"/>
            </a:avLst>
          </a:prstGeom>
          <a:solidFill>
            <a:srgbClr val="ff0000"/>
          </a:solidFill>
          <a:ln w="12700">
            <a:solidFill>
              <a:srgbClr val="c0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800" spc="-1" strike="noStrike">
                <a:solidFill>
                  <a:srgbClr val="deebf7"/>
                </a:solidFill>
                <a:latin typeface="Calibri"/>
                <a:ea typeface="Helvetica Neue"/>
              </a:rPr>
              <a:t>This Talk</a:t>
            </a:r>
            <a:endParaRPr b="0" lang="en-US" sz="1800" spc="-1" strike="noStrike">
              <a:latin typeface="Arial"/>
            </a:endParaRPr>
          </a:p>
        </p:txBody>
      </p:sp>
      <p:sp>
        <p:nvSpPr>
          <p:cNvPr id="4" name="PlaceHolder 3"/>
          <p:cNvSpPr>
            <a:spLocks noGrp="1"/>
          </p:cNvSpPr>
          <p:nvPr>
            <p:ph type="sldNum" idx="2"/>
          </p:nvPr>
        </p:nvSpPr>
        <p:spPr/>
        <p:txBody>
          <a:bodyPr/>
          <a:p>
            <a:fld id="{92AA856A-D91E-4E26-A478-47A99381B697}" type="slidenum">
              <a:t>3</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entr" presetID="1">
                                  <p:stCondLst>
                                    <p:cond delay="50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06">
                                            <p:txEl>
                                              <p:pRg st="6" end="6"/>
                                            </p:txEl>
                                          </p:spTgt>
                                        </p:tgtEl>
                                        <p:attrNameLst>
                                          <p:attrName>style.visibility</p:attrName>
                                        </p:attrNameLst>
                                      </p:cBhvr>
                                      <p:to>
                                        <p:strVal val="visible"/>
                                      </p:to>
                                    </p:set>
                                  </p:childTnLst>
                                </p:cTn>
                              </p:par>
                              <p:par>
                                <p:cTn id="11" nodeType="withEffect" fill="hold" presetClass="entr" presetID="1">
                                  <p:stCondLst>
                                    <p:cond delay="0"/>
                                  </p:stCondLst>
                                  <p:childTnLst>
                                    <p:set>
                                      <p:cBhvr>
                                        <p:cTn id="12" dur="1" fill="hold">
                                          <p:stCondLst>
                                            <p:cond delay="0"/>
                                          </p:stCondLst>
                                        </p:cTn>
                                        <p:tgtEl>
                                          <p:spTgt spid="106">
                                            <p:txEl>
                                              <p:pRg st="7" end="7"/>
                                            </p:txEl>
                                          </p:spTgt>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25"/>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1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106">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1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2" presetSubtype="9">
                                  <p:stCondLst>
                                    <p:cond delay="0"/>
                                  </p:stCondLst>
                                  <p:childTnLst>
                                    <p:set>
                                      <p:cBhvr>
                                        <p:cTn id="32" dur="1" fill="hold">
                                          <p:stCondLst>
                                            <p:cond delay="0"/>
                                          </p:stCondLst>
                                        </p:cTn>
                                        <p:tgtEl>
                                          <p:spTgt spid="127"/>
                                        </p:tgtEl>
                                        <p:attrNameLst>
                                          <p:attrName>style.visibility</p:attrName>
                                        </p:attrNameLst>
                                      </p:cBhvr>
                                      <p:to>
                                        <p:strVal val="visible"/>
                                      </p:to>
                                    </p:set>
                                    <p:anim calcmode="lin" valueType="num">
                                      <p:cBhvr additive="repl">
                                        <p:cTn id="33" dur="500" fill="hold"/>
                                        <p:tgtEl>
                                          <p:spTgt spid="127"/>
                                        </p:tgtEl>
                                        <p:attrNameLst>
                                          <p:attrName>ppt_x</p:attrName>
                                        </p:attrNameLst>
                                      </p:cBhvr>
                                      <p:tavLst>
                                        <p:tav tm="0">
                                          <p:val>
                                            <p:strVal val="0-#ppt_w/2"/>
                                          </p:val>
                                        </p:tav>
                                        <p:tav tm="100000">
                                          <p:val>
                                            <p:strVal val="#ppt_x"/>
                                          </p:val>
                                        </p:tav>
                                      </p:tavLst>
                                    </p:anim>
                                    <p:anim calcmode="lin" valueType="num">
                                      <p:cBhvr additive="repl">
                                        <p:cTn id="34" dur="500" fill="hold"/>
                                        <p:tgtEl>
                                          <p:spTgt spid="12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AI for Data </a:t>
            </a:r>
            <a:r>
              <a:rPr b="0" lang="en-US" sz="4000" spc="-1" strike="noStrike">
                <a:solidFill>
                  <a:srgbClr val="000000"/>
                </a:solidFill>
                <a:latin typeface="Calibri"/>
                <a:ea typeface="Calibri"/>
              </a:rPr>
              <a:t>and</a:t>
            </a:r>
            <a:r>
              <a:rPr b="0" lang="en-US" sz="4000" spc="-1" strike="noStrike">
                <a:solidFill>
                  <a:srgbClr val="3366cc"/>
                </a:solidFill>
                <a:latin typeface="Calibri"/>
                <a:ea typeface="Calibri"/>
              </a:rPr>
              <a:t> Data for AI</a:t>
            </a:r>
            <a:endParaRPr b="0" lang="en-US" sz="4000" spc="-1" strike="noStrike">
              <a:solidFill>
                <a:srgbClr val="000000"/>
              </a:solidFill>
              <a:latin typeface="Calibri"/>
            </a:endParaRPr>
          </a:p>
        </p:txBody>
      </p:sp>
      <p:sp>
        <p:nvSpPr>
          <p:cNvPr id="129" name="PlaceHolder 2"/>
          <p:cNvSpPr>
            <a:spLocks noGrp="1"/>
          </p:cNvSpPr>
          <p:nvPr>
            <p:ph/>
          </p:nvPr>
        </p:nvSpPr>
        <p:spPr>
          <a:xfrm>
            <a:off x="559440" y="1252440"/>
            <a:ext cx="5118480" cy="550044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AI for Data</a:t>
            </a:r>
            <a:r>
              <a:rPr b="0" lang="en-US" sz="2400" spc="-1" strike="noStrike">
                <a:solidFill>
                  <a:srgbClr val="000000"/>
                </a:solidFill>
                <a:latin typeface="Calibri"/>
                <a:ea typeface="Calibri"/>
              </a:rPr>
              <a:t>: Human Consumption </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Data for AI</a:t>
            </a:r>
            <a:r>
              <a:rPr b="0" lang="en-US" sz="2400" spc="-1" strike="noStrike">
                <a:solidFill>
                  <a:srgbClr val="000000"/>
                </a:solidFill>
                <a:latin typeface="Calibri"/>
                <a:ea typeface="Calibri"/>
              </a:rPr>
              <a:t>: AI Agents Consumption</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Data needs to be organized &amp; presented </a:t>
            </a:r>
            <a:r>
              <a:rPr b="1" lang="en-US" sz="2000" spc="-1" strike="noStrike">
                <a:solidFill>
                  <a:srgbClr val="3366cc"/>
                </a:solidFill>
                <a:latin typeface="Calibri"/>
                <a:ea typeface="Calibri"/>
              </a:rPr>
              <a:t>differently</a:t>
            </a:r>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130" name="PlaceHolder 3"/>
          <p:cNvSpPr>
            <a:spLocks noGrp="1"/>
          </p:cNvSpPr>
          <p:nvPr>
            <p:ph type="sldNum" idx="7"/>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3AAE2B03-AF6E-4925-8088-9DE2A723C14C}" type="slidenum">
              <a:rPr b="0" lang="en-US" sz="1200" spc="-1" strike="noStrike">
                <a:solidFill>
                  <a:srgbClr val="000000"/>
                </a:solidFill>
                <a:latin typeface="Calibri"/>
                <a:ea typeface="Arial Unicode MS"/>
              </a:rPr>
              <a:t>2</a:t>
            </a:fld>
            <a:endParaRPr b="0" lang="en-US" sz="1200" spc="-1" strike="noStrike">
              <a:latin typeface="Times New Roman"/>
            </a:endParaRPr>
          </a:p>
        </p:txBody>
      </p:sp>
      <p:sp>
        <p:nvSpPr>
          <p:cNvPr id="131" name="Content Placeholder 2"/>
          <p:cNvSpPr/>
          <p:nvPr/>
        </p:nvSpPr>
        <p:spPr>
          <a:xfrm>
            <a:off x="5728320" y="2395440"/>
            <a:ext cx="6338880" cy="4343040"/>
          </a:xfrm>
          <a:prstGeom prst="rect">
            <a:avLst/>
          </a:prstGeom>
          <a:solidFill>
            <a:schemeClr val="bg1">
              <a:lumMod val="95000"/>
            </a:schemeClr>
          </a:solidFill>
          <a:ln w="19050">
            <a:solidFill>
              <a:srgbClr val="478fe1"/>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Instructions</a:t>
            </a:r>
            <a:endParaRPr b="0" lang="en-US" sz="20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Structure and Format</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Visualization provides information to humans; less to agents.</a:t>
            </a:r>
            <a:endParaRPr b="0" lang="en-US" sz="18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Semantic Richness</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Humans infer context from visual queues and commonsense </a:t>
            </a:r>
            <a:endParaRPr b="0" lang="en-US" sz="18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Metadata and Context</a:t>
            </a:r>
            <a:endParaRPr b="0" lang="en-US" sz="20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Granularity and Completeness</a:t>
            </a:r>
            <a:endParaRPr b="0" lang="en-US" sz="20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Error Handling, Trust and Verification</a:t>
            </a:r>
            <a:endParaRPr b="0" lang="en-US" sz="20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Data Preparation</a:t>
            </a:r>
            <a:r>
              <a:rPr b="0" lang="en-US" sz="2000" spc="-1" strike="noStrike">
                <a:solidFill>
                  <a:srgbClr val="000000"/>
                </a:solidFill>
                <a:latin typeface="Calibri"/>
                <a:ea typeface="Calibri"/>
              </a:rPr>
              <a:t>	</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Agents require a semantic layer, APIs with clear contracts</a:t>
            </a:r>
            <a:endParaRPr b="0" lang="en-US" sz="1800" spc="-1" strike="noStrike">
              <a:latin typeface="Arial"/>
            </a:endParaRPr>
          </a:p>
          <a:p>
            <a:pPr>
              <a:lnSpc>
                <a:spcPct val="100000"/>
              </a:lnSpc>
              <a:spcBef>
                <a:spcPts val="400"/>
              </a:spcBef>
              <a:buNone/>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Why is it Hard?</a:t>
            </a:r>
            <a:endParaRPr b="0" lang="en-US" sz="4000" spc="-1" strike="noStrike">
              <a:solidFill>
                <a:srgbClr val="000000"/>
              </a:solidFill>
              <a:latin typeface="Calibri"/>
            </a:endParaRPr>
          </a:p>
        </p:txBody>
      </p:sp>
      <p:sp>
        <p:nvSpPr>
          <p:cNvPr id="133" name="Content Placeholder 2"/>
          <p:cNvSpPr/>
          <p:nvPr/>
        </p:nvSpPr>
        <p:spPr>
          <a:xfrm>
            <a:off x="6460920" y="1283400"/>
            <a:ext cx="5333760" cy="251748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Agentic Use</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Multiple Knowledge Sources</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Rich Documents</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How to Present the Output?</a:t>
            </a:r>
            <a:endParaRPr b="0" lang="en-US" sz="18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Planning</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Conflicting Information</a:t>
            </a:r>
            <a:endParaRPr b="0" lang="en-US" sz="2000" spc="-1" strike="noStrike">
              <a:latin typeface="Arial"/>
            </a:endParaRPr>
          </a:p>
        </p:txBody>
      </p:sp>
      <p:sp>
        <p:nvSpPr>
          <p:cNvPr id="134" name="Content Placeholder 2"/>
          <p:cNvSpPr/>
          <p:nvPr/>
        </p:nvSpPr>
        <p:spPr>
          <a:xfrm>
            <a:off x="313920" y="1283400"/>
            <a:ext cx="5333760" cy="251748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Core Difficulties: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Retrieval </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The importance of a Semantic Layer</a:t>
            </a:r>
            <a:endParaRPr b="0" lang="en-US" sz="18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Dealing with Structure</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NL-2-[SQL,…]</a:t>
            </a:r>
            <a:endParaRPr b="0" lang="en-US" sz="1800" spc="-1" strike="noStrike">
              <a:latin typeface="Arial"/>
            </a:endParaRPr>
          </a:p>
        </p:txBody>
      </p:sp>
      <p:sp>
        <p:nvSpPr>
          <p:cNvPr id="135" name="Content Placeholder 2"/>
          <p:cNvSpPr/>
          <p:nvPr/>
        </p:nvSpPr>
        <p:spPr>
          <a:xfrm>
            <a:off x="2776320" y="4474800"/>
            <a:ext cx="6638760" cy="109944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1" lang="en-US" sz="2000" spc="-1" strike="noStrike">
                <a:solidFill>
                  <a:srgbClr val="000000"/>
                </a:solidFill>
                <a:latin typeface="Calibri"/>
                <a:ea typeface="Calibri"/>
              </a:rPr>
              <a:t>Reasoning:</a:t>
            </a:r>
            <a:r>
              <a:rPr b="0" lang="en-US" sz="2000" spc="-1" strike="noStrike">
                <a:solidFill>
                  <a:srgbClr val="000000"/>
                </a:solidFill>
                <a:latin typeface="Calibri"/>
                <a:ea typeface="Calibri"/>
              </a:rPr>
              <a:t> Underlying some of the difficulties are the needs to support specific types of reasoning that evade general purpose models</a:t>
            </a:r>
            <a:endParaRPr b="0" lang="en-US" sz="2000" spc="-1" strike="noStrike">
              <a:latin typeface="Arial"/>
            </a:endParaRPr>
          </a:p>
        </p:txBody>
      </p:sp>
      <p:sp>
        <p:nvSpPr>
          <p:cNvPr id="136" name="Arrow: Down 7"/>
          <p:cNvSpPr/>
          <p:nvPr/>
        </p:nvSpPr>
        <p:spPr>
          <a:xfrm rot="3717000">
            <a:off x="3253320" y="748800"/>
            <a:ext cx="470520" cy="1068120"/>
          </a:xfrm>
          <a:prstGeom prst="downArrow">
            <a:avLst>
              <a:gd name="adj1" fmla="val 50000"/>
              <a:gd name="adj2" fmla="val 50000"/>
            </a:avLst>
          </a:prstGeom>
          <a:solidFill>
            <a:srgbClr val="ff0000"/>
          </a:solidFill>
          <a:ln w="12700">
            <a:solidFill>
              <a:srgbClr val="ff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3" name="PlaceHolder 2"/>
          <p:cNvSpPr>
            <a:spLocks noGrp="1"/>
          </p:cNvSpPr>
          <p:nvPr>
            <p:ph type="sldNum" idx="2"/>
          </p:nvPr>
        </p:nvSpPr>
        <p:spPr/>
        <p:txBody>
          <a:bodyPr/>
          <a:p>
            <a:fld id="{FB66EFD2-F07D-4D95-9492-5B9B92B5CD5A}" type="slidenum">
              <a:t>5</a:t>
            </a:fld>
          </a:p>
        </p:txBody>
      </p:sp>
    </p:spTree>
  </p:cSld>
  <mc:AlternateContent>
    <mc:Choice Requires="p14">
      <p:transition spd="slow" p14:dur="2000"/>
    </mc:Choice>
    <mc:Fallback>
      <p:transition spd="slow"/>
    </mc:Fallback>
  </mc:AlternateContent>
  <p:timing>
    <p:tnLst>
      <p:par>
        <p:cTn id="35" dur="indefinite" restart="never" nodeType="tmRoot">
          <p:childTnLst>
            <p:seq>
              <p:cTn id="36" dur="indefinite" nodeType="mainSeq">
                <p:childTnLst>
                  <p:par>
                    <p:cTn id="37" fill="hold">
                      <p:stCondLst>
                        <p:cond delay="0"/>
                      </p:stCondLst>
                      <p:childTnLst>
                        <p:par>
                          <p:cTn id="38" fill="hold">
                            <p:stCondLst>
                              <p:cond delay="0"/>
                            </p:stCondLst>
                            <p:childTnLst>
                              <p:par>
                                <p:cTn id="39" nodeType="afterEffect" fill="hold" presetClass="entr" presetID="2" presetSubtype="9">
                                  <p:stCondLst>
                                    <p:cond delay="0"/>
                                  </p:stCondLst>
                                  <p:childTnLst>
                                    <p:set>
                                      <p:cBhvr>
                                        <p:cTn id="40" dur="1" fill="hold">
                                          <p:stCondLst>
                                            <p:cond delay="0"/>
                                          </p:stCondLst>
                                        </p:cTn>
                                        <p:tgtEl>
                                          <p:spTgt spid="136"/>
                                        </p:tgtEl>
                                        <p:attrNameLst>
                                          <p:attrName>style.visibility</p:attrName>
                                        </p:attrNameLst>
                                      </p:cBhvr>
                                      <p:to>
                                        <p:strVal val="visible"/>
                                      </p:to>
                                    </p:set>
                                    <p:anim calcmode="lin" valueType="num">
                                      <p:cBhvr additive="repl">
                                        <p:cTn id="41" dur="1000" fill="hold"/>
                                        <p:tgtEl>
                                          <p:spTgt spid="136"/>
                                        </p:tgtEl>
                                        <p:attrNameLst>
                                          <p:attrName>ppt_x</p:attrName>
                                        </p:attrNameLst>
                                      </p:cBhvr>
                                      <p:tavLst>
                                        <p:tav tm="0">
                                          <p:val>
                                            <p:strVal val="0-#ppt_w/2"/>
                                          </p:val>
                                        </p:tav>
                                        <p:tav tm="100000">
                                          <p:val>
                                            <p:strVal val="#ppt_x"/>
                                          </p:val>
                                        </p:tav>
                                      </p:tavLst>
                                    </p:anim>
                                    <p:anim calcmode="lin" valueType="num">
                                      <p:cBhvr additive="repl">
                                        <p:cTn id="42" dur="1000" fill="hold"/>
                                        <p:tgtEl>
                                          <p:spTgt spid="13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3"/>
          <p:cNvSpPr/>
          <p:nvPr/>
        </p:nvSpPr>
        <p:spPr>
          <a:xfrm>
            <a:off x="457200" y="1334880"/>
            <a:ext cx="11446560" cy="1222560"/>
          </a:xfrm>
          <a:prstGeom prst="rect">
            <a:avLst/>
          </a:prstGeom>
          <a:solidFill>
            <a:schemeClr val="bg1">
              <a:lumMod val="85000"/>
            </a:schemeClr>
          </a:solidFill>
          <a:ln w="19050">
            <a:solidFill>
              <a:srgbClr val="3366cc"/>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138" name="PlaceHolder 1"/>
          <p:cNvSpPr>
            <a:spLocks noGrp="1"/>
          </p:cNvSpPr>
          <p:nvPr>
            <p:ph type="title"/>
          </p:nvPr>
        </p:nvSpPr>
        <p:spPr>
          <a:xfrm>
            <a:off x="295200" y="207000"/>
            <a:ext cx="988020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(1) Semantics Challenges to Retrieval</a:t>
            </a:r>
            <a:endParaRPr b="0" lang="en-US" sz="3600" spc="-1" strike="noStrike">
              <a:solidFill>
                <a:srgbClr val="000000"/>
              </a:solidFill>
              <a:latin typeface="Calibri"/>
            </a:endParaRPr>
          </a:p>
        </p:txBody>
      </p:sp>
      <p:sp>
        <p:nvSpPr>
          <p:cNvPr id="139" name="PlaceHolder 2"/>
          <p:cNvSpPr>
            <a:spLocks noGrp="1"/>
          </p:cNvSpPr>
          <p:nvPr>
            <p:ph/>
          </p:nvPr>
        </p:nvSpPr>
        <p:spPr>
          <a:xfrm>
            <a:off x="609480" y="860760"/>
            <a:ext cx="11293920" cy="44841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Myth: </a:t>
            </a:r>
            <a:r>
              <a:rPr b="0" lang="en-US" sz="2400" spc="-1" strike="noStrike">
                <a:solidFill>
                  <a:srgbClr val="000000"/>
                </a:solidFill>
                <a:latin typeface="Calibri"/>
                <a:ea typeface="Calibri"/>
              </a:rPr>
              <a:t>Dense Retrieval Works </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Truth:</a:t>
            </a:r>
            <a:r>
              <a:rPr b="0" lang="en-US" sz="2400" spc="-1" strike="noStrike">
                <a:solidFill>
                  <a:srgbClr val="000000"/>
                </a:solidFill>
                <a:latin typeface="Calibri"/>
                <a:ea typeface="Calibri"/>
              </a:rPr>
              <a:t> Retrieval systems do well only when the </a:t>
            </a:r>
            <a:r>
              <a:rPr b="0" lang="en-US" sz="2400" spc="-1" strike="noStrike">
                <a:solidFill>
                  <a:srgbClr val="3366cc"/>
                </a:solidFill>
                <a:latin typeface="Calibri"/>
                <a:ea typeface="Calibri"/>
              </a:rPr>
              <a:t>language</a:t>
            </a:r>
            <a:r>
              <a:rPr b="0" lang="en-US" sz="2400" spc="-1" strike="noStrike">
                <a:solidFill>
                  <a:srgbClr val="000000"/>
                </a:solidFill>
                <a:latin typeface="Calibri"/>
                <a:ea typeface="Calibri"/>
              </a:rPr>
              <a:t> of the user </a:t>
            </a:r>
            <a:r>
              <a:rPr b="0" lang="en-US" sz="2400" spc="-1" strike="noStrike">
                <a:solidFill>
                  <a:srgbClr val="3366cc"/>
                </a:solidFill>
                <a:latin typeface="Calibri"/>
                <a:ea typeface="Calibri"/>
              </a:rPr>
              <a:t>query</a:t>
            </a:r>
            <a:r>
              <a:rPr b="0" lang="en-US" sz="2400" spc="-1" strike="noStrike">
                <a:solidFill>
                  <a:srgbClr val="000000"/>
                </a:solidFill>
                <a:latin typeface="Calibri"/>
                <a:ea typeface="Calibri"/>
              </a:rPr>
              <a:t> closely </a:t>
            </a:r>
            <a:r>
              <a:rPr b="0" lang="en-US" sz="2400" spc="-1" strike="noStrike">
                <a:solidFill>
                  <a:srgbClr val="3366cc"/>
                </a:solidFill>
                <a:latin typeface="Calibri"/>
                <a:ea typeface="Calibri"/>
              </a:rPr>
              <a:t>matches</a:t>
            </a:r>
            <a:r>
              <a:rPr b="0" lang="en-US" sz="2400" spc="-1" strike="noStrike">
                <a:solidFill>
                  <a:srgbClr val="000000"/>
                </a:solidFill>
                <a:latin typeface="Calibri"/>
                <a:ea typeface="Calibri"/>
              </a:rPr>
              <a:t> the </a:t>
            </a:r>
            <a:r>
              <a:rPr b="0" lang="en-US" sz="2400" spc="-1" strike="noStrike">
                <a:solidFill>
                  <a:srgbClr val="3366cc"/>
                </a:solidFill>
                <a:latin typeface="Calibri"/>
                <a:ea typeface="Calibri"/>
              </a:rPr>
              <a:t>target documents</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Retrievers struggle to retrieve documents whose relevance to the query is implicit</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E.g., retrieving docs with: (1) domain-specific jargon, (2) business logic, (3) tabular data </a:t>
            </a:r>
            <a:endParaRPr b="0" lang="en-US" sz="2000" spc="-1" strike="noStrike">
              <a:solidFill>
                <a:srgbClr val="000000"/>
              </a:solidFill>
              <a:latin typeface="Calibri"/>
            </a:endParaRPr>
          </a:p>
          <a:p>
            <a:endParaRPr b="0" lang="en-US" sz="2000" spc="-1" strike="noStrike">
              <a:solidFill>
                <a:srgbClr val="000000"/>
              </a:solidFill>
              <a:latin typeface="Calibri"/>
            </a:endParaRPr>
          </a:p>
          <a:p>
            <a:endParaRPr b="0" lang="en-US" sz="1800" spc="-1" strike="noStrike">
              <a:solidFill>
                <a:srgbClr val="000000"/>
              </a:solidFill>
              <a:latin typeface="Calibri"/>
            </a:endParaRPr>
          </a:p>
          <a:p>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endParaRPr b="0" lang="en-US" sz="1800" spc="-1" strike="noStrike">
              <a:solidFill>
                <a:srgbClr val="000000"/>
              </a:solidFill>
              <a:latin typeface="Calibri"/>
            </a:endParaRPr>
          </a:p>
          <a:p>
            <a:endParaRPr b="0" lang="en-US" sz="2000" spc="-1" strike="noStrike">
              <a:solidFill>
                <a:srgbClr val="000000"/>
              </a:solidFill>
              <a:latin typeface="Calibri"/>
            </a:endParaRPr>
          </a:p>
        </p:txBody>
      </p:sp>
      <p:pic>
        <p:nvPicPr>
          <p:cNvPr id="140" name="Picture 9" descr=""/>
          <p:cNvPicPr/>
          <p:nvPr/>
        </p:nvPicPr>
        <p:blipFill>
          <a:blip r:embed="rId1"/>
          <a:stretch/>
        </p:blipFill>
        <p:spPr>
          <a:xfrm>
            <a:off x="515880" y="2989800"/>
            <a:ext cx="3492000" cy="2742840"/>
          </a:xfrm>
          <a:prstGeom prst="rect">
            <a:avLst/>
          </a:prstGeom>
          <a:ln w="0">
            <a:solidFill>
              <a:srgbClr val="478fe1"/>
            </a:solidFill>
          </a:ln>
        </p:spPr>
      </p:pic>
      <p:pic>
        <p:nvPicPr>
          <p:cNvPr id="141" name="Picture 12" descr=""/>
          <p:cNvPicPr/>
          <p:nvPr/>
        </p:nvPicPr>
        <p:blipFill>
          <a:blip r:embed="rId2"/>
          <a:stretch/>
        </p:blipFill>
        <p:spPr>
          <a:xfrm>
            <a:off x="781200" y="5691600"/>
            <a:ext cx="2961000" cy="731160"/>
          </a:xfrm>
          <a:prstGeom prst="rect">
            <a:avLst/>
          </a:prstGeom>
          <a:ln w="0">
            <a:solidFill>
              <a:srgbClr val="478fe1"/>
            </a:solidFill>
          </a:ln>
        </p:spPr>
      </p:pic>
      <p:pic>
        <p:nvPicPr>
          <p:cNvPr id="142" name="Picture 14" descr=""/>
          <p:cNvPicPr/>
          <p:nvPr/>
        </p:nvPicPr>
        <p:blipFill>
          <a:blip r:embed="rId3"/>
          <a:stretch/>
        </p:blipFill>
        <p:spPr>
          <a:xfrm>
            <a:off x="7491600" y="2989800"/>
            <a:ext cx="4385880" cy="2285640"/>
          </a:xfrm>
          <a:prstGeom prst="rect">
            <a:avLst/>
          </a:prstGeom>
          <a:ln w="0">
            <a:solidFill>
              <a:srgbClr val="478fe1"/>
            </a:solidFill>
          </a:ln>
        </p:spPr>
      </p:pic>
      <p:pic>
        <p:nvPicPr>
          <p:cNvPr id="143" name="Picture 16" descr=""/>
          <p:cNvPicPr/>
          <p:nvPr/>
        </p:nvPicPr>
        <p:blipFill>
          <a:blip r:embed="rId4"/>
          <a:stretch/>
        </p:blipFill>
        <p:spPr>
          <a:xfrm>
            <a:off x="8022960" y="5691600"/>
            <a:ext cx="3138120" cy="731160"/>
          </a:xfrm>
          <a:prstGeom prst="rect">
            <a:avLst/>
          </a:prstGeom>
          <a:ln w="0">
            <a:solidFill>
              <a:srgbClr val="478fe1"/>
            </a:solidFill>
          </a:ln>
        </p:spPr>
      </p:pic>
      <p:sp>
        <p:nvSpPr>
          <p:cNvPr id="144" name="TextBox 5"/>
          <p:cNvSpPr/>
          <p:nvPr/>
        </p:nvSpPr>
        <p:spPr>
          <a:xfrm>
            <a:off x="105120" y="6470640"/>
            <a:ext cx="7633800" cy="51588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ff"/>
                </a:solidFill>
                <a:latin typeface="Calibri"/>
              </a:rPr>
              <a:t>[Shen et al. “LogiCoL: Logically-Informed Contrastive Learning for Set-based Dense Retrieval EMNLP’25] </a:t>
            </a:r>
            <a:endParaRPr b="0" lang="en-US" sz="1400" spc="-1" strike="noStrike">
              <a:latin typeface="Arial"/>
            </a:endParaRPr>
          </a:p>
        </p:txBody>
      </p:sp>
      <p:sp>
        <p:nvSpPr>
          <p:cNvPr id="145" name="TextBox 7"/>
          <p:cNvSpPr/>
          <p:nvPr/>
        </p:nvSpPr>
        <p:spPr>
          <a:xfrm>
            <a:off x="4357800" y="2962440"/>
            <a:ext cx="2972880" cy="2009880"/>
          </a:xfrm>
          <a:prstGeom prst="rect">
            <a:avLst/>
          </a:prstGeom>
          <a:solidFill>
            <a:schemeClr val="bg1">
              <a:lumMod val="8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libri"/>
              </a:rPr>
              <a:t>Semantic Layer: </a:t>
            </a:r>
            <a:r>
              <a:rPr b="0" lang="en-US" sz="1800" spc="-1" strike="noStrike">
                <a:solidFill>
                  <a:srgbClr val="000000"/>
                </a:solidFill>
                <a:latin typeface="Calibri"/>
              </a:rPr>
              <a:t>data objects have to be further </a:t>
            </a:r>
            <a:r>
              <a:rPr b="1" lang="en-US" sz="1800" spc="-1" strike="noStrike">
                <a:solidFill>
                  <a:srgbClr val="000000"/>
                </a:solidFill>
                <a:latin typeface="Calibri"/>
              </a:rPr>
              <a:t>enriched</a:t>
            </a:r>
            <a:r>
              <a:rPr b="0" lang="en-US" sz="1800" spc="-1" strike="noStrike">
                <a:solidFill>
                  <a:srgbClr val="000000"/>
                </a:solidFill>
                <a:latin typeface="Calibri"/>
              </a:rPr>
              <a:t> to facilitate better retrieval. LLMs can do it well, off-line; before queries are presented. </a:t>
            </a:r>
            <a:endParaRPr b="0" lang="en-US" sz="1800" spc="-1" strike="noStrike">
              <a:latin typeface="Arial"/>
            </a:endParaRPr>
          </a:p>
        </p:txBody>
      </p:sp>
      <p:sp>
        <p:nvSpPr>
          <p:cNvPr id="146" name="TextBox 8"/>
          <p:cNvSpPr/>
          <p:nvPr/>
        </p:nvSpPr>
        <p:spPr>
          <a:xfrm>
            <a:off x="4341960" y="4588920"/>
            <a:ext cx="2989080" cy="106308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3366cc"/>
                </a:solidFill>
                <a:latin typeface="Calibri"/>
              </a:rPr>
              <a:t>Chen et al. (COLM, 2025): </a:t>
            </a:r>
            <a:r>
              <a:rPr b="1" lang="en-US" sz="1600" spc="-1" strike="noStrike">
                <a:solidFill>
                  <a:srgbClr val="3366cc"/>
                </a:solidFill>
                <a:latin typeface="Calibri"/>
              </a:rPr>
              <a:t>EnrichIndex: </a:t>
            </a:r>
            <a:r>
              <a:rPr b="0" lang="en-US" sz="1600" spc="-1" strike="noStrike">
                <a:solidFill>
                  <a:srgbClr val="3366cc"/>
                </a:solidFill>
                <a:latin typeface="Calibri"/>
              </a:rPr>
              <a:t>Using LLMs to Enrich Retrieval Indices Offline</a:t>
            </a:r>
            <a:endParaRPr b="0" lang="en-US" sz="1600" spc="-1" strike="noStrike">
              <a:latin typeface="Arial"/>
            </a:endParaRPr>
          </a:p>
        </p:txBody>
      </p:sp>
      <p:sp>
        <p:nvSpPr>
          <p:cNvPr id="147" name="TextBox 10"/>
          <p:cNvSpPr/>
          <p:nvPr/>
        </p:nvSpPr>
        <p:spPr>
          <a:xfrm>
            <a:off x="4328640" y="5562360"/>
            <a:ext cx="3002400" cy="106308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3366cc"/>
                </a:solidFill>
                <a:latin typeface="Calibri"/>
              </a:rPr>
              <a:t>Many types of enrichments </a:t>
            </a:r>
            <a:r>
              <a:rPr b="0" lang="en-US" sz="1600" spc="-1" strike="noStrike">
                <a:solidFill>
                  <a:srgbClr val="3366cc"/>
                </a:solidFill>
                <a:latin typeface="Calibri"/>
              </a:rPr>
              <a:t>are needed – purpose, descriptions, QA, transaction-dependent, etc. </a:t>
            </a:r>
            <a:endParaRPr b="0" lang="en-US" sz="1600" spc="-1" strike="noStrike">
              <a:latin typeface="Arial"/>
            </a:endParaRPr>
          </a:p>
        </p:txBody>
      </p:sp>
      <p:sp>
        <p:nvSpPr>
          <p:cNvPr id="148" name="Speech Bubble: Rectangle 11"/>
          <p:cNvSpPr/>
          <p:nvPr/>
        </p:nvSpPr>
        <p:spPr>
          <a:xfrm>
            <a:off x="7388280" y="46440"/>
            <a:ext cx="4724640" cy="1222560"/>
          </a:xfrm>
          <a:prstGeom prst="wedgeRectCallout">
            <a:avLst>
              <a:gd name="adj1" fmla="val -54834"/>
              <a:gd name="adj2" fmla="val 192545"/>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600" spc="-1" strike="noStrike">
                <a:solidFill>
                  <a:srgbClr val="000000"/>
                </a:solidFill>
                <a:latin typeface="Calibri"/>
                <a:ea typeface="Calibri"/>
              </a:rPr>
              <a:t>The semantic layer is a key ingredient of realistic solutions for both structured and unstructured data. </a:t>
            </a:r>
            <a:endParaRPr b="0" lang="en-US" sz="1600" spc="-1" strike="noStrike">
              <a:latin typeface="Arial"/>
            </a:endParaRPr>
          </a:p>
          <a:p>
            <a:pPr>
              <a:lnSpc>
                <a:spcPct val="100000"/>
              </a:lnSpc>
              <a:buNone/>
            </a:pPr>
            <a:r>
              <a:rPr b="0" lang="en-US" sz="1600" spc="-1" strike="noStrike">
                <a:solidFill>
                  <a:srgbClr val="000000"/>
                </a:solidFill>
                <a:latin typeface="Calibri"/>
                <a:ea typeface="Calibri"/>
              </a:rPr>
              <a:t>Even when we bring queries and data objects close together… </a:t>
            </a:r>
            <a:r>
              <a:rPr b="0" lang="en-US" sz="1600" spc="-1" strike="noStrike">
                <a:solidFill>
                  <a:srgbClr val="478fe1"/>
                </a:solidFill>
                <a:latin typeface="Calibri"/>
                <a:ea typeface="Calibri"/>
              </a:rPr>
              <a:t>“The Crowded Embedding Space.”, ICML’26</a:t>
            </a:r>
            <a:endParaRPr b="0" lang="en-US" sz="1600" spc="-1" strike="noStrike">
              <a:latin typeface="Arial"/>
            </a:endParaRPr>
          </a:p>
        </p:txBody>
      </p:sp>
      <p:sp>
        <p:nvSpPr>
          <p:cNvPr id="4" name="PlaceHolder 3"/>
          <p:cNvSpPr>
            <a:spLocks noGrp="1"/>
          </p:cNvSpPr>
          <p:nvPr>
            <p:ph type="sldNum" idx="2"/>
          </p:nvPr>
        </p:nvSpPr>
        <p:spPr/>
        <p:txBody>
          <a:bodyPr/>
          <a:p>
            <a:fld id="{54F34F6D-8EC9-4B8A-8B41-9CE86955A2AF}" type="slidenum">
              <a:t>6</a:t>
            </a:fld>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145"/>
                                        </p:tgtEl>
                                        <p:attrNameLst>
                                          <p:attrName>style.visibility</p:attrName>
                                        </p:attrNameLst>
                                      </p:cBhvr>
                                      <p:to>
                                        <p:strVal val="visible"/>
                                      </p:to>
                                    </p:set>
                                  </p:childTnLst>
                                </p:cTn>
                              </p:par>
                              <p:par>
                                <p:cTn id="49" nodeType="withEffect" fill="hold" presetClass="entr" presetID="1">
                                  <p:stCondLst>
                                    <p:cond delay="0"/>
                                  </p:stCondLst>
                                  <p:childTnLst>
                                    <p:set>
                                      <p:cBhvr>
                                        <p:cTn id="50" dur="1" fill="hold">
                                          <p:stCondLst>
                                            <p:cond delay="0"/>
                                          </p:stCondLst>
                                        </p:cTn>
                                        <p:tgtEl>
                                          <p:spTgt spid="1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1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Inherent Goal Collision in Dense Retrieval </a:t>
            </a:r>
            <a:endParaRPr b="0" lang="en-US" sz="4000" spc="-1" strike="noStrike">
              <a:solidFill>
                <a:srgbClr val="000000"/>
              </a:solidFill>
              <a:latin typeface="Calibri"/>
            </a:endParaRPr>
          </a:p>
        </p:txBody>
      </p:sp>
      <p:sp>
        <p:nvSpPr>
          <p:cNvPr id="150" name="PlaceHolder 2"/>
          <p:cNvSpPr>
            <a:spLocks noGrp="1"/>
          </p:cNvSpPr>
          <p:nvPr>
            <p:ph/>
          </p:nvPr>
        </p:nvSpPr>
        <p:spPr>
          <a:xfrm>
            <a:off x="609480" y="1252440"/>
            <a:ext cx="10972440" cy="180108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Retrieval Setting: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(a target document, query) d(x,q)= </a:t>
            </a:r>
            <a:r>
              <a:rPr b="0" lang="en-US" sz="2000" spc="-1" strike="noStrike">
                <a:solidFill>
                  <a:srgbClr val="3366cc"/>
                </a:solidFill>
                <a:latin typeface="Cambria Math"/>
                <a:ea typeface="Cambria Math"/>
              </a:rPr>
              <a:t>∊</a:t>
            </a:r>
            <a:r>
              <a:rPr b="0" lang="en-US" sz="2000" spc="-1" strike="noStrike">
                <a:solidFill>
                  <a:srgbClr val="3366cc"/>
                </a:solidFill>
                <a:latin typeface="Calibri"/>
                <a:ea typeface="Calibri"/>
              </a:rPr>
              <a:t> ; distractors documents distributed normally. </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As distractor density increases, interfering documents saturate the retrieval ball around the target query, displacing the correct target from top-k results.</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151" name="PlaceHolder 3"/>
          <p:cNvSpPr>
            <a:spLocks noGrp="1"/>
          </p:cNvSpPr>
          <p:nvPr>
            <p:ph type="sldNum" idx="8"/>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0EBBF213-B6B3-48C5-B61C-D761CB3D7B8B}" type="slidenum">
              <a:rPr b="0" lang="en-US" sz="1200" spc="-1" strike="noStrike">
                <a:solidFill>
                  <a:srgbClr val="000000"/>
                </a:solidFill>
                <a:latin typeface="Calibri"/>
                <a:ea typeface="Arial Unicode MS"/>
              </a:rPr>
              <a:t>2</a:t>
            </a:fld>
            <a:endParaRPr b="0" lang="en-US" sz="1200" spc="-1" strike="noStrike">
              <a:latin typeface="Times New Roman"/>
            </a:endParaRPr>
          </a:p>
        </p:txBody>
      </p:sp>
      <p:sp>
        <p:nvSpPr>
          <p:cNvPr id="152" name="TextBox 13"/>
          <p:cNvSpPr/>
          <p:nvPr/>
        </p:nvSpPr>
        <p:spPr>
          <a:xfrm>
            <a:off x="109800" y="950400"/>
            <a:ext cx="11969280" cy="576360"/>
          </a:xfrm>
          <a:prstGeom prst="rect">
            <a:avLst/>
          </a:prstGeom>
          <a:noFill/>
          <a:ln w="28575">
            <a:solidFill>
              <a:srgbClr val="3366cc"/>
            </a:solidFill>
            <a:round/>
          </a:ln>
        </p:spPr>
        <p:style>
          <a:lnRef idx="0"/>
          <a:fillRef idx="0"/>
          <a:effectRef idx="0"/>
          <a:fontRef idx="minor"/>
        </p:style>
        <p:txBody>
          <a:bodyPr lIns="90000" rIns="90000" tIns="45000" bIns="45000" anchor="t">
            <a:spAutoFit/>
          </a:bodyPr>
          <a:p>
            <a:pPr>
              <a:lnSpc>
                <a:spcPct val="100000"/>
              </a:lnSpc>
              <a:buNone/>
            </a:pPr>
            <a:r>
              <a:rPr b="0" lang="en" sz="1600" spc="-1" strike="noStrike">
                <a:solidFill>
                  <a:srgbClr val="0000ff"/>
                </a:solidFill>
                <a:latin typeface="Calibri"/>
              </a:rPr>
              <a:t> </a:t>
            </a:r>
            <a:r>
              <a:rPr b="0" lang="en" sz="1600" spc="-1" strike="noStrike">
                <a:solidFill>
                  <a:srgbClr val="0000ff"/>
                </a:solidFill>
                <a:latin typeface="Calibri"/>
              </a:rPr>
              <a:t>Shwan Ashrafi (Oracle AI) et al. </a:t>
            </a:r>
            <a:r>
              <a:rPr b="0" lang="en-US" sz="1600" spc="-1" strike="noStrike">
                <a:solidFill>
                  <a:srgbClr val="000000"/>
                </a:solidFill>
                <a:latin typeface="Calibri"/>
              </a:rPr>
              <a:t>The Crowded Embedding Space: Emergent Marginalization in Retrieval-Augmented Agents (ICML’26)</a:t>
            </a:r>
            <a:endParaRPr b="0" lang="en-US" sz="1600" spc="-1" strike="noStrike">
              <a:latin typeface="Arial"/>
            </a:endParaRPr>
          </a:p>
        </p:txBody>
      </p:sp>
      <p:pic>
        <p:nvPicPr>
          <p:cNvPr id="153" name="Picture 4" descr=""/>
          <p:cNvPicPr/>
          <p:nvPr/>
        </p:nvPicPr>
        <p:blipFill>
          <a:blip r:embed="rId1"/>
          <a:stretch/>
        </p:blipFill>
        <p:spPr>
          <a:xfrm>
            <a:off x="1585080" y="2918880"/>
            <a:ext cx="9063000" cy="3748680"/>
          </a:xfrm>
          <a:prstGeom prst="rect">
            <a:avLst/>
          </a:prstGeom>
          <a:ln w="28575">
            <a:solidFill>
              <a:srgbClr val="478fe1"/>
            </a:solidFill>
            <a:round/>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A Sharp Phase Transition in Retrieval</a:t>
            </a:r>
            <a:endParaRPr b="0" lang="en-US" sz="4000" spc="-1" strike="noStrike">
              <a:solidFill>
                <a:srgbClr val="000000"/>
              </a:solidFill>
              <a:latin typeface="Calibri"/>
            </a:endParaRPr>
          </a:p>
        </p:txBody>
      </p:sp>
      <p:sp>
        <p:nvSpPr>
          <p:cNvPr id="155" name="PlaceHolder 2"/>
          <p:cNvSpPr>
            <a:spLocks noGrp="1"/>
          </p:cNvSpPr>
          <p:nvPr>
            <p:ph/>
          </p:nvPr>
        </p:nvSpPr>
        <p:spPr>
          <a:xfrm>
            <a:off x="83880" y="1272960"/>
            <a:ext cx="4877280" cy="49917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There exists a </a:t>
            </a:r>
            <a:r>
              <a:rPr b="1" lang="en-US" sz="2400" spc="-1" strike="noStrike">
                <a:solidFill>
                  <a:srgbClr val="000000"/>
                </a:solidFill>
                <a:latin typeface="Calibri"/>
                <a:ea typeface="Calibri"/>
              </a:rPr>
              <a:t>critical distractor population Nc </a:t>
            </a:r>
            <a:r>
              <a:rPr b="0" lang="en-US" sz="2400" spc="-1" strike="noStrike">
                <a:solidFill>
                  <a:srgbClr val="000000"/>
                </a:solidFill>
                <a:latin typeface="Calibri"/>
                <a:ea typeface="Calibri"/>
              </a:rPr>
              <a:t>beyond which target retrieval success collapses catastrophically as an abrupt phase transition.</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This is not noise! </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It is a fundamental geometric constraint of shared embedding spaces.</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156" name="PlaceHolder 3"/>
          <p:cNvSpPr>
            <a:spLocks noGrp="1"/>
          </p:cNvSpPr>
          <p:nvPr>
            <p:ph type="sldNum" idx="9"/>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DDB004AC-C748-4C63-A15F-03AA55D8F15F}" type="slidenum">
              <a:rPr b="0" lang="en-US" sz="1200" spc="-1" strike="noStrike">
                <a:solidFill>
                  <a:srgbClr val="000000"/>
                </a:solidFill>
                <a:latin typeface="Calibri"/>
                <a:ea typeface="Arial Unicode MS"/>
              </a:rPr>
              <a:t>2</a:t>
            </a:fld>
            <a:endParaRPr b="0" lang="en-US" sz="1200" spc="-1" strike="noStrike">
              <a:latin typeface="Times New Roman"/>
            </a:endParaRPr>
          </a:p>
        </p:txBody>
      </p:sp>
      <p:pic>
        <p:nvPicPr>
          <p:cNvPr id="157" name="Image 0" descr="preencoded.png"/>
          <p:cNvPicPr/>
          <p:nvPr/>
        </p:nvPicPr>
        <p:blipFill>
          <a:blip r:embed="rId1"/>
          <a:stretch/>
        </p:blipFill>
        <p:spPr>
          <a:xfrm>
            <a:off x="5358240" y="1716120"/>
            <a:ext cx="6451200" cy="4105080"/>
          </a:xfrm>
          <a:prstGeom prst="rect">
            <a:avLst/>
          </a:prstGeom>
          <a:ln w="0">
            <a:noFill/>
          </a:ln>
        </p:spPr>
      </p:pic>
      <p:sp>
        <p:nvSpPr>
          <p:cNvPr id="158" name="Text 1"/>
          <p:cNvSpPr/>
          <p:nvPr/>
        </p:nvSpPr>
        <p:spPr>
          <a:xfrm>
            <a:off x="7060680" y="6053400"/>
            <a:ext cx="3276720" cy="66312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ctr">
            <a:noAutofit/>
          </a:bodyPr>
          <a:p>
            <a:pPr>
              <a:lnSpc>
                <a:spcPct val="100000"/>
              </a:lnSpc>
              <a:buNone/>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λ_D : Document intensity function</a:t>
            </a:r>
            <a:endParaRPr b="0" lang="en-US" sz="1200" spc="-1" strike="noStrike">
              <a:latin typeface="Arial"/>
            </a:endParaRPr>
          </a:p>
          <a:p>
            <a:pPr>
              <a:lnSpc>
                <a:spcPct val="100000"/>
              </a:lnSpc>
              <a:buNone/>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ε : Distance between query and target document</a:t>
            </a:r>
            <a:endParaRPr b="0" lang="en-US" sz="1200" spc="-1" strike="noStrike">
              <a:latin typeface="Arial"/>
            </a:endParaRPr>
          </a:p>
          <a:p>
            <a:pPr>
              <a:lnSpc>
                <a:spcPct val="100000"/>
              </a:lnSpc>
              <a:buNone/>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V_d(ε) : Volume of retrieval ball (d-dimension)</a:t>
            </a:r>
            <a:endParaRPr b="0" lang="en-US" sz="1200" spc="-1" strike="noStrike">
              <a:latin typeface="Arial"/>
            </a:endParaRPr>
          </a:p>
        </p:txBody>
      </p:sp>
      <p:pic>
        <p:nvPicPr>
          <p:cNvPr id="159" name="Picture 3" descr="A black text with a white background&#10;&#10;AI-generated content may be incorrect."/>
          <p:cNvPicPr/>
          <p:nvPr/>
        </p:nvPicPr>
        <p:blipFill>
          <a:blip r:embed="rId2"/>
          <a:stretch/>
        </p:blipFill>
        <p:spPr>
          <a:xfrm>
            <a:off x="6686280" y="1036440"/>
            <a:ext cx="3210480" cy="540000"/>
          </a:xfrm>
          <a:prstGeom prst="rect">
            <a:avLst/>
          </a:prstGeom>
          <a:ln w="0">
            <a:solidFill>
              <a:srgbClr val="478fe1"/>
            </a:solidFill>
          </a:ln>
        </p:spPr>
      </p:pic>
      <p:sp>
        <p:nvSpPr>
          <p:cNvPr id="160" name="Text 5"/>
          <p:cNvSpPr/>
          <p:nvPr/>
        </p:nvSpPr>
        <p:spPr>
          <a:xfrm>
            <a:off x="9896760" y="2553120"/>
            <a:ext cx="1682280" cy="105840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ctr">
            <a:noAutofit/>
          </a:bodyPr>
          <a:p>
            <a:pPr algn="ctr">
              <a:lnSpc>
                <a:spcPct val="100000"/>
              </a:lnSpc>
              <a:buNone/>
            </a:pPr>
            <a:r>
              <a:rPr b="0" lang="en-US" sz="1400" spc="-1" strike="noStrike">
                <a:solidFill>
                  <a:srgbClr val="000000"/>
                </a:solidFill>
                <a:latin typeface="Calibri"/>
                <a:ea typeface="Calibri"/>
              </a:rPr>
              <a:t>Target distance=1.5</a:t>
            </a:r>
            <a:endParaRPr b="0" lang="en-US" sz="1400" spc="-1" strike="noStrike">
              <a:latin typeface="Arial"/>
            </a:endParaRPr>
          </a:p>
          <a:p>
            <a:pPr algn="ctr">
              <a:lnSpc>
                <a:spcPct val="100000"/>
              </a:lnSpc>
              <a:buNone/>
            </a:pPr>
            <a:r>
              <a:rPr b="0" lang="en-US" sz="1400" spc="-1" strike="noStrike">
                <a:solidFill>
                  <a:srgbClr val="000000"/>
                </a:solidFill>
                <a:latin typeface="Calibri"/>
                <a:ea typeface="Calibri"/>
              </a:rPr>
              <a:t>Distractors ~ N(0,1)</a:t>
            </a:r>
            <a:endParaRPr b="0" lang="en-US" sz="1400" spc="-1" strike="noStrike">
              <a:latin typeface="Arial"/>
            </a:endParaRPr>
          </a:p>
          <a:p>
            <a:pPr algn="ctr">
              <a:lnSpc>
                <a:spcPct val="100000"/>
              </a:lnSpc>
              <a:buNone/>
            </a:pPr>
            <a:r>
              <a:rPr b="0" lang="en-US" sz="1400" spc="-1" strike="noStrike">
                <a:solidFill>
                  <a:srgbClr val="000000"/>
                </a:solidFill>
                <a:latin typeface="Calibri"/>
                <a:ea typeface="Calibri"/>
              </a:rPr>
              <a:t>L = 20</a:t>
            </a:r>
            <a:endParaRPr b="0" lang="en-US" sz="1400" spc="-1" strike="noStrike">
              <a:latin typeface="Arial"/>
            </a:endParaRPr>
          </a:p>
          <a:p>
            <a:pPr algn="ctr">
              <a:lnSpc>
                <a:spcPct val="100000"/>
              </a:lnSpc>
              <a:buNone/>
            </a:pPr>
            <a:r>
              <a:rPr b="0" lang="en-US" sz="1400" spc="-1" strike="noStrike">
                <a:solidFill>
                  <a:srgbClr val="000000"/>
                </a:solidFill>
                <a:latin typeface="Calibri"/>
                <a:ea typeface="Calibri"/>
              </a:rPr>
              <a:t>ε = 0.5</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Dense Retrieval Collapse: Empirical Data</a:t>
            </a:r>
            <a:endParaRPr b="0" lang="en-US" sz="4000" spc="-1" strike="noStrike">
              <a:solidFill>
                <a:srgbClr val="000000"/>
              </a:solidFill>
              <a:latin typeface="Calibri"/>
            </a:endParaRPr>
          </a:p>
        </p:txBody>
      </p:sp>
      <p:sp>
        <p:nvSpPr>
          <p:cNvPr id="162" name="PlaceHolder 2"/>
          <p:cNvSpPr>
            <a:spLocks noGrp="1"/>
          </p:cNvSpPr>
          <p:nvPr>
            <p:ph/>
          </p:nvPr>
        </p:nvSpPr>
        <p:spPr>
          <a:xfrm>
            <a:off x="609480" y="1051200"/>
            <a:ext cx="10972440" cy="44841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Vision  ·  Semantic Text  ·  Stylistic Text  ·  Topical Text</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The distractor crowding drives target retrieval collapse in every modality tested</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Fixed, pretrained embeddings and no retraining.</a:t>
            </a:r>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163" name="PlaceHolder 3"/>
          <p:cNvSpPr>
            <a:spLocks noGrp="1"/>
          </p:cNvSpPr>
          <p:nvPr>
            <p:ph type="sldNum" idx="10"/>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ECA76AF1-B75F-4CCA-8A4D-3F2920A60225}" type="slidenum">
              <a:rPr b="0" lang="en-US" sz="1200" spc="-1" strike="noStrike">
                <a:solidFill>
                  <a:srgbClr val="000000"/>
                </a:solidFill>
                <a:latin typeface="Calibri"/>
                <a:ea typeface="Arial Unicode MS"/>
              </a:rPr>
              <a:t>2</a:t>
            </a:fld>
            <a:endParaRPr b="0" lang="en-US" sz="1200" spc="-1" strike="noStrike">
              <a:latin typeface="Times New Roman"/>
            </a:endParaRPr>
          </a:p>
        </p:txBody>
      </p:sp>
      <p:pic>
        <p:nvPicPr>
          <p:cNvPr id="164" name="Picture 2" descr=""/>
          <p:cNvPicPr/>
          <p:nvPr/>
        </p:nvPicPr>
        <p:blipFill>
          <a:blip r:embed="rId1"/>
          <a:stretch/>
        </p:blipFill>
        <p:spPr>
          <a:xfrm>
            <a:off x="758880" y="1505880"/>
            <a:ext cx="5652000" cy="2586960"/>
          </a:xfrm>
          <a:prstGeom prst="rect">
            <a:avLst/>
          </a:prstGeom>
          <a:ln w="0">
            <a:noFill/>
          </a:ln>
        </p:spPr>
      </p:pic>
      <p:pic>
        <p:nvPicPr>
          <p:cNvPr id="165" name="Picture 3" descr=""/>
          <p:cNvPicPr/>
          <p:nvPr/>
        </p:nvPicPr>
        <p:blipFill>
          <a:blip r:embed="rId2"/>
          <a:stretch/>
        </p:blipFill>
        <p:spPr>
          <a:xfrm>
            <a:off x="6411600" y="1505880"/>
            <a:ext cx="5610960" cy="2586960"/>
          </a:xfrm>
          <a:prstGeom prst="rect">
            <a:avLst/>
          </a:prstGeom>
          <a:ln w="0">
            <a:noFill/>
          </a:ln>
        </p:spPr>
      </p:pic>
      <p:graphicFrame>
        <p:nvGraphicFramePr>
          <p:cNvPr id="166" name="Table 9"/>
          <p:cNvGraphicFramePr/>
          <p:nvPr/>
        </p:nvGraphicFramePr>
        <p:xfrm>
          <a:off x="2011680" y="5000760"/>
          <a:ext cx="8168400" cy="1482840"/>
        </p:xfrm>
        <a:graphic>
          <a:graphicData uri="http://schemas.openxmlformats.org/drawingml/2006/table">
            <a:tbl>
              <a:tblPr/>
              <a:tblGrid>
                <a:gridCol w="2041920"/>
                <a:gridCol w="2041920"/>
                <a:gridCol w="2041920"/>
                <a:gridCol w="2042640"/>
              </a:tblGrid>
              <a:tr h="239760">
                <a:tc>
                  <a:txBody>
                    <a:bodyPr anchor="t">
                      <a:noAutofit/>
                    </a:bodyPr>
                    <a:p>
                      <a:pPr>
                        <a:lnSpc>
                          <a:spcPct val="100000"/>
                        </a:lnSpc>
                        <a:buNone/>
                      </a:pPr>
                      <a:r>
                        <a:rPr b="0" lang="en-US" sz="1000" spc="-1" strike="noStrike">
                          <a:solidFill>
                            <a:srgbClr val="ffffff"/>
                          </a:solidFill>
                          <a:latin typeface="Calibri"/>
                        </a:rPr>
                        <a:t>Dataset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000000"/>
                    </a:solidFill>
                  </a:tcPr>
                </a:tc>
                <a:tc>
                  <a:txBody>
                    <a:bodyPr anchor="t">
                      <a:noAutofit/>
                    </a:bodyPr>
                    <a:p>
                      <a:pPr>
                        <a:lnSpc>
                          <a:spcPct val="100000"/>
                        </a:lnSpc>
                        <a:buNone/>
                      </a:pPr>
                      <a:r>
                        <a:rPr b="0" lang="en-US" sz="1000" spc="-1" strike="noStrike">
                          <a:solidFill>
                            <a:srgbClr val="ffffff"/>
                          </a:solidFill>
                          <a:latin typeface="Calibri"/>
                        </a:rPr>
                        <a:t>Query Selection</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000000"/>
                    </a:solidFill>
                  </a:tcPr>
                </a:tc>
                <a:tc>
                  <a:txBody>
                    <a:bodyPr anchor="t">
                      <a:noAutofit/>
                    </a:bodyPr>
                    <a:p>
                      <a:pPr>
                        <a:lnSpc>
                          <a:spcPct val="100000"/>
                        </a:lnSpc>
                        <a:buNone/>
                      </a:pPr>
                      <a:r>
                        <a:rPr b="0" lang="en-US" sz="1000" spc="-1" strike="noStrike">
                          <a:solidFill>
                            <a:srgbClr val="ffffff"/>
                          </a:solidFill>
                          <a:latin typeface="Calibri"/>
                        </a:rPr>
                        <a:t>Target Selection</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000000"/>
                    </a:solidFill>
                  </a:tcPr>
                </a:tc>
                <a:tc>
                  <a:txBody>
                    <a:bodyPr anchor="t">
                      <a:noAutofit/>
                    </a:bodyPr>
                    <a:p>
                      <a:pPr>
                        <a:lnSpc>
                          <a:spcPct val="100000"/>
                        </a:lnSpc>
                        <a:buNone/>
                      </a:pPr>
                      <a:r>
                        <a:rPr b="0" lang="en-US" sz="1000" spc="-1" strike="noStrike">
                          <a:solidFill>
                            <a:srgbClr val="ffffff"/>
                          </a:solidFill>
                          <a:latin typeface="Calibri"/>
                        </a:rPr>
                        <a:t>Pairing Strategy</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000000"/>
                    </a:solidFill>
                  </a:tcPr>
                </a:tc>
              </a:tr>
              <a:tr h="387720">
                <a:tc>
                  <a:txBody>
                    <a:bodyPr anchor="t">
                      <a:noAutofit/>
                    </a:bodyPr>
                    <a:p>
                      <a:pPr>
                        <a:lnSpc>
                          <a:spcPct val="100000"/>
                        </a:lnSpc>
                        <a:buNone/>
                      </a:pPr>
                      <a:r>
                        <a:rPr b="0" lang="en-US" sz="1000" spc="-1" strike="noStrike">
                          <a:solidFill>
                            <a:srgbClr val="000000"/>
                          </a:solidFill>
                          <a:latin typeface="Calibri"/>
                        </a:rPr>
                        <a:t>QQP</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1st question of a duplicate pair</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2nd question of the exact same pair</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1-to-1 (Explicit)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r>
              <a:tr h="387720">
                <a:tc>
                  <a:txBody>
                    <a:bodyPr anchor="t">
                      <a:noAutofit/>
                    </a:bodyPr>
                    <a:p>
                      <a:pPr>
                        <a:lnSpc>
                          <a:spcPct val="100000"/>
                        </a:lnSpc>
                        <a:buNone/>
                      </a:pPr>
                      <a:r>
                        <a:rPr b="0" lang="en-US" sz="1000" spc="-1" strike="noStrike">
                          <a:solidFill>
                            <a:srgbClr val="000000"/>
                          </a:solidFill>
                          <a:latin typeface="Calibri"/>
                        </a:rPr>
                        <a:t>20 Newsgroups</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Oracle Sans Tab"/>
                        </a:rPr>
                        <a:t>Minority topic document from the test split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Oracle Sans Tab"/>
                        </a:rPr>
                        <a:t>Computed nearest neighbor from the train split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Oracle Sans Tab"/>
                        </a:rPr>
                        <a:t>1-to-1 (Computed NN) </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r>
              <a:tr h="370800">
                <a:tc>
                  <a:txBody>
                    <a:bodyPr anchor="t">
                      <a:noAutofit/>
                    </a:bodyPr>
                    <a:p>
                      <a:pPr>
                        <a:lnSpc>
                          <a:spcPct val="100000"/>
                        </a:lnSpc>
                        <a:buNone/>
                      </a:pPr>
                      <a:r>
                        <a:rPr b="0" lang="en-US" sz="1000" spc="-1" strike="noStrike">
                          <a:solidFill>
                            <a:srgbClr val="000000"/>
                          </a:solidFill>
                          <a:latin typeface="Oracle Sans Tab"/>
                        </a:rPr>
                        <a:t>Wiki Movie Plots </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"Film Noir" plot </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Any other "Film Noir" plot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c>
                  <a:txBody>
                    <a:bodyPr anchor="t">
                      <a:noAutofit/>
                    </a:bodyPr>
                    <a:p>
                      <a:pPr>
                        <a:lnSpc>
                          <a:spcPct val="100000"/>
                        </a:lnSpc>
                        <a:buNone/>
                      </a:pPr>
                      <a:r>
                        <a:rPr b="0" lang="en-US" sz="1000" spc="-1" strike="noStrike">
                          <a:solidFill>
                            <a:srgbClr val="000000"/>
                          </a:solidFill>
                          <a:latin typeface="Oracle Sans Tab"/>
                        </a:rPr>
                        <a:t>1-to-Many (Leave-one-out)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ccc"/>
                    </a:solidFill>
                  </a:tcPr>
                </a:tc>
              </a:tr>
              <a:tr h="370800">
                <a:tc>
                  <a:txBody>
                    <a:bodyPr anchor="t">
                      <a:noAutofit/>
                    </a:bodyPr>
                    <a:p>
                      <a:pPr>
                        <a:lnSpc>
                          <a:spcPct val="100000"/>
                        </a:lnSpc>
                        <a:buNone/>
                      </a:pPr>
                      <a:r>
                        <a:rPr b="0" lang="en-US" sz="1000" spc="-1" strike="noStrike">
                          <a:solidFill>
                            <a:srgbClr val="000000"/>
                          </a:solidFill>
                          <a:latin typeface="Calibri"/>
                        </a:rPr>
                        <a:t>CIFAR-100</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Calibri"/>
                        </a:rPr>
                        <a:t>"Otter" image </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Oracle Sans Tab"/>
                        </a:rPr>
                        <a:t>Any other "otter" image</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c>
                  <a:txBody>
                    <a:bodyPr anchor="t">
                      <a:noAutofit/>
                    </a:bodyPr>
                    <a:p>
                      <a:pPr>
                        <a:lnSpc>
                          <a:spcPct val="100000"/>
                        </a:lnSpc>
                        <a:buNone/>
                      </a:pPr>
                      <a:r>
                        <a:rPr b="0" lang="en-US" sz="1000" spc="-1" strike="noStrike">
                          <a:solidFill>
                            <a:srgbClr val="000000"/>
                          </a:solidFill>
                          <a:latin typeface="Oracle Sans Tab"/>
                        </a:rPr>
                        <a:t>1-to-Many (Leave-one-out)</a:t>
                      </a:r>
                      <a:endParaRPr b="0" lang="en-US" sz="10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7e7"/>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Towards Mitigation: Metadata Enrichment</a:t>
            </a:r>
            <a:endParaRPr b="0" lang="en-US" sz="4000" spc="-1" strike="noStrike">
              <a:solidFill>
                <a:srgbClr val="000000"/>
              </a:solidFill>
              <a:latin typeface="Calibri"/>
            </a:endParaRPr>
          </a:p>
        </p:txBody>
      </p:sp>
      <p:sp>
        <p:nvSpPr>
          <p:cNvPr id="168" name="PlaceHolder 2"/>
          <p:cNvSpPr>
            <a:spLocks noGrp="1"/>
          </p:cNvSpPr>
          <p:nvPr>
            <p:ph/>
          </p:nvPr>
        </p:nvSpPr>
        <p:spPr>
          <a:xfrm>
            <a:off x="609480" y="1251720"/>
            <a:ext cx="11386800" cy="527184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Crowding is density-driven.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This failure mode is fundamental: it emerges from the fundamental interaction of population density, finite dimensionality, and nearest-neighbor retrieval.</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Reranking cannot rescue the geometric collapse </a:t>
            </a:r>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Metadata</a:t>
            </a:r>
            <a:r>
              <a:rPr b="0" lang="en-US" sz="2400" spc="-1" strike="noStrike">
                <a:solidFill>
                  <a:srgbClr val="000000"/>
                </a:solidFill>
                <a:latin typeface="Calibri"/>
                <a:ea typeface="Calibri"/>
              </a:rPr>
              <a:t> – a component of the semantic layer</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doesn't change the geometry, but </a:t>
            </a:r>
            <a:r>
              <a:rPr b="1" lang="en-US" sz="2000" spc="-1" strike="noStrike">
                <a:solidFill>
                  <a:srgbClr val="3366cc"/>
                </a:solidFill>
                <a:latin typeface="Calibri"/>
                <a:ea typeface="Calibri"/>
              </a:rPr>
              <a:t>it changes what competes in each retrieval neighborhood </a:t>
            </a:r>
            <a:r>
              <a:rPr b="0" lang="en-US" sz="2000" spc="-1" strike="noStrike">
                <a:solidFill>
                  <a:srgbClr val="3366cc"/>
                </a:solidFill>
                <a:latin typeface="Calibri"/>
                <a:ea typeface="Calibri"/>
              </a:rPr>
              <a:t>– hence an important component in a solution.</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Metadata is not a retreat from semantic retrieval;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it is a density-aware complement that restores the capacity semantic search alone cannot guarantee.</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Implementing metadata is not without challenges</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Some metadata filters are difficult to implement: “Windows versions 8.1 and above”</a:t>
            </a:r>
            <a:endParaRPr b="0" lang="en-US" sz="2000" spc="-1" strike="noStrike">
              <a:solidFill>
                <a:srgbClr val="000000"/>
              </a:solidFill>
              <a:latin typeface="Calibri"/>
            </a:endParaRPr>
          </a:p>
        </p:txBody>
      </p:sp>
      <p:sp>
        <p:nvSpPr>
          <p:cNvPr id="4" name="PlaceHolder 3"/>
          <p:cNvSpPr>
            <a:spLocks noGrp="1"/>
          </p:cNvSpPr>
          <p:nvPr>
            <p:ph type="sldNum" idx="2"/>
          </p:nvPr>
        </p:nvSpPr>
        <p:spPr/>
        <p:txBody>
          <a:bodyPr/>
          <a:p>
            <a:fld id="{9E1EAB89-B135-496B-A2E2-2009E1B7B7AE}" type="slidenum">
              <a:t>10</a:t>
            </a:fld>
          </a:p>
        </p:txBody>
      </p:sp>
    </p:spTree>
  </p:cSld>
  <mc:AlternateContent>
    <mc:Choice Requires="p14">
      <p:transition spd="slow" p14:dur="2000"/>
    </mc:Choice>
    <mc:Fallback>
      <p:transition spd="slow"/>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168">
                                            <p:txEl>
                                              <p:pRg st="4" end="4"/>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168">
                                            <p:txEl>
                                              <p:pRg st="5" end="5"/>
                                            </p:txEl>
                                          </p:spTgt>
                                        </p:tgtEl>
                                        <p:attrNameLst>
                                          <p:attrName>style.visibility</p:attrName>
                                        </p:attrNameLst>
                                      </p:cBhvr>
                                      <p:to>
                                        <p:strVal val="visible"/>
                                      </p:to>
                                    </p:set>
                                  </p:childTnLst>
                                </p:cTn>
                              </p:par>
                              <p:par>
                                <p:cTn id="69" nodeType="withEffect" fill="hold" presetClass="entr" presetID="1">
                                  <p:stCondLst>
                                    <p:cond delay="0"/>
                                  </p:stCondLst>
                                  <p:childTnLst>
                                    <p:set>
                                      <p:cBhvr>
                                        <p:cTn id="70" dur="1" fill="hold">
                                          <p:stCondLst>
                                            <p:cond delay="0"/>
                                          </p:stCondLst>
                                        </p:cTn>
                                        <p:tgtEl>
                                          <p:spTgt spid="168">
                                            <p:txEl>
                                              <p:pRg st="6" end="6"/>
                                            </p:txEl>
                                          </p:spTgt>
                                        </p:tgtEl>
                                        <p:attrNameLst>
                                          <p:attrName>style.visibility</p:attrName>
                                        </p:attrNameLst>
                                      </p:cBhvr>
                                      <p:to>
                                        <p:strVal val="visible"/>
                                      </p:to>
                                    </p:set>
                                  </p:childTnLst>
                                </p:cTn>
                              </p:par>
                              <p:par>
                                <p:cTn id="71" nodeType="withEffect" fill="hold" presetClass="entr" presetID="1">
                                  <p:stCondLst>
                                    <p:cond delay="0"/>
                                  </p:stCondLst>
                                  <p:childTnLst>
                                    <p:set>
                                      <p:cBhvr>
                                        <p:cTn id="72" dur="1" fill="hold">
                                          <p:stCondLst>
                                            <p:cond delay="0"/>
                                          </p:stCondLst>
                                        </p:cTn>
                                        <p:tgtEl>
                                          <p:spTgt spid="168">
                                            <p:txEl>
                                              <p:pRg st="7" end="7"/>
                                            </p:txEl>
                                          </p:spTgt>
                                        </p:tgtEl>
                                        <p:attrNameLst>
                                          <p:attrName>style.visibility</p:attrName>
                                        </p:attrNameLst>
                                      </p:cBhvr>
                                      <p:to>
                                        <p:strVal val="visible"/>
                                      </p:to>
                                    </p:set>
                                  </p:childTnLst>
                                </p:cTn>
                              </p:par>
                              <p:par>
                                <p:cTn id="73" nodeType="withEffect" fill="hold" presetClass="entr" presetID="1">
                                  <p:stCondLst>
                                    <p:cond delay="0"/>
                                  </p:stCondLst>
                                  <p:childTnLst>
                                    <p:set>
                                      <p:cBhvr>
                                        <p:cTn id="74" dur="1" fill="hold">
                                          <p:stCondLst>
                                            <p:cond delay="0"/>
                                          </p:stCondLst>
                                        </p:cTn>
                                        <p:tgtEl>
                                          <p:spTgt spid="168">
                                            <p:txEl>
                                              <p:pRg st="8" end="8"/>
                                            </p:txEl>
                                          </p:spTgt>
                                        </p:tgtEl>
                                        <p:attrNameLst>
                                          <p:attrName>style.visibility</p:attrName>
                                        </p:attrNameLst>
                                      </p:cBhvr>
                                      <p:to>
                                        <p:strVal val="visible"/>
                                      </p:to>
                                    </p:set>
                                  </p:childTnLst>
                                </p:cTn>
                              </p:par>
                              <p:par>
                                <p:cTn id="75" nodeType="withEffect" fill="hold" presetClass="entr" presetID="1">
                                  <p:stCondLst>
                                    <p:cond delay="0"/>
                                  </p:stCondLst>
                                  <p:childTnLst>
                                    <p:set>
                                      <p:cBhvr>
                                        <p:cTn id="76" dur="1" fill="hold">
                                          <p:stCondLst>
                                            <p:cond delay="0"/>
                                          </p:stCondLst>
                                        </p:cTn>
                                        <p:tgtEl>
                                          <p:spTgt spid="168">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14280" y="207000"/>
            <a:ext cx="1037196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(2) Structural Challenges: Table Retrieval</a:t>
            </a:r>
            <a:endParaRPr b="0" lang="en-US" sz="3600" spc="-1" strike="noStrike">
              <a:solidFill>
                <a:srgbClr val="000000"/>
              </a:solidFill>
              <a:latin typeface="Calibri"/>
            </a:endParaRPr>
          </a:p>
        </p:txBody>
      </p:sp>
      <p:sp>
        <p:nvSpPr>
          <p:cNvPr id="170" name="PlaceHolder 2"/>
          <p:cNvSpPr>
            <a:spLocks noGrp="1"/>
          </p:cNvSpPr>
          <p:nvPr>
            <p:ph/>
          </p:nvPr>
        </p:nvSpPr>
        <p:spPr>
          <a:xfrm>
            <a:off x="609480" y="1186560"/>
            <a:ext cx="4966560" cy="44845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Text 2 </a:t>
            </a:r>
            <a:r>
              <a:rPr b="0" lang="en-US" sz="2400" spc="-1" strike="noStrike">
                <a:solidFill>
                  <a:srgbClr val="0000ff"/>
                </a:solidFill>
                <a:latin typeface="Calibri"/>
                <a:ea typeface="Calibri"/>
              </a:rPr>
              <a:t>[SQL]</a:t>
            </a:r>
            <a:endParaRPr b="0" lang="en-US" sz="24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a:p>
            <a:pPr marL="457200">
              <a:lnSpc>
                <a:spcPct val="100000"/>
              </a:lnSpc>
              <a:spcBef>
                <a:spcPts val="400"/>
              </a:spcBef>
              <a:buNone/>
              <a:tabLst>
                <a:tab algn="l" pos="0"/>
              </a:tabLst>
            </a:pPr>
            <a:endParaRPr b="0" lang="en-US" sz="2000" spc="-1" strike="noStrike">
              <a:solidFill>
                <a:srgbClr val="000000"/>
              </a:solidFill>
              <a:latin typeface="Calibri"/>
            </a:endParaRPr>
          </a:p>
        </p:txBody>
      </p:sp>
      <p:sp>
        <p:nvSpPr>
          <p:cNvPr id="171" name="Content Placeholder 2"/>
          <p:cNvSpPr/>
          <p:nvPr/>
        </p:nvSpPr>
        <p:spPr>
          <a:xfrm>
            <a:off x="6002640" y="1186560"/>
            <a:ext cx="5406120" cy="4484520"/>
          </a:xfrm>
          <a:prstGeom prst="rect">
            <a:avLst/>
          </a:prstGeom>
          <a:noFill/>
          <a:ln w="0">
            <a:noFill/>
          </a:ln>
        </p:spPr>
        <p:style>
          <a:lnRef idx="0"/>
          <a:fillRef idx="0"/>
          <a:effectRef idx="0"/>
          <a:fontRef idx="minor"/>
        </p:style>
      </p:sp>
      <p:pic>
        <p:nvPicPr>
          <p:cNvPr id="172" name="Picture 13" descr=""/>
          <p:cNvPicPr/>
          <p:nvPr/>
        </p:nvPicPr>
        <p:blipFill>
          <a:blip r:embed="rId1"/>
          <a:stretch/>
        </p:blipFill>
        <p:spPr>
          <a:xfrm>
            <a:off x="4713480" y="3391200"/>
            <a:ext cx="7372080" cy="3034800"/>
          </a:xfrm>
          <a:prstGeom prst="rect">
            <a:avLst/>
          </a:prstGeom>
          <a:ln w="0">
            <a:noFill/>
          </a:ln>
        </p:spPr>
      </p:pic>
      <p:sp>
        <p:nvSpPr>
          <p:cNvPr id="173" name="TextBox 15"/>
          <p:cNvSpPr/>
          <p:nvPr/>
        </p:nvSpPr>
        <p:spPr>
          <a:xfrm>
            <a:off x="101880" y="3103920"/>
            <a:ext cx="4538160" cy="1004400"/>
          </a:xfrm>
          <a:prstGeom prst="rect">
            <a:avLst/>
          </a:prstGeom>
          <a:solidFill>
            <a:schemeClr val="bg1">
              <a:lumMod val="95000"/>
            </a:schemeClr>
          </a:solidFill>
          <a:ln w="0">
            <a:solidFill>
              <a:srgbClr val="5b9bd5"/>
            </a:solidFill>
          </a:ln>
        </p:spPr>
        <p:style>
          <a:lnRef idx="0"/>
          <a:fillRef idx="0"/>
          <a:effectRef idx="0"/>
          <a:fontRef idx="minor"/>
        </p:style>
        <p:txBody>
          <a:bodyPr lIns="90000" rIns="90000" tIns="45000" bIns="45000" anchor="t">
            <a:spAutoFit/>
          </a:bodyPr>
          <a:p>
            <a:pPr>
              <a:lnSpc>
                <a:spcPct val="100000"/>
              </a:lnSpc>
              <a:buNone/>
            </a:pPr>
            <a:r>
              <a:rPr b="0" lang="en-US" sz="2000" spc="-1" strike="noStrike">
                <a:solidFill>
                  <a:srgbClr val="000000"/>
                </a:solidFill>
                <a:latin typeface="Calibri"/>
              </a:rPr>
              <a:t>Who are the female account holders who own credit cards and also have loans?</a:t>
            </a:r>
            <a:endParaRPr b="0" lang="en-US" sz="2000" spc="-1" strike="noStrike">
              <a:latin typeface="Arial"/>
            </a:endParaRPr>
          </a:p>
        </p:txBody>
      </p:sp>
      <p:sp>
        <p:nvSpPr>
          <p:cNvPr id="174" name="Speech Bubble: Rectangle 5"/>
          <p:cNvSpPr/>
          <p:nvPr/>
        </p:nvSpPr>
        <p:spPr>
          <a:xfrm>
            <a:off x="7563960" y="950040"/>
            <a:ext cx="3426120" cy="614160"/>
          </a:xfrm>
          <a:prstGeom prst="wedgeRectCallout">
            <a:avLst>
              <a:gd name="adj1" fmla="val -48620"/>
              <a:gd name="adj2" fmla="val 358336"/>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a:t>
            </a:r>
            <a:r>
              <a:rPr b="0" lang="en-US" sz="1800" spc="-1" strike="noStrike">
                <a:solidFill>
                  <a:srgbClr val="000000"/>
                </a:solidFill>
                <a:latin typeface="Calibri"/>
                <a:ea typeface="Calibri"/>
              </a:rPr>
              <a:t>Doable” if the query corresponds to how the information is stored</a:t>
            </a:r>
            <a:endParaRPr b="0" lang="en-US" sz="1800" spc="-1" strike="noStrike">
              <a:latin typeface="Arial"/>
            </a:endParaRPr>
          </a:p>
        </p:txBody>
      </p:sp>
      <p:sp>
        <p:nvSpPr>
          <p:cNvPr id="175" name="Speech Bubble: Rectangle 6"/>
          <p:cNvSpPr/>
          <p:nvPr/>
        </p:nvSpPr>
        <p:spPr>
          <a:xfrm>
            <a:off x="8348760" y="1765800"/>
            <a:ext cx="3738240" cy="1527120"/>
          </a:xfrm>
          <a:prstGeom prst="wedgeRectCallout">
            <a:avLst>
              <a:gd name="adj1" fmla="val 8870"/>
              <a:gd name="adj2" fmla="val 65311"/>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Generally, the query may not align with </a:t>
            </a:r>
            <a:r>
              <a:rPr b="0" lang="en-US" sz="1800" spc="-1" strike="noStrike">
                <a:solidFill>
                  <a:srgbClr val="3366cc"/>
                </a:solidFill>
                <a:latin typeface="Calibri"/>
                <a:ea typeface="Calibri"/>
              </a:rPr>
              <a:t>how the information is organized across different tables</a:t>
            </a:r>
            <a:r>
              <a:rPr b="0" lang="en-US" sz="1800" spc="-1" strike="noStrike">
                <a:solidFill>
                  <a:srgbClr val="000000"/>
                </a:solidFill>
                <a:latin typeface="Calibri"/>
                <a:ea typeface="Calibri"/>
              </a:rPr>
              <a:t>; need to identify the join relationships while conducting table retrieval</a:t>
            </a:r>
            <a:endParaRPr b="0" lang="en-US" sz="1800" spc="-1" strike="noStrike">
              <a:latin typeface="Arial"/>
            </a:endParaRPr>
          </a:p>
        </p:txBody>
      </p:sp>
      <p:sp>
        <p:nvSpPr>
          <p:cNvPr id="176" name="Speech Bubble: Rectangle 4"/>
          <p:cNvSpPr/>
          <p:nvPr/>
        </p:nvSpPr>
        <p:spPr>
          <a:xfrm>
            <a:off x="3837600" y="950040"/>
            <a:ext cx="3426120" cy="614160"/>
          </a:xfrm>
          <a:prstGeom prst="wedgeRectCallout">
            <a:avLst>
              <a:gd name="adj1" fmla="val 2012"/>
              <a:gd name="adj2" fmla="val 363116"/>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Easy if there is a single table that is sufficient to answer the question </a:t>
            </a:r>
            <a:endParaRPr b="0" lang="en-US" sz="1800" spc="-1" strike="noStrike">
              <a:latin typeface="Arial"/>
            </a:endParaRPr>
          </a:p>
        </p:txBody>
      </p:sp>
      <p:sp>
        <p:nvSpPr>
          <p:cNvPr id="177" name="Speech Bubble: Rectangle 7"/>
          <p:cNvSpPr/>
          <p:nvPr/>
        </p:nvSpPr>
        <p:spPr>
          <a:xfrm>
            <a:off x="4763520" y="1921680"/>
            <a:ext cx="2205000" cy="825120"/>
          </a:xfrm>
          <a:prstGeom prst="wedgeRectCallout">
            <a:avLst>
              <a:gd name="adj1" fmla="val 113451"/>
              <a:gd name="adj2" fmla="val 48386"/>
            </a:avLst>
          </a:prstGeom>
          <a:solidFill>
            <a:schemeClr val="bg1">
              <a:lumMod val="8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Understand the data organization process</a:t>
            </a:r>
            <a:endParaRPr b="0" lang="en-US" sz="1800" spc="-1" strike="noStrike">
              <a:latin typeface="Arial"/>
            </a:endParaRPr>
          </a:p>
        </p:txBody>
      </p:sp>
      <p:sp>
        <p:nvSpPr>
          <p:cNvPr id="178" name="TextBox 9"/>
          <p:cNvSpPr/>
          <p:nvPr/>
        </p:nvSpPr>
        <p:spPr>
          <a:xfrm>
            <a:off x="143280" y="5262840"/>
            <a:ext cx="4280760" cy="819720"/>
          </a:xfrm>
          <a:prstGeom prst="rect">
            <a:avLst/>
          </a:prstGeom>
          <a:solidFill>
            <a:schemeClr val="bg1">
              <a:lumMod val="95000"/>
            </a:schemeClr>
          </a:solidFill>
          <a:ln w="0">
            <a:solidFill>
              <a:srgbClr val="5b9bd5"/>
            </a:solid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Chen, Zhang, &amp; Roth, </a:t>
            </a:r>
            <a:r>
              <a:rPr b="0" lang="en-US" sz="1600" spc="-1" strike="noStrike" u="sng">
                <a:solidFill>
                  <a:srgbClr val="0563c1"/>
                </a:solidFill>
                <a:uFillTx/>
                <a:latin typeface="Calibri"/>
                <a:hlinkClick r:id="rId2"/>
              </a:rPr>
              <a:t>Join-Aware Multi-Table Retrieval</a:t>
            </a:r>
            <a:r>
              <a:rPr b="0" lang="en-US" sz="1600" spc="-1" strike="noStrike">
                <a:solidFill>
                  <a:srgbClr val="000000"/>
                </a:solidFill>
                <a:latin typeface="Calibri"/>
              </a:rPr>
              <a:t> (ACL’24): </a:t>
            </a:r>
            <a:endParaRPr b="0" lang="en-US" sz="1600" spc="-1" strike="noStrike">
              <a:latin typeface="Arial"/>
            </a:endParaRPr>
          </a:p>
        </p:txBody>
      </p:sp>
      <p:sp>
        <p:nvSpPr>
          <p:cNvPr id="179" name="TextBox 10"/>
          <p:cNvSpPr/>
          <p:nvPr/>
        </p:nvSpPr>
        <p:spPr>
          <a:xfrm>
            <a:off x="121680" y="5932800"/>
            <a:ext cx="4302720" cy="106308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Chen et al. (ACL, 2025): </a:t>
            </a:r>
            <a:r>
              <a:rPr b="0" lang="en-US" sz="1600" spc="-1" strike="noStrike">
                <a:solidFill>
                  <a:srgbClr val="3366cc"/>
                </a:solidFill>
                <a:latin typeface="Calibri"/>
              </a:rPr>
              <a:t>Can we Retrieve Everything All at Once? ARM: An Alignment-Oriented LLM-based Retrieval Method</a:t>
            </a:r>
            <a:endParaRPr b="0" lang="en-US" sz="1600" spc="-1" strike="noStrike">
              <a:latin typeface="Arial"/>
            </a:endParaRPr>
          </a:p>
        </p:txBody>
      </p:sp>
      <p:pic>
        <p:nvPicPr>
          <p:cNvPr id="180" name="Picture 12" descr=""/>
          <p:cNvPicPr/>
          <p:nvPr/>
        </p:nvPicPr>
        <p:blipFill>
          <a:blip r:embed="rId3"/>
          <a:stretch/>
        </p:blipFill>
        <p:spPr>
          <a:xfrm>
            <a:off x="1197720" y="1785960"/>
            <a:ext cx="2150280" cy="1089360"/>
          </a:xfrm>
          <a:prstGeom prst="rect">
            <a:avLst/>
          </a:prstGeom>
          <a:ln w="28575">
            <a:solidFill>
              <a:srgbClr val="478fe1"/>
            </a:solidFill>
            <a:round/>
          </a:ln>
        </p:spPr>
      </p:pic>
      <p:pic>
        <p:nvPicPr>
          <p:cNvPr id="181" name="Picture 16" descr=""/>
          <p:cNvPicPr/>
          <p:nvPr/>
        </p:nvPicPr>
        <p:blipFill>
          <a:blip r:embed="rId4"/>
          <a:stretch/>
        </p:blipFill>
        <p:spPr>
          <a:xfrm>
            <a:off x="101880" y="1883880"/>
            <a:ext cx="4538160" cy="893160"/>
          </a:xfrm>
          <a:prstGeom prst="rect">
            <a:avLst/>
          </a:prstGeom>
          <a:ln w="28575">
            <a:solidFill>
              <a:srgbClr val="478fe1"/>
            </a:solidFill>
            <a:round/>
          </a:ln>
        </p:spPr>
      </p:pic>
      <p:sp>
        <p:nvSpPr>
          <p:cNvPr id="4" name="PlaceHolder 3"/>
          <p:cNvSpPr>
            <a:spLocks noGrp="1"/>
          </p:cNvSpPr>
          <p:nvPr>
            <p:ph type="sldNum" idx="2"/>
          </p:nvPr>
        </p:nvSpPr>
        <p:spPr/>
        <p:txBody>
          <a:bodyPr/>
          <a:p>
            <a:fld id="{56856238-070C-479C-AE9F-C9DA480E467D}" type="slidenum">
              <a:t>11</a:t>
            </a:fld>
          </a:p>
        </p:txBody>
      </p:sp>
    </p:spTree>
  </p:cSld>
  <mc:AlternateContent>
    <mc:Choice Requires="p14">
      <p:transition spd="slow" p14:dur="2000"/>
    </mc:Choice>
    <mc:Fallback>
      <p:transition spd="slow"/>
    </mc:Fallback>
  </mc:AlternateContent>
  <p:timing>
    <p:tnLst>
      <p:par>
        <p:cTn id="77" dur="indefinite" restart="never" nodeType="tmRoot">
          <p:childTnLst>
            <p:seq>
              <p:cTn id="78" dur="indefinite" nodeType="mainSeq">
                <p:childTnLst>
                  <p:par>
                    <p:cTn id="79" fill="hold">
                      <p:stCondLst>
                        <p:cond delay="indefinite"/>
                      </p:stCondLst>
                      <p:childTnLst>
                        <p:par>
                          <p:cTn id="80" fill="hold">
                            <p:stCondLst>
                              <p:cond delay="0"/>
                            </p:stCondLst>
                            <p:childTnLst>
                              <p:par>
                                <p:cTn id="81" nodeType="clickEffect" fill="hold" presetClass="entr" presetID="1">
                                  <p:stCondLst>
                                    <p:cond delay="0"/>
                                  </p:stCondLst>
                                  <p:endCondLst>
                                    <p:cond delay="0" evt="begin">
                                      <p:tn val="81"/>
                                    </p:cond>
                                  </p:endCondLst>
                                  <p:childTnLst>
                                    <p:set>
                                      <p:cBhvr>
                                        <p:cTn id="82" dur="1" fill="hold">
                                          <p:stCondLst>
                                            <p:cond delay="0"/>
                                          </p:stCondLst>
                                        </p:cTn>
                                        <p:tgtEl>
                                          <p:spTgt spid="17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172"/>
                                        </p:tgtEl>
                                        <p:attrNameLst>
                                          <p:attrName>style.visibility</p:attrName>
                                        </p:attrNameLst>
                                      </p:cBhvr>
                                      <p:to>
                                        <p:strVal val="visible"/>
                                      </p:to>
                                    </p:set>
                                  </p:childTnLst>
                                </p:cTn>
                              </p:par>
                              <p:par>
                                <p:cTn id="87" nodeType="withEffect" fill="hold" presetClass="entr" presetID="1">
                                  <p:stCondLst>
                                    <p:cond delay="0"/>
                                  </p:stCondLst>
                                  <p:childTnLst>
                                    <p:set>
                                      <p:cBhvr>
                                        <p:cTn id="88" dur="1" fill="hold">
                                          <p:stCondLst>
                                            <p:cond delay="0"/>
                                          </p:stCondLst>
                                        </p:cTn>
                                        <p:tgtEl>
                                          <p:spTgt spid="17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176"/>
                                        </p:tgtEl>
                                        <p:attrNameLst>
                                          <p:attrName>style.visibility</p:attrName>
                                        </p:attrNameLst>
                                      </p:cBhvr>
                                      <p:to>
                                        <p:strVal val="visible"/>
                                      </p:to>
                                    </p:set>
                                  </p:childTnLst>
                                </p:cTn>
                              </p:par>
                            </p:childTnLst>
                          </p:cTn>
                        </p:par>
                        <p:par>
                          <p:cTn id="93" fill="hold">
                            <p:stCondLst>
                              <p:cond delay="0"/>
                            </p:stCondLst>
                            <p:childTnLst>
                              <p:par>
                                <p:cTn id="94" nodeType="afterEffect" fill="hold" presetClass="entr" presetID="1">
                                  <p:stCondLst>
                                    <p:cond delay="500"/>
                                  </p:stCondLst>
                                  <p:childTnLst>
                                    <p:set>
                                      <p:cBhvr>
                                        <p:cTn id="95" dur="1" fill="hold">
                                          <p:stCondLst>
                                            <p:cond delay="0"/>
                                          </p:stCondLst>
                                        </p:cTn>
                                        <p:tgtEl>
                                          <p:spTgt spid="180"/>
                                        </p:tgtEl>
                                        <p:attrNameLst>
                                          <p:attrName>style.visibility</p:attrName>
                                        </p:attrNameLst>
                                      </p:cBhvr>
                                      <p:to>
                                        <p:strVal val="visible"/>
                                      </p:to>
                                    </p:set>
                                    <p:set>
                                      <p:cBhvr>
                                        <p:cTn id="96" dur="1" fill="hold"/>
                                        <p:tgtEl>
                                          <p:spTgt spid="180"/>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174"/>
                                        </p:tgtEl>
                                        <p:attrNameLst>
                                          <p:attrName>style.visibility</p:attrName>
                                        </p:attrNameLst>
                                      </p:cBhvr>
                                      <p:to>
                                        <p:strVal val="visible"/>
                                      </p:to>
                                    </p:set>
                                  </p:childTnLst>
                                </p:cTn>
                              </p:par>
                            </p:childTnLst>
                          </p:cTn>
                        </p:par>
                        <p:par>
                          <p:cTn id="101" fill="hold">
                            <p:stCondLst>
                              <p:cond delay="0"/>
                            </p:stCondLst>
                            <p:childTnLst>
                              <p:par>
                                <p:cTn id="102" nodeType="afterEffect" fill="hold" presetClass="entr" presetID="1">
                                  <p:stCondLst>
                                    <p:cond delay="500"/>
                                  </p:stCondLst>
                                  <p:childTnLst>
                                    <p:set>
                                      <p:cBhvr>
                                        <p:cTn id="103" dur="1" fill="hold">
                                          <p:stCondLst>
                                            <p:cond delay="0"/>
                                          </p:stCondLst>
                                        </p:cTn>
                                        <p:tgtEl>
                                          <p:spTgt spid="181"/>
                                        </p:tgtEl>
                                        <p:attrNameLst>
                                          <p:attrName>style.visibility</p:attrName>
                                        </p:attrNameLst>
                                      </p:cBhvr>
                                      <p:to>
                                        <p:strVal val="visible"/>
                                      </p:to>
                                    </p:set>
                                    <p:set>
                                      <p:cBhvr>
                                        <p:cTn id="104" dur="1" fill="hold"/>
                                        <p:tgtEl>
                                          <p:spTgt spid="18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17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17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178"/>
                                        </p:tgtEl>
                                        <p:attrNameLst>
                                          <p:attrName>style.visibility</p:attrName>
                                        </p:attrNameLst>
                                      </p:cBhvr>
                                      <p:to>
                                        <p:strVal val="visible"/>
                                      </p:to>
                                    </p:set>
                                  </p:childTnLst>
                                </p:cTn>
                              </p:par>
                              <p:par>
                                <p:cTn id="117" nodeType="withEffect" fill="hold" presetClass="entr" presetID="1">
                                  <p:stCondLst>
                                    <p:cond delay="0"/>
                                  </p:stCondLst>
                                  <p:childTnLst>
                                    <p:set>
                                      <p:cBhvr>
                                        <p:cTn id="118"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Picture 2" descr=""/>
          <p:cNvPicPr/>
          <p:nvPr/>
        </p:nvPicPr>
        <p:blipFill>
          <a:blip r:embed="rId1"/>
          <a:stretch/>
        </p:blipFill>
        <p:spPr>
          <a:xfrm>
            <a:off x="129960" y="1523880"/>
            <a:ext cx="5965920" cy="2253600"/>
          </a:xfrm>
          <a:prstGeom prst="rect">
            <a:avLst/>
          </a:prstGeom>
          <a:ln w="0">
            <a:noFill/>
          </a:ln>
        </p:spPr>
      </p:pic>
      <p:sp>
        <p:nvSpPr>
          <p:cNvPr id="183" name="TextBox 3"/>
          <p:cNvSpPr/>
          <p:nvPr/>
        </p:nvSpPr>
        <p:spPr>
          <a:xfrm>
            <a:off x="395280" y="965880"/>
            <a:ext cx="11401560" cy="63828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000000"/>
                </a:solidFill>
                <a:latin typeface="Calibri"/>
              </a:rPr>
              <a:t>What is the </a:t>
            </a:r>
            <a:r>
              <a:rPr b="0" lang="en-US" sz="1800" spc="-1" strike="noStrike">
                <a:solidFill>
                  <a:srgbClr val="ed7d31"/>
                </a:solidFill>
                <a:latin typeface="Calibri"/>
              </a:rPr>
              <a:t>highest eligible free rate for K-12 students </a:t>
            </a:r>
            <a:r>
              <a:rPr b="0" lang="en-US" sz="1800" spc="-1" strike="noStrike">
                <a:solidFill>
                  <a:srgbClr val="000000"/>
                </a:solidFill>
                <a:latin typeface="Calibri"/>
              </a:rPr>
              <a:t>in the schools in the </a:t>
            </a:r>
            <a:r>
              <a:rPr b="0" lang="en-US" sz="1800" spc="-1" strike="noStrike">
                <a:solidFill>
                  <a:srgbClr val="4472c4"/>
                </a:solidFill>
                <a:latin typeface="Calibri"/>
              </a:rPr>
              <a:t>most populous county in California</a:t>
            </a:r>
            <a:r>
              <a:rPr b="0" lang="en-US" sz="1800" spc="-1" strike="noStrike">
                <a:solidFill>
                  <a:srgbClr val="000000"/>
                </a:solidFill>
                <a:latin typeface="Calibri"/>
              </a:rPr>
              <a:t>?</a:t>
            </a:r>
            <a:endParaRPr b="0" lang="en-US" sz="1800" spc="-1" strike="noStrike">
              <a:latin typeface="Arial"/>
            </a:endParaRPr>
          </a:p>
        </p:txBody>
      </p:sp>
      <p:pic>
        <p:nvPicPr>
          <p:cNvPr id="184" name="Picture 4" descr=""/>
          <p:cNvPicPr/>
          <p:nvPr/>
        </p:nvPicPr>
        <p:blipFill>
          <a:blip r:embed="rId2"/>
          <a:stretch/>
        </p:blipFill>
        <p:spPr>
          <a:xfrm>
            <a:off x="6205680" y="1645920"/>
            <a:ext cx="5828040" cy="2009880"/>
          </a:xfrm>
          <a:prstGeom prst="rect">
            <a:avLst/>
          </a:prstGeom>
          <a:ln w="0">
            <a:noFill/>
          </a:ln>
        </p:spPr>
      </p:pic>
      <p:sp>
        <p:nvSpPr>
          <p:cNvPr id="185" name="Rounded Rectangle 6"/>
          <p:cNvSpPr/>
          <p:nvPr/>
        </p:nvSpPr>
        <p:spPr>
          <a:xfrm>
            <a:off x="5147640" y="1873800"/>
            <a:ext cx="699480" cy="620640"/>
          </a:xfrm>
          <a:prstGeom prst="roundRect">
            <a:avLst>
              <a:gd name="adj" fmla="val 16667"/>
            </a:avLst>
          </a:prstGeom>
          <a:noFill/>
          <a:ln w="38100">
            <a:solidFill>
              <a:srgbClr val="ed7d31"/>
            </a:solidFill>
            <a:round/>
          </a:ln>
        </p:spPr>
        <p:style>
          <a:lnRef idx="2">
            <a:schemeClr val="accent1">
              <a:shade val="15000"/>
            </a:schemeClr>
          </a:lnRef>
          <a:fillRef idx="1">
            <a:schemeClr val="accent1"/>
          </a:fillRef>
          <a:effectRef idx="0">
            <a:schemeClr val="accent1"/>
          </a:effectRef>
          <a:fontRef idx="minor"/>
        </p:style>
      </p:sp>
      <p:sp>
        <p:nvSpPr>
          <p:cNvPr id="186" name="Rounded Rectangle 7"/>
          <p:cNvSpPr/>
          <p:nvPr/>
        </p:nvSpPr>
        <p:spPr>
          <a:xfrm>
            <a:off x="6423480" y="1783800"/>
            <a:ext cx="5294160" cy="400320"/>
          </a:xfrm>
          <a:prstGeom prst="roundRect">
            <a:avLst>
              <a:gd name="adj" fmla="val 16667"/>
            </a:avLst>
          </a:prstGeom>
          <a:noFill/>
          <a:ln w="38100">
            <a:solidFill>
              <a:srgbClr val="4472c4"/>
            </a:solidFill>
            <a:round/>
          </a:ln>
        </p:spPr>
        <p:style>
          <a:lnRef idx="2">
            <a:schemeClr val="accent1">
              <a:shade val="15000"/>
            </a:schemeClr>
          </a:lnRef>
          <a:fillRef idx="1">
            <a:schemeClr val="accent1"/>
          </a:fillRef>
          <a:effectRef idx="0">
            <a:schemeClr val="accent1"/>
          </a:effectRef>
          <a:fontRef idx="minor"/>
        </p:style>
      </p:sp>
      <p:sp>
        <p:nvSpPr>
          <p:cNvPr id="187" name="TextBox 1"/>
          <p:cNvSpPr/>
          <p:nvPr/>
        </p:nvSpPr>
        <p:spPr>
          <a:xfrm>
            <a:off x="2506680" y="3974400"/>
            <a:ext cx="7178040" cy="91260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000000"/>
                </a:solidFill>
                <a:latin typeface="Calibri"/>
              </a:rPr>
              <a:t>The table and document do not share overlapping information</a:t>
            </a:r>
            <a:endParaRPr b="0" lang="en-US" sz="1800" spc="-1" strike="noStrike">
              <a:latin typeface="Arial"/>
            </a:endParaRPr>
          </a:p>
          <a:p>
            <a:pPr algn="ctr">
              <a:lnSpc>
                <a:spcPct val="100000"/>
              </a:lnSpc>
              <a:buNone/>
            </a:pPr>
            <a:r>
              <a:rPr b="0" lang="en-US" sz="1800" spc="-1" strike="noStrike">
                <a:solidFill>
                  <a:srgbClr val="000000"/>
                </a:solidFill>
                <a:latin typeface="Wingdings"/>
              </a:rPr>
              <a:t></a:t>
            </a:r>
            <a:r>
              <a:rPr b="0" lang="en-US" sz="1800" spc="-1" strike="noStrike">
                <a:solidFill>
                  <a:srgbClr val="000000"/>
                </a:solidFill>
                <a:latin typeface="Calibri"/>
              </a:rPr>
              <a:t> </a:t>
            </a:r>
            <a:r>
              <a:rPr b="0" lang="en-US" sz="1800" spc="-1" strike="noStrike">
                <a:solidFill>
                  <a:srgbClr val="000000"/>
                </a:solidFill>
                <a:latin typeface="Calibri"/>
              </a:rPr>
              <a:t>cannot be connected to answer the user question!</a:t>
            </a:r>
            <a:endParaRPr b="0" lang="en-US" sz="1800" spc="-1" strike="noStrike">
              <a:latin typeface="Arial"/>
            </a:endParaRPr>
          </a:p>
        </p:txBody>
      </p:sp>
      <p:sp>
        <p:nvSpPr>
          <p:cNvPr id="188"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Information &amp; Structural Alignment </a:t>
            </a:r>
            <a:endParaRPr b="0" lang="en-US" sz="3600" spc="-1" strike="noStrike">
              <a:solidFill>
                <a:srgbClr val="000000"/>
              </a:solidFill>
              <a:latin typeface="Calibri"/>
            </a:endParaRPr>
          </a:p>
        </p:txBody>
      </p:sp>
      <p:sp>
        <p:nvSpPr>
          <p:cNvPr id="189" name="Rectangle: Rounded Corners 9"/>
          <p:cNvSpPr/>
          <p:nvPr/>
        </p:nvSpPr>
        <p:spPr>
          <a:xfrm>
            <a:off x="378720" y="1943280"/>
            <a:ext cx="777960" cy="551520"/>
          </a:xfrm>
          <a:prstGeom prst="roundRect">
            <a:avLst>
              <a:gd name="adj" fmla="val 16667"/>
            </a:avLst>
          </a:prstGeom>
          <a:noFill/>
          <a:ln w="19050">
            <a:solidFill>
              <a:srgbClr val="ff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3" name="PlaceHolder 2"/>
          <p:cNvSpPr>
            <a:spLocks noGrp="1"/>
          </p:cNvSpPr>
          <p:nvPr>
            <p:ph type="sldNum" idx="2"/>
          </p:nvPr>
        </p:nvSpPr>
        <p:spPr/>
        <p:txBody>
          <a:bodyPr/>
          <a:p>
            <a:fld id="{0767491C-43C1-4EB8-B264-628B9B4EC811}" type="slidenum">
              <a:t>12</a:t>
            </a:fld>
          </a:p>
        </p:txBody>
      </p:sp>
    </p:spTree>
  </p:cSld>
  <mc:AlternateContent>
    <mc:Choice Requires="p14">
      <p:transition spd="slow" p14:dur="2000"/>
    </mc:Choice>
    <mc:Fallback>
      <p:transition spd="slow"/>
    </mc:Fallback>
  </mc:AlternateContent>
  <p:timing>
    <p:tnLst>
      <p:par>
        <p:cTn id="119" dur="indefinite" restart="never" nodeType="tmRoot">
          <p:childTnLst>
            <p:seq>
              <p:cTn id="120" dur="indefinite" nodeType="mainSeq">
                <p:childTnLst>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189"/>
                                        </p:tgtEl>
                                        <p:attrNameLst>
                                          <p:attrName>style.visibility</p:attrName>
                                        </p:attrNameLst>
                                      </p:cBhvr>
                                      <p:to>
                                        <p:strVal val="visible"/>
                                      </p:to>
                                    </p:set>
                                  </p:childTnLst>
                                </p:cTn>
                              </p:par>
                            </p:childTnLst>
                          </p:cTn>
                        </p:par>
                        <p:par>
                          <p:cTn id="125" fill="hold">
                            <p:stCondLst>
                              <p:cond delay="0"/>
                            </p:stCondLst>
                            <p:childTnLst>
                              <p:par>
                                <p:cTn id="126" nodeType="afterEffect" fill="hold" presetClass="entr" presetID="1">
                                  <p:stCondLst>
                                    <p:cond delay="500"/>
                                  </p:stCondLst>
                                  <p:childTnLst>
                                    <p:set>
                                      <p:cBhvr>
                                        <p:cTn id="127"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0" name="Picture 2" descr=""/>
          <p:cNvPicPr/>
          <p:nvPr/>
        </p:nvPicPr>
        <p:blipFill>
          <a:blip r:embed="rId1"/>
          <a:stretch/>
        </p:blipFill>
        <p:spPr>
          <a:xfrm>
            <a:off x="129960" y="1523880"/>
            <a:ext cx="5965920" cy="2253600"/>
          </a:xfrm>
          <a:prstGeom prst="rect">
            <a:avLst/>
          </a:prstGeom>
          <a:ln w="0">
            <a:noFill/>
          </a:ln>
        </p:spPr>
      </p:pic>
      <p:pic>
        <p:nvPicPr>
          <p:cNvPr id="191" name="Picture 4" descr=""/>
          <p:cNvPicPr/>
          <p:nvPr/>
        </p:nvPicPr>
        <p:blipFill>
          <a:blip r:embed="rId2"/>
          <a:stretch/>
        </p:blipFill>
        <p:spPr>
          <a:xfrm>
            <a:off x="6205680" y="1645920"/>
            <a:ext cx="5828040" cy="2009880"/>
          </a:xfrm>
          <a:prstGeom prst="rect">
            <a:avLst/>
          </a:prstGeom>
          <a:ln w="0">
            <a:noFill/>
          </a:ln>
        </p:spPr>
      </p:pic>
      <p:sp>
        <p:nvSpPr>
          <p:cNvPr id="192" name="Rounded Rectangle 6"/>
          <p:cNvSpPr/>
          <p:nvPr/>
        </p:nvSpPr>
        <p:spPr>
          <a:xfrm>
            <a:off x="5147640" y="1873800"/>
            <a:ext cx="699480" cy="620640"/>
          </a:xfrm>
          <a:prstGeom prst="roundRect">
            <a:avLst>
              <a:gd name="adj" fmla="val 16667"/>
            </a:avLst>
          </a:prstGeom>
          <a:noFill/>
          <a:ln w="38100">
            <a:solidFill>
              <a:srgbClr val="ed7d31"/>
            </a:solidFill>
            <a:round/>
          </a:ln>
        </p:spPr>
        <p:style>
          <a:lnRef idx="2">
            <a:schemeClr val="accent1">
              <a:shade val="15000"/>
            </a:schemeClr>
          </a:lnRef>
          <a:fillRef idx="1">
            <a:schemeClr val="accent1"/>
          </a:fillRef>
          <a:effectRef idx="0">
            <a:schemeClr val="accent1"/>
          </a:effectRef>
          <a:fontRef idx="minor"/>
        </p:style>
      </p:sp>
      <p:sp>
        <p:nvSpPr>
          <p:cNvPr id="193" name="Rounded Rectangle 7"/>
          <p:cNvSpPr/>
          <p:nvPr/>
        </p:nvSpPr>
        <p:spPr>
          <a:xfrm>
            <a:off x="6423480" y="1783800"/>
            <a:ext cx="5294160" cy="400320"/>
          </a:xfrm>
          <a:prstGeom prst="roundRect">
            <a:avLst>
              <a:gd name="adj" fmla="val 16667"/>
            </a:avLst>
          </a:prstGeom>
          <a:noFill/>
          <a:ln w="38100">
            <a:solidFill>
              <a:srgbClr val="4472c4"/>
            </a:solidFill>
            <a:round/>
          </a:ln>
        </p:spPr>
        <p:style>
          <a:lnRef idx="2">
            <a:schemeClr val="accent1">
              <a:shade val="15000"/>
            </a:schemeClr>
          </a:lnRef>
          <a:fillRef idx="1">
            <a:schemeClr val="accent1"/>
          </a:fillRef>
          <a:effectRef idx="0">
            <a:schemeClr val="accent1"/>
          </a:effectRef>
          <a:fontRef idx="minor"/>
        </p:style>
      </p:sp>
      <p:pic>
        <p:nvPicPr>
          <p:cNvPr id="194" name="Picture 5" descr=""/>
          <p:cNvPicPr/>
          <p:nvPr/>
        </p:nvPicPr>
        <p:blipFill>
          <a:blip r:embed="rId3"/>
          <a:stretch/>
        </p:blipFill>
        <p:spPr>
          <a:xfrm>
            <a:off x="174960" y="4252320"/>
            <a:ext cx="5965920" cy="2168640"/>
          </a:xfrm>
          <a:prstGeom prst="rect">
            <a:avLst/>
          </a:prstGeom>
          <a:ln w="0">
            <a:noFill/>
          </a:ln>
        </p:spPr>
      </p:pic>
      <p:pic>
        <p:nvPicPr>
          <p:cNvPr id="195" name="Picture 8" descr=""/>
          <p:cNvPicPr/>
          <p:nvPr/>
        </p:nvPicPr>
        <p:blipFill>
          <a:blip r:embed="rId4"/>
          <a:stretch/>
        </p:blipFill>
        <p:spPr>
          <a:xfrm>
            <a:off x="6558840" y="4252320"/>
            <a:ext cx="4930200" cy="2138040"/>
          </a:xfrm>
          <a:prstGeom prst="rect">
            <a:avLst/>
          </a:prstGeom>
          <a:ln w="0">
            <a:noFill/>
          </a:ln>
        </p:spPr>
      </p:pic>
      <p:sp>
        <p:nvSpPr>
          <p:cNvPr id="196" name="Curved Connector 10"/>
          <p:cNvSpPr/>
          <p:nvPr/>
        </p:nvSpPr>
        <p:spPr>
          <a:xfrm flipH="1" rot="16200000">
            <a:off x="367920" y="2973240"/>
            <a:ext cx="2923560" cy="1695960"/>
          </a:xfrm>
          <a:prstGeom prst="curvedConnector3">
            <a:avLst>
              <a:gd name="adj1" fmla="val 62205"/>
            </a:avLst>
          </a:prstGeom>
          <a:noFill/>
          <a:ln w="28575">
            <a:solidFill>
              <a:srgbClr val="6dac43"/>
            </a:solidFill>
            <a:prstDash val="lgDash"/>
            <a:round/>
          </a:ln>
        </p:spPr>
        <p:style>
          <a:lnRef idx="1">
            <a:schemeClr val="accent6"/>
          </a:lnRef>
          <a:fillRef idx="0">
            <a:schemeClr val="accent6"/>
          </a:fillRef>
          <a:effectRef idx="0">
            <a:schemeClr val="accent6"/>
          </a:effectRef>
          <a:fontRef idx="minor"/>
        </p:style>
      </p:sp>
      <p:sp>
        <p:nvSpPr>
          <p:cNvPr id="197" name="Freeform 20"/>
          <p:cNvSpPr/>
          <p:nvPr/>
        </p:nvSpPr>
        <p:spPr>
          <a:xfrm>
            <a:off x="1941840" y="4729680"/>
            <a:ext cx="4989240" cy="553320"/>
          </a:xfrm>
          <a:custGeom>
            <a:avLst/>
            <a:gdLst/>
            <a:ahLst/>
            <a:rect l="l" t="t" r="r" b="b"/>
            <a:pathLst>
              <a:path w="4989689" h="553666">
                <a:moveTo>
                  <a:pt x="0" y="553666"/>
                </a:moveTo>
                <a:cubicBezTo>
                  <a:pt x="1119481" y="283673"/>
                  <a:pt x="2238963" y="13680"/>
                  <a:pt x="3070578" y="510"/>
                </a:cubicBezTo>
                <a:cubicBezTo>
                  <a:pt x="3902193" y="-12660"/>
                  <a:pt x="4445941" y="230992"/>
                  <a:pt x="4989689" y="474644"/>
                </a:cubicBezTo>
              </a:path>
            </a:pathLst>
          </a:custGeom>
          <a:noFill/>
          <a:ln>
            <a:solidFill>
              <a:srgbClr val="70ad47"/>
            </a:solidFill>
            <a:prstDash val="lgDash"/>
            <a:round/>
          </a:ln>
          <a:effectLst>
            <a:outerShdw blurRad="39960" dir="5400000" dist="23040" rotWithShape="0">
              <a:srgbClr val="000000">
                <a:alpha val="35000"/>
              </a:srgbClr>
            </a:outerShdw>
          </a:effectLst>
        </p:spPr>
        <p:style>
          <a:lnRef idx="3">
            <a:schemeClr val="accent6"/>
          </a:lnRef>
          <a:fillRef idx="0">
            <a:schemeClr val="accent6"/>
          </a:fillRef>
          <a:effectRef idx="2">
            <a:schemeClr val="accent6"/>
          </a:effectRef>
          <a:fontRef idx="minor"/>
        </p:style>
      </p:sp>
      <p:sp>
        <p:nvSpPr>
          <p:cNvPr id="198" name="Curved Connector 21"/>
          <p:cNvSpPr/>
          <p:nvPr/>
        </p:nvSpPr>
        <p:spPr>
          <a:xfrm rot="5400000">
            <a:off x="7906680" y="3432600"/>
            <a:ext cx="2483280" cy="1074960"/>
          </a:xfrm>
          <a:prstGeom prst="curvedConnector3">
            <a:avLst>
              <a:gd name="adj1" fmla="val 61225"/>
            </a:avLst>
          </a:prstGeom>
          <a:noFill/>
          <a:ln w="28575">
            <a:solidFill>
              <a:srgbClr val="6dac43"/>
            </a:solidFill>
            <a:prstDash val="lgDash"/>
            <a:round/>
          </a:ln>
        </p:spPr>
        <p:style>
          <a:lnRef idx="1">
            <a:schemeClr val="accent6"/>
          </a:lnRef>
          <a:fillRef idx="0">
            <a:schemeClr val="accent6"/>
          </a:fillRef>
          <a:effectRef idx="0">
            <a:schemeClr val="accent6"/>
          </a:effectRef>
          <a:fontRef idx="minor"/>
        </p:style>
      </p:sp>
      <p:sp>
        <p:nvSpPr>
          <p:cNvPr id="199" name="TextBox 25"/>
          <p:cNvSpPr/>
          <p:nvPr/>
        </p:nvSpPr>
        <p:spPr>
          <a:xfrm>
            <a:off x="1553040" y="3821400"/>
            <a:ext cx="9085680" cy="63828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1" lang="en-US" sz="1800" spc="-1" strike="noStrike">
                <a:solidFill>
                  <a:srgbClr val="000000"/>
                </a:solidFill>
                <a:latin typeface="Calibri"/>
              </a:rPr>
              <a:t>Tables that are not explicitly mentioned in the user query but are essential l for connections!</a:t>
            </a:r>
            <a:endParaRPr b="0" lang="en-US" sz="1800" spc="-1" strike="noStrike">
              <a:latin typeface="Arial"/>
            </a:endParaRPr>
          </a:p>
        </p:txBody>
      </p:sp>
      <p:sp>
        <p:nvSpPr>
          <p:cNvPr id="200" name="TextBox 9"/>
          <p:cNvSpPr/>
          <p:nvPr/>
        </p:nvSpPr>
        <p:spPr>
          <a:xfrm>
            <a:off x="395280" y="965880"/>
            <a:ext cx="11401560" cy="63828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000000"/>
                </a:solidFill>
                <a:latin typeface="Calibri"/>
              </a:rPr>
              <a:t>What is the </a:t>
            </a:r>
            <a:r>
              <a:rPr b="0" lang="en-US" sz="1800" spc="-1" strike="noStrike">
                <a:solidFill>
                  <a:srgbClr val="ed7d31"/>
                </a:solidFill>
                <a:latin typeface="Calibri"/>
              </a:rPr>
              <a:t>highest eligible free rate for K-12 students </a:t>
            </a:r>
            <a:r>
              <a:rPr b="0" lang="en-US" sz="1800" spc="-1" strike="noStrike">
                <a:solidFill>
                  <a:srgbClr val="000000"/>
                </a:solidFill>
                <a:latin typeface="Calibri"/>
              </a:rPr>
              <a:t>in the schools in the </a:t>
            </a:r>
            <a:r>
              <a:rPr b="0" lang="en-US" sz="1800" spc="-1" strike="noStrike">
                <a:solidFill>
                  <a:srgbClr val="4472c4"/>
                </a:solidFill>
                <a:latin typeface="Calibri"/>
              </a:rPr>
              <a:t>most populous county in California</a:t>
            </a:r>
            <a:r>
              <a:rPr b="0" lang="en-US" sz="1800" spc="-1" strike="noStrike">
                <a:solidFill>
                  <a:srgbClr val="000000"/>
                </a:solidFill>
                <a:latin typeface="Calibri"/>
              </a:rPr>
              <a:t>?</a:t>
            </a:r>
            <a:endParaRPr b="0" lang="en-US" sz="1800" spc="-1" strike="noStrike">
              <a:latin typeface="Arial"/>
            </a:endParaRPr>
          </a:p>
        </p:txBody>
      </p:sp>
      <p:sp>
        <p:nvSpPr>
          <p:cNvPr id="201"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(2) Information &amp; Structural Alignment </a:t>
            </a:r>
            <a:endParaRPr b="0" lang="en-US" sz="3600" spc="-1" strike="noStrike">
              <a:solidFill>
                <a:srgbClr val="000000"/>
              </a:solidFill>
              <a:latin typeface="Calibri"/>
            </a:endParaRPr>
          </a:p>
        </p:txBody>
      </p:sp>
      <p:sp>
        <p:nvSpPr>
          <p:cNvPr id="202" name="Rectangle: Rounded Corners 13"/>
          <p:cNvSpPr/>
          <p:nvPr/>
        </p:nvSpPr>
        <p:spPr>
          <a:xfrm>
            <a:off x="378720" y="1943280"/>
            <a:ext cx="777960" cy="551520"/>
          </a:xfrm>
          <a:prstGeom prst="roundRect">
            <a:avLst>
              <a:gd name="adj" fmla="val 16667"/>
            </a:avLst>
          </a:prstGeom>
          <a:noFill/>
          <a:ln w="19050">
            <a:solidFill>
              <a:srgbClr val="ff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203" name="TextBox 3"/>
          <p:cNvSpPr/>
          <p:nvPr/>
        </p:nvSpPr>
        <p:spPr>
          <a:xfrm>
            <a:off x="3633840" y="6041520"/>
            <a:ext cx="5142960" cy="821160"/>
          </a:xfrm>
          <a:prstGeom prst="rect">
            <a:avLst/>
          </a:prstGeom>
          <a:solidFill>
            <a:schemeClr val="bg1">
              <a:lumMod val="95000"/>
            </a:schemeClr>
          </a:solidFill>
          <a:ln w="28575">
            <a:solidFill>
              <a:srgbClr val="ff0000"/>
            </a:solidFill>
            <a:round/>
          </a:ln>
        </p:spPr>
        <p:style>
          <a:lnRef idx="0"/>
          <a:fillRef idx="0"/>
          <a:effectRef idx="0"/>
          <a:fontRef idx="minor"/>
        </p:style>
        <p:txBody>
          <a:bodyPr lIns="90000" rIns="90000" tIns="45000" bIns="45000" anchor="t">
            <a:spAutoFit/>
          </a:bodyPr>
          <a:p>
            <a:pPr>
              <a:lnSpc>
                <a:spcPct val="100000"/>
              </a:lnSpc>
              <a:buNone/>
            </a:pPr>
            <a:r>
              <a:rPr b="0" lang="en-US" sz="2400" spc="-1" strike="noStrike">
                <a:solidFill>
                  <a:srgbClr val="000000"/>
                </a:solidFill>
                <a:latin typeface="Calibri"/>
              </a:rPr>
              <a:t>Involves hypothesizing a KG at run time</a:t>
            </a:r>
            <a:endParaRPr b="0" lang="en-US" sz="2400" spc="-1" strike="noStrike">
              <a:latin typeface="Arial"/>
            </a:endParaRPr>
          </a:p>
        </p:txBody>
      </p:sp>
      <p:sp>
        <p:nvSpPr>
          <p:cNvPr id="3" name="PlaceHolder 2"/>
          <p:cNvSpPr>
            <a:spLocks noGrp="1"/>
          </p:cNvSpPr>
          <p:nvPr>
            <p:ph type="sldNum" idx="2"/>
          </p:nvPr>
        </p:nvSpPr>
        <p:spPr/>
        <p:txBody>
          <a:bodyPr/>
          <a:p>
            <a:fld id="{F7190BE0-9E35-45E9-9F9D-A837F307AC4F}" type="slidenum">
              <a:t>13</a:t>
            </a:fld>
          </a:p>
        </p:txBody>
      </p:sp>
    </p:spTree>
  </p:cSld>
  <mc:AlternateContent>
    <mc:Choice Requires="p14">
      <p:transition spd="slow" p14:dur="2000"/>
    </mc:Choice>
    <mc:Fallback>
      <p:transition spd="slow"/>
    </mc:Fallback>
  </mc:AlternateContent>
  <p:timing>
    <p:tnLst>
      <p:par>
        <p:cTn id="128" dur="indefinite" restart="never" nodeType="tmRoot">
          <p:childTnLst>
            <p:seq>
              <p:cTn id="129" dur="indefinite" nodeType="mainSeq">
                <p:childTnLst>
                  <p:par>
                    <p:cTn id="130" fill="hold">
                      <p:stCondLst>
                        <p:cond delay="indefinite"/>
                      </p:stCondLst>
                      <p:childTnLst>
                        <p:par>
                          <p:cTn id="131" fill="hold">
                            <p:stCondLst>
                              <p:cond delay="0"/>
                            </p:stCondLst>
                            <p:childTnLst>
                              <p:par>
                                <p:cTn id="132" nodeType="clickEffect" fill="hold" presetClass="entr" presetID="1">
                                  <p:stCondLst>
                                    <p:cond delay="0"/>
                                  </p:stCondLst>
                                  <p:childTnLst>
                                    <p:set>
                                      <p:cBhvr>
                                        <p:cTn id="133"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TextBox 4"/>
          <p:cNvSpPr/>
          <p:nvPr/>
        </p:nvSpPr>
        <p:spPr>
          <a:xfrm>
            <a:off x="338760" y="3371040"/>
            <a:ext cx="3194280" cy="146124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rPr>
              <a:t>What is the </a:t>
            </a:r>
            <a:r>
              <a:rPr b="0" lang="en-US" sz="1800" spc="-1" strike="noStrike">
                <a:solidFill>
                  <a:srgbClr val="ed7d31"/>
                </a:solidFill>
                <a:latin typeface="Calibri"/>
              </a:rPr>
              <a:t>highest eligible free rate for K-12 students </a:t>
            </a:r>
            <a:r>
              <a:rPr b="0" lang="en-US" sz="1800" spc="-1" strike="noStrike">
                <a:solidFill>
                  <a:srgbClr val="000000"/>
                </a:solidFill>
                <a:latin typeface="Calibri"/>
              </a:rPr>
              <a:t>in the schools in the </a:t>
            </a:r>
            <a:r>
              <a:rPr b="0" lang="en-US" sz="1800" spc="-1" strike="noStrike">
                <a:solidFill>
                  <a:srgbClr val="4472c4"/>
                </a:solidFill>
                <a:latin typeface="Calibri"/>
              </a:rPr>
              <a:t>most populous county in California</a:t>
            </a:r>
            <a:r>
              <a:rPr b="0" lang="en-US" sz="1800" spc="-1" strike="noStrike">
                <a:solidFill>
                  <a:srgbClr val="000000"/>
                </a:solidFill>
                <a:latin typeface="Calibri"/>
              </a:rPr>
              <a:t>?</a:t>
            </a:r>
            <a:endParaRPr b="0" lang="en-US" sz="1800" spc="-1" strike="noStrike">
              <a:latin typeface="Arial"/>
            </a:endParaRPr>
          </a:p>
        </p:txBody>
      </p:sp>
      <p:sp>
        <p:nvSpPr>
          <p:cNvPr id="205" name="Straight Arrow Connector 2"/>
          <p:cNvSpPr/>
          <p:nvPr/>
        </p:nvSpPr>
        <p:spPr>
          <a:xfrm flipV="1">
            <a:off x="3533400" y="3970440"/>
            <a:ext cx="425880" cy="360"/>
          </a:xfrm>
          <a:custGeom>
            <a:avLst/>
            <a:gdLst/>
            <a:ahLst/>
            <a:rect l="l" t="t" r="r" b="b"/>
            <a:pathLst>
              <a:path w="21600" h="21600">
                <a:moveTo>
                  <a:pt x="0" y="0"/>
                </a:moveTo>
                <a:lnTo>
                  <a:pt x="21600" y="21600"/>
                </a:lnTo>
              </a:path>
            </a:pathLst>
          </a:custGeom>
          <a:noFill/>
          <a:ln>
            <a:solidFill>
              <a:srgbClr val="000000"/>
            </a:solidFill>
            <a:round/>
            <a:tailEnd len="med" type="triangle" w="me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sp>
      <p:sp>
        <p:nvSpPr>
          <p:cNvPr id="206" name="Rounded Rectangle 8"/>
          <p:cNvSpPr/>
          <p:nvPr/>
        </p:nvSpPr>
        <p:spPr>
          <a:xfrm>
            <a:off x="3959640" y="3466080"/>
            <a:ext cx="1289520" cy="1009800"/>
          </a:xfrm>
          <a:prstGeom prst="roundRect">
            <a:avLst>
              <a:gd name="adj" fmla="val 16667"/>
            </a:avLst>
          </a:prstGeom>
          <a:solidFill>
            <a:schemeClr val="bg1">
              <a:lumMod val="65000"/>
            </a:schemeClr>
          </a:solidFill>
          <a:ln>
            <a:noFill/>
          </a:ln>
          <a:effectLst>
            <a:outerShdw blurRad="39960" dir="5400000" dist="20160" rotWithShape="0">
              <a:srgbClr val="000000">
                <a:alpha val="38000"/>
              </a:srgbClr>
            </a:outerShdw>
          </a:effectLst>
        </p:spPr>
        <p:style>
          <a:lnRef idx="1">
            <a:schemeClr val="dk1"/>
          </a:lnRef>
          <a:fillRef idx="2">
            <a:schemeClr val="dk1"/>
          </a:fillRef>
          <a:effectRef idx="1">
            <a:schemeClr val="dk1"/>
          </a:effectRef>
          <a:fontRef idx="minor"/>
        </p:style>
        <p:txBody>
          <a:bodyPr lIns="90000" rIns="90000" tIns="45000" bIns="45000" anchor="ctr">
            <a:noAutofit/>
          </a:bodyPr>
          <a:p>
            <a:pPr algn="ctr">
              <a:lnSpc>
                <a:spcPct val="100000"/>
              </a:lnSpc>
              <a:buNone/>
            </a:pPr>
            <a:r>
              <a:rPr b="0" lang="en-US" sz="1800" spc="-1" strike="noStrike">
                <a:solidFill>
                  <a:srgbClr val="ffffff"/>
                </a:solidFill>
                <a:latin typeface="Calibri"/>
              </a:rPr>
              <a:t>Optimal retrieval system</a:t>
            </a:r>
            <a:endParaRPr b="0" lang="en-US" sz="1800" spc="-1" strike="noStrike">
              <a:latin typeface="Arial"/>
            </a:endParaRPr>
          </a:p>
        </p:txBody>
      </p:sp>
      <p:sp>
        <p:nvSpPr>
          <p:cNvPr id="207" name="Straight Arrow Connector 9"/>
          <p:cNvSpPr/>
          <p:nvPr/>
        </p:nvSpPr>
        <p:spPr>
          <a:xfrm flipV="1">
            <a:off x="5249160" y="2255760"/>
            <a:ext cx="702360" cy="1715040"/>
          </a:xfrm>
          <a:custGeom>
            <a:avLst/>
            <a:gdLst/>
            <a:ahLst/>
            <a:rect l="l" t="t" r="r" b="b"/>
            <a:pathLst>
              <a:path w="21600" h="21600">
                <a:moveTo>
                  <a:pt x="0" y="0"/>
                </a:moveTo>
                <a:lnTo>
                  <a:pt x="21600" y="21600"/>
                </a:lnTo>
              </a:path>
            </a:pathLst>
          </a:custGeom>
          <a:noFill/>
          <a:ln>
            <a:solidFill>
              <a:srgbClr val="000000"/>
            </a:solidFill>
            <a:round/>
            <a:tailEnd len="med" type="triangle" w="me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sp>
      <p:sp>
        <p:nvSpPr>
          <p:cNvPr id="208" name="TextBox 14"/>
          <p:cNvSpPr/>
          <p:nvPr/>
        </p:nvSpPr>
        <p:spPr>
          <a:xfrm>
            <a:off x="5952240" y="1932480"/>
            <a:ext cx="141624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000000"/>
                </a:solidFill>
                <a:latin typeface="Calibri"/>
              </a:rPr>
              <a:t>Information alignment</a:t>
            </a:r>
            <a:endParaRPr b="0" lang="en-US" sz="1800" spc="-1" strike="noStrike">
              <a:latin typeface="Arial"/>
            </a:endParaRPr>
          </a:p>
        </p:txBody>
      </p:sp>
      <p:sp>
        <p:nvSpPr>
          <p:cNvPr id="209" name="TextBox 15"/>
          <p:cNvSpPr/>
          <p:nvPr/>
        </p:nvSpPr>
        <p:spPr>
          <a:xfrm>
            <a:off x="6067080" y="4898880"/>
            <a:ext cx="1196280" cy="1186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000000"/>
                </a:solidFill>
                <a:latin typeface="Calibri"/>
              </a:rPr>
              <a:t>Structural alignment</a:t>
            </a:r>
            <a:endParaRPr b="0" lang="en-US" sz="1800" spc="-1" strike="noStrike">
              <a:latin typeface="Arial"/>
            </a:endParaRPr>
          </a:p>
        </p:txBody>
      </p:sp>
      <p:sp>
        <p:nvSpPr>
          <p:cNvPr id="210" name="Straight Arrow Connector 16"/>
          <p:cNvSpPr/>
          <p:nvPr/>
        </p:nvSpPr>
        <p:spPr>
          <a:xfrm>
            <a:off x="5249160" y="3971160"/>
            <a:ext cx="817200" cy="1250640"/>
          </a:xfrm>
          <a:custGeom>
            <a:avLst/>
            <a:gdLst/>
            <a:ahLst/>
            <a:rect l="l" t="t" r="r" b="b"/>
            <a:pathLst>
              <a:path w="21600" h="21600">
                <a:moveTo>
                  <a:pt x="0" y="0"/>
                </a:moveTo>
                <a:lnTo>
                  <a:pt x="21600" y="21600"/>
                </a:lnTo>
              </a:path>
            </a:pathLst>
          </a:custGeom>
          <a:noFill/>
          <a:ln>
            <a:solidFill>
              <a:srgbClr val="000000"/>
            </a:solidFill>
            <a:round/>
            <a:tailEnd len="med" type="triangle" w="me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sp>
      <p:pic>
        <p:nvPicPr>
          <p:cNvPr id="211" name="Picture 30" descr=""/>
          <p:cNvPicPr/>
          <p:nvPr/>
        </p:nvPicPr>
        <p:blipFill>
          <a:blip r:embed="rId1"/>
          <a:stretch/>
        </p:blipFill>
        <p:spPr>
          <a:xfrm>
            <a:off x="7445160" y="2266920"/>
            <a:ext cx="3251160" cy="1227960"/>
          </a:xfrm>
          <a:prstGeom prst="rect">
            <a:avLst/>
          </a:prstGeom>
          <a:ln w="0">
            <a:noFill/>
          </a:ln>
        </p:spPr>
      </p:pic>
      <p:pic>
        <p:nvPicPr>
          <p:cNvPr id="212" name="Picture 31" descr=""/>
          <p:cNvPicPr/>
          <p:nvPr/>
        </p:nvPicPr>
        <p:blipFill>
          <a:blip r:embed="rId2"/>
          <a:stretch/>
        </p:blipFill>
        <p:spPr>
          <a:xfrm>
            <a:off x="7430760" y="989280"/>
            <a:ext cx="3265200" cy="1126080"/>
          </a:xfrm>
          <a:prstGeom prst="rect">
            <a:avLst/>
          </a:prstGeom>
          <a:ln w="0">
            <a:noFill/>
          </a:ln>
        </p:spPr>
      </p:pic>
      <p:sp>
        <p:nvSpPr>
          <p:cNvPr id="213" name="Rounded Rectangle 32"/>
          <p:cNvSpPr/>
          <p:nvPr/>
        </p:nvSpPr>
        <p:spPr>
          <a:xfrm>
            <a:off x="10168560" y="2450880"/>
            <a:ext cx="403560" cy="347760"/>
          </a:xfrm>
          <a:prstGeom prst="roundRect">
            <a:avLst>
              <a:gd name="adj" fmla="val 16667"/>
            </a:avLst>
          </a:prstGeom>
          <a:noFill/>
          <a:ln w="38100">
            <a:solidFill>
              <a:srgbClr val="ed7d31"/>
            </a:solidFill>
            <a:round/>
          </a:ln>
        </p:spPr>
        <p:style>
          <a:lnRef idx="2">
            <a:schemeClr val="accent1">
              <a:shade val="15000"/>
            </a:schemeClr>
          </a:lnRef>
          <a:fillRef idx="1">
            <a:schemeClr val="accent1"/>
          </a:fillRef>
          <a:effectRef idx="0">
            <a:schemeClr val="accent1"/>
          </a:effectRef>
          <a:fontRef idx="minor"/>
        </p:style>
      </p:sp>
      <p:sp>
        <p:nvSpPr>
          <p:cNvPr id="214" name="Rounded Rectangle 33"/>
          <p:cNvSpPr/>
          <p:nvPr/>
        </p:nvSpPr>
        <p:spPr>
          <a:xfrm>
            <a:off x="7555320" y="1071000"/>
            <a:ext cx="3027960" cy="219960"/>
          </a:xfrm>
          <a:prstGeom prst="roundRect">
            <a:avLst>
              <a:gd name="adj" fmla="val 16667"/>
            </a:avLst>
          </a:prstGeom>
          <a:noFill/>
          <a:ln w="38100">
            <a:solidFill>
              <a:srgbClr val="4472c4"/>
            </a:solidFill>
            <a:round/>
          </a:ln>
        </p:spPr>
        <p:style>
          <a:lnRef idx="2">
            <a:schemeClr val="accent1">
              <a:shade val="15000"/>
            </a:schemeClr>
          </a:lnRef>
          <a:fillRef idx="1">
            <a:schemeClr val="accent1"/>
          </a:fillRef>
          <a:effectRef idx="0">
            <a:schemeClr val="accent1"/>
          </a:effectRef>
          <a:fontRef idx="minor"/>
        </p:style>
      </p:sp>
      <p:pic>
        <p:nvPicPr>
          <p:cNvPr id="215" name="Picture 34" descr=""/>
          <p:cNvPicPr/>
          <p:nvPr/>
        </p:nvPicPr>
        <p:blipFill>
          <a:blip r:embed="rId3"/>
          <a:stretch/>
        </p:blipFill>
        <p:spPr>
          <a:xfrm>
            <a:off x="7430760" y="4139640"/>
            <a:ext cx="3265200" cy="1186920"/>
          </a:xfrm>
          <a:prstGeom prst="rect">
            <a:avLst/>
          </a:prstGeom>
          <a:ln w="0">
            <a:noFill/>
          </a:ln>
        </p:spPr>
      </p:pic>
      <p:pic>
        <p:nvPicPr>
          <p:cNvPr id="216" name="Picture 35" descr=""/>
          <p:cNvPicPr/>
          <p:nvPr/>
        </p:nvPicPr>
        <p:blipFill>
          <a:blip r:embed="rId4"/>
          <a:stretch/>
        </p:blipFill>
        <p:spPr>
          <a:xfrm>
            <a:off x="7430760" y="5406480"/>
            <a:ext cx="3265200" cy="1416240"/>
          </a:xfrm>
          <a:prstGeom prst="rect">
            <a:avLst/>
          </a:prstGeom>
          <a:ln w="0">
            <a:noFill/>
          </a:ln>
        </p:spPr>
      </p:pic>
      <p:sp>
        <p:nvSpPr>
          <p:cNvPr id="217" name="Curved Connector 49"/>
          <p:cNvSpPr/>
          <p:nvPr/>
        </p:nvSpPr>
        <p:spPr>
          <a:xfrm>
            <a:off x="10696680" y="1552680"/>
            <a:ext cx="12240" cy="4561920"/>
          </a:xfrm>
          <a:prstGeom prst="curvedConnector3">
            <a:avLst>
              <a:gd name="adj1" fmla="val 7666669"/>
            </a:avLst>
          </a:prstGeom>
          <a:noFill/>
          <a:ln w="28575">
            <a:solidFill>
              <a:srgbClr val="70ad47"/>
            </a:solidFill>
            <a:prstDash val="dash"/>
            <a:round/>
          </a:ln>
        </p:spPr>
        <p:style>
          <a:lnRef idx="0"/>
          <a:fillRef idx="0"/>
          <a:effectRef idx="0"/>
          <a:fontRef idx="minor"/>
        </p:style>
      </p:sp>
      <p:sp>
        <p:nvSpPr>
          <p:cNvPr id="218" name="Curved Connector 51"/>
          <p:cNvSpPr/>
          <p:nvPr/>
        </p:nvSpPr>
        <p:spPr>
          <a:xfrm>
            <a:off x="10696680" y="2881080"/>
            <a:ext cx="12240" cy="1851840"/>
          </a:xfrm>
          <a:prstGeom prst="curvedConnector3">
            <a:avLst>
              <a:gd name="adj1" fmla="val 1800000"/>
            </a:avLst>
          </a:prstGeom>
          <a:noFill/>
          <a:ln w="28575">
            <a:solidFill>
              <a:srgbClr val="70ad47"/>
            </a:solidFill>
            <a:prstDash val="dash"/>
            <a:round/>
          </a:ln>
        </p:spPr>
        <p:style>
          <a:lnRef idx="0"/>
          <a:fillRef idx="0"/>
          <a:effectRef idx="0"/>
          <a:fontRef idx="minor"/>
        </p:style>
      </p:sp>
      <p:sp>
        <p:nvSpPr>
          <p:cNvPr id="219" name="Curved Connector 54"/>
          <p:cNvSpPr/>
          <p:nvPr/>
        </p:nvSpPr>
        <p:spPr>
          <a:xfrm>
            <a:off x="10696680" y="4733280"/>
            <a:ext cx="12240" cy="1380960"/>
          </a:xfrm>
          <a:prstGeom prst="curvedConnector3">
            <a:avLst>
              <a:gd name="adj1" fmla="val 1800000"/>
            </a:avLst>
          </a:prstGeom>
          <a:noFill/>
          <a:ln w="28575">
            <a:solidFill>
              <a:srgbClr val="70ad47"/>
            </a:solidFill>
            <a:prstDash val="dash"/>
            <a:round/>
          </a:ln>
        </p:spPr>
        <p:style>
          <a:lnRef idx="0"/>
          <a:fillRef idx="0"/>
          <a:effectRef idx="0"/>
          <a:fontRef idx="minor"/>
        </p:style>
      </p:sp>
      <p:sp>
        <p:nvSpPr>
          <p:cNvPr id="220"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(2) Information &amp; Structural Alignment </a:t>
            </a:r>
            <a:endParaRPr b="0" lang="en-US" sz="3600" spc="-1" strike="noStrike">
              <a:solidFill>
                <a:srgbClr val="000000"/>
              </a:solidFill>
              <a:latin typeface="Calibri"/>
            </a:endParaRPr>
          </a:p>
        </p:txBody>
      </p:sp>
      <p:sp>
        <p:nvSpPr>
          <p:cNvPr id="221" name="TextBox 5"/>
          <p:cNvSpPr/>
          <p:nvPr/>
        </p:nvSpPr>
        <p:spPr>
          <a:xfrm>
            <a:off x="338760" y="1152000"/>
            <a:ext cx="3620520" cy="283284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rPr>
              <a:t>The top two data objects can be retrieved by </a:t>
            </a:r>
            <a:r>
              <a:rPr b="1" lang="en-US" sz="1800" spc="-1" strike="noStrike">
                <a:solidFill>
                  <a:srgbClr val="000000"/>
                </a:solidFill>
                <a:latin typeface="Calibri"/>
              </a:rPr>
              <a:t>semantic similarity </a:t>
            </a:r>
            <a:r>
              <a:rPr b="0" lang="en-US" sz="1800" spc="-1" strike="noStrike">
                <a:solidFill>
                  <a:srgbClr val="000000"/>
                </a:solidFill>
                <a:latin typeface="Calibri"/>
              </a:rPr>
              <a:t>to the decomposed parts of the query.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Calibri"/>
              </a:rPr>
              <a:t>The bottom two table cannot.</a:t>
            </a:r>
            <a:endParaRPr b="0" lang="en-US" sz="1800" spc="-1" strike="noStrike">
              <a:latin typeface="Arial"/>
            </a:endParaRPr>
          </a:p>
          <a:p>
            <a:pPr>
              <a:lnSpc>
                <a:spcPct val="100000"/>
              </a:lnSpc>
              <a:buNone/>
            </a:pPr>
            <a:r>
              <a:rPr b="0" lang="en-US" sz="1800" spc="-1" strike="noStrike">
                <a:solidFill>
                  <a:srgbClr val="000000"/>
                </a:solidFill>
                <a:latin typeface="Calibri"/>
              </a:rPr>
              <a:t>Retrieving them requires an iterative process that considers </a:t>
            </a:r>
            <a:r>
              <a:rPr b="1" lang="en-US" sz="1800" spc="-1" strike="noStrike">
                <a:solidFill>
                  <a:srgbClr val="000000"/>
                </a:solidFill>
                <a:latin typeface="Calibri"/>
              </a:rPr>
              <a:t>joinability</a:t>
            </a:r>
            <a:endParaRPr b="0" lang="en-US" sz="1800" spc="-1" strike="noStrike">
              <a:latin typeface="Arial"/>
            </a:endParaRPr>
          </a:p>
        </p:txBody>
      </p:sp>
      <p:sp>
        <p:nvSpPr>
          <p:cNvPr id="222" name="Rounded Rectangle 32"/>
          <p:cNvSpPr/>
          <p:nvPr/>
        </p:nvSpPr>
        <p:spPr>
          <a:xfrm>
            <a:off x="7593120" y="2450880"/>
            <a:ext cx="403560" cy="347760"/>
          </a:xfrm>
          <a:prstGeom prst="roundRect">
            <a:avLst>
              <a:gd name="adj" fmla="val 16667"/>
            </a:avLst>
          </a:prstGeom>
          <a:noFill/>
          <a:ln w="38100">
            <a:solidFill>
              <a:srgbClr val="ed7d31"/>
            </a:solidFill>
            <a:round/>
          </a:ln>
        </p:spPr>
        <p:style>
          <a:lnRef idx="2">
            <a:schemeClr val="accent1">
              <a:shade val="15000"/>
            </a:schemeClr>
          </a:lnRef>
          <a:fillRef idx="1">
            <a:schemeClr val="accent1"/>
          </a:fillRef>
          <a:effectRef idx="0">
            <a:schemeClr val="accent1"/>
          </a:effectRef>
          <a:fontRef idx="minor"/>
        </p:style>
      </p:sp>
      <p:sp>
        <p:nvSpPr>
          <p:cNvPr id="223" name="Curved Connector 10"/>
          <p:cNvSpPr/>
          <p:nvPr/>
        </p:nvSpPr>
        <p:spPr>
          <a:xfrm rot="5400000">
            <a:off x="6625440" y="3524400"/>
            <a:ext cx="2014920" cy="402840"/>
          </a:xfrm>
          <a:prstGeom prst="curvedConnector4">
            <a:avLst>
              <a:gd name="adj1" fmla="val 35272"/>
              <a:gd name="adj2" fmla="val 156682"/>
            </a:avLst>
          </a:prstGeom>
          <a:noFill/>
          <a:ln w="28575">
            <a:solidFill>
              <a:srgbClr val="6dac43"/>
            </a:solidFill>
            <a:prstDash val="lgDash"/>
            <a:round/>
          </a:ln>
        </p:spPr>
        <p:style>
          <a:lnRef idx="1">
            <a:schemeClr val="accent6"/>
          </a:lnRef>
          <a:fillRef idx="0">
            <a:schemeClr val="accent6"/>
          </a:fillRef>
          <a:effectRef idx="0">
            <a:schemeClr val="accent6"/>
          </a:effectRef>
          <a:fontRef idx="minor"/>
        </p:style>
      </p:sp>
      <p:sp>
        <p:nvSpPr>
          <p:cNvPr id="224" name="Curved Connector 10"/>
          <p:cNvSpPr/>
          <p:nvPr/>
        </p:nvSpPr>
        <p:spPr>
          <a:xfrm rot="5400000">
            <a:off x="7612200" y="5428080"/>
            <a:ext cx="1012320" cy="360720"/>
          </a:xfrm>
          <a:prstGeom prst="curvedConnector3">
            <a:avLst>
              <a:gd name="adj1" fmla="val 50000"/>
            </a:avLst>
          </a:prstGeom>
          <a:noFill/>
          <a:ln w="28575">
            <a:solidFill>
              <a:srgbClr val="6dac43"/>
            </a:solidFill>
            <a:prstDash val="lgDash"/>
            <a:round/>
          </a:ln>
        </p:spPr>
        <p:style>
          <a:lnRef idx="1">
            <a:schemeClr val="accent6"/>
          </a:lnRef>
          <a:fillRef idx="0">
            <a:schemeClr val="accent6"/>
          </a:fillRef>
          <a:effectRef idx="0">
            <a:schemeClr val="accent6"/>
          </a:effectRef>
          <a:fontRef idx="minor"/>
        </p:style>
      </p:sp>
      <p:sp>
        <p:nvSpPr>
          <p:cNvPr id="225" name="TextBox 6"/>
          <p:cNvSpPr/>
          <p:nvPr/>
        </p:nvSpPr>
        <p:spPr>
          <a:xfrm>
            <a:off x="4035960" y="850320"/>
            <a:ext cx="3377880" cy="81972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a:t>
            </a:r>
            <a:r>
              <a:rPr b="0" lang="en-US" sz="1600" spc="-1" strike="noStrike">
                <a:solidFill>
                  <a:srgbClr val="000000"/>
                </a:solidFill>
                <a:latin typeface="Calibri"/>
              </a:rPr>
              <a:t>Standard” RAG isn’t sufficient – does not consider internal data organization</a:t>
            </a:r>
            <a:endParaRPr b="0" lang="en-US" sz="1600" spc="-1" strike="noStrike">
              <a:latin typeface="Arial"/>
            </a:endParaRPr>
          </a:p>
        </p:txBody>
      </p:sp>
      <p:sp>
        <p:nvSpPr>
          <p:cNvPr id="226" name="TextBox 11"/>
          <p:cNvSpPr/>
          <p:nvPr/>
        </p:nvSpPr>
        <p:spPr>
          <a:xfrm>
            <a:off x="4340880" y="1408320"/>
            <a:ext cx="2768400" cy="819720"/>
          </a:xfrm>
          <a:prstGeom prst="rect">
            <a:avLst/>
          </a:prstGeom>
          <a:solidFill>
            <a:schemeClr val="bg1">
              <a:lumMod val="8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0000"/>
                </a:solidFill>
                <a:latin typeface="Calibri"/>
              </a:rPr>
              <a:t>Agentic RAG (ReACT) can get stuck, for the same reason. </a:t>
            </a:r>
            <a:endParaRPr b="0" lang="en-US" sz="1600" spc="-1" strike="noStrike">
              <a:latin typeface="Arial"/>
            </a:endParaRPr>
          </a:p>
        </p:txBody>
      </p:sp>
      <p:sp>
        <p:nvSpPr>
          <p:cNvPr id="227" name="TextBox 12"/>
          <p:cNvSpPr/>
          <p:nvPr/>
        </p:nvSpPr>
        <p:spPr>
          <a:xfrm>
            <a:off x="108000" y="4837320"/>
            <a:ext cx="5621400" cy="200988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1" lang="en-US" sz="1800" spc="-1" strike="noStrike">
                <a:solidFill>
                  <a:srgbClr val="3366cc"/>
                </a:solidFill>
                <a:latin typeface="Calibri"/>
              </a:rPr>
              <a:t>Linear programming solvers </a:t>
            </a:r>
            <a:r>
              <a:rPr b="0" lang="en-US" sz="1800" spc="-1" strike="noStrike">
                <a:solidFill>
                  <a:srgbClr val="3366cc"/>
                </a:solidFill>
                <a:latin typeface="Calibri"/>
              </a:rPr>
              <a:t>to select top-</a:t>
            </a:r>
            <a:r>
              <a:rPr b="0" i="1" lang="en-US" sz="1800" spc="-1" strike="noStrike">
                <a:solidFill>
                  <a:srgbClr val="3366cc"/>
                </a:solidFill>
                <a:latin typeface="Calibri"/>
              </a:rPr>
              <a:t>k</a:t>
            </a:r>
            <a:r>
              <a:rPr b="0" lang="en-US" sz="1800" spc="-1" strike="noStrike">
                <a:solidFill>
                  <a:srgbClr val="3366cc"/>
                </a:solidFill>
                <a:latin typeface="Calibri"/>
              </a:rPr>
              <a:t> objects that maximize </a:t>
            </a:r>
            <a:r>
              <a:rPr b="1" i="1" lang="en-US" sz="1800" spc="-1" strike="noStrike">
                <a:solidFill>
                  <a:srgbClr val="000000"/>
                </a:solidFill>
                <a:latin typeface="Calibri"/>
              </a:rPr>
              <a:t>query-object relevance </a:t>
            </a:r>
            <a:r>
              <a:rPr b="0" lang="en-US" sz="1800" spc="-1" strike="noStrike">
                <a:solidFill>
                  <a:srgbClr val="3366cc"/>
                </a:solidFill>
                <a:latin typeface="Calibri"/>
              </a:rPr>
              <a:t> and </a:t>
            </a:r>
            <a:r>
              <a:rPr b="1" i="1" lang="en-US" sz="1800" spc="-1" strike="noStrike">
                <a:solidFill>
                  <a:srgbClr val="000000"/>
                </a:solidFill>
                <a:latin typeface="Calibri"/>
              </a:rPr>
              <a:t>object-object compatibility</a:t>
            </a:r>
            <a:r>
              <a:rPr b="0" lang="en-US" sz="1800" spc="-1" strike="noStrike">
                <a:solidFill>
                  <a:srgbClr val="000000"/>
                </a:solidFill>
                <a:latin typeface="Calibri"/>
              </a:rPr>
              <a:t> </a:t>
            </a:r>
            <a:r>
              <a:rPr b="0" lang="en-US" sz="1800" spc="-1" strike="noStrike">
                <a:solidFill>
                  <a:srgbClr val="3366cc"/>
                </a:solidFill>
                <a:latin typeface="Calibri"/>
              </a:rPr>
              <a:t> for each expanded group</a:t>
            </a:r>
            <a:endParaRPr b="0" lang="en-US" sz="1800" spc="-1" strike="noStrike">
              <a:latin typeface="Arial"/>
            </a:endParaRPr>
          </a:p>
          <a:p>
            <a:pPr algn="ctr">
              <a:lnSpc>
                <a:spcPct val="100000"/>
              </a:lnSpc>
              <a:buNone/>
            </a:pPr>
            <a:r>
              <a:rPr b="0" lang="en-US" sz="1800" spc="-1" strike="noStrike">
                <a:solidFill>
                  <a:srgbClr val="3366cc"/>
                </a:solidFill>
                <a:latin typeface="Calibri"/>
              </a:rPr>
              <a:t> </a:t>
            </a:r>
            <a:endParaRPr b="0" lang="en-US" sz="1800" spc="-1" strike="noStrike">
              <a:latin typeface="Arial"/>
            </a:endParaRPr>
          </a:p>
          <a:p>
            <a:pPr algn="ctr">
              <a:lnSpc>
                <a:spcPct val="100000"/>
              </a:lnSpc>
              <a:buNone/>
            </a:pPr>
            <a:r>
              <a:rPr b="0" lang="en-US" sz="1800" spc="-1" strike="noStrike">
                <a:solidFill>
                  <a:srgbClr val="3366cc"/>
                </a:solidFill>
                <a:latin typeface="Calibri"/>
              </a:rPr>
              <a:t>(: whether object  is selected; : whether object  connects with object )</a:t>
            </a:r>
            <a:endParaRPr b="0" lang="en-US" sz="1800" spc="-1" strike="noStrike">
              <a:latin typeface="Arial"/>
            </a:endParaRPr>
          </a:p>
        </p:txBody>
      </p:sp>
      <p:sp>
        <p:nvSpPr>
          <p:cNvPr id="228" name="TextBox 13"/>
          <p:cNvSpPr/>
          <p:nvPr/>
        </p:nvSpPr>
        <p:spPr>
          <a:xfrm>
            <a:off x="7894080" y="3483720"/>
            <a:ext cx="2385000" cy="912600"/>
          </a:xfrm>
          <a:prstGeom prst="rect">
            <a:avLst/>
          </a:prstGeom>
          <a:solidFill>
            <a:schemeClr val="bg1">
              <a:lumMod val="95000"/>
            </a:schemeClr>
          </a:solidFill>
          <a:ln w="28575">
            <a:solidFill>
              <a:srgbClr val="ff0000"/>
            </a:solidFill>
            <a:round/>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rPr>
              <a:t>Involves hypothesizing a KG at run time</a:t>
            </a:r>
            <a:endParaRPr b="0" lang="en-US" sz="1800" spc="-1" strike="noStrike">
              <a:latin typeface="Arial"/>
            </a:endParaRPr>
          </a:p>
        </p:txBody>
      </p:sp>
      <p:sp>
        <p:nvSpPr>
          <p:cNvPr id="229" name="Speech Bubble: Rectangle 18"/>
          <p:cNvSpPr/>
          <p:nvPr/>
        </p:nvSpPr>
        <p:spPr>
          <a:xfrm>
            <a:off x="95400" y="4799880"/>
            <a:ext cx="5634360" cy="1897920"/>
          </a:xfrm>
          <a:prstGeom prst="wedgeRectCallout">
            <a:avLst>
              <a:gd name="adj1" fmla="val 73530"/>
              <a:gd name="adj2" fmla="val -80715"/>
            </a:avLst>
          </a:prstGeom>
          <a:solidFill>
            <a:schemeClr val="bg1">
              <a:lumMod val="8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Calibri"/>
                <a:ea typeface="Calibri"/>
              </a:rPr>
              <a:t>This is a form of Enrichment, but some of it needs to be done at run-time, given a query. (But we can cache it)</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Calibri"/>
                <a:ea typeface="Calibri"/>
              </a:rPr>
              <a:t>More can be done – e.g., with the use of </a:t>
            </a:r>
            <a:r>
              <a:rPr b="1" lang="en-US" sz="1800" spc="-1" strike="noStrike">
                <a:solidFill>
                  <a:srgbClr val="000000"/>
                </a:solidFill>
                <a:latin typeface="Calibri"/>
                <a:ea typeface="Calibri"/>
              </a:rPr>
              <a:t>query logs</a:t>
            </a:r>
            <a:endParaRPr b="0" lang="en-US" sz="1800" spc="-1" strike="noStrike">
              <a:latin typeface="Arial"/>
            </a:endParaRPr>
          </a:p>
          <a:p>
            <a:pPr>
              <a:lnSpc>
                <a:spcPct val="100000"/>
              </a:lnSpc>
              <a:buNone/>
            </a:pPr>
            <a:r>
              <a:rPr b="0" lang="en-US" sz="1600" spc="-1" strike="noStrike">
                <a:solidFill>
                  <a:srgbClr val="0000ff"/>
                </a:solidFill>
                <a:latin typeface="Calibri"/>
                <a:ea typeface="Calibri"/>
              </a:rPr>
              <a:t>Peter Chen et al. : Log-augmented generation:</a:t>
            </a:r>
            <a:endParaRPr b="0" lang="en-US" sz="1600" spc="-1" strike="noStrike">
              <a:latin typeface="Arial"/>
            </a:endParaRPr>
          </a:p>
          <a:p>
            <a:pPr>
              <a:lnSpc>
                <a:spcPct val="100000"/>
              </a:lnSpc>
              <a:buNone/>
            </a:pPr>
            <a:r>
              <a:rPr b="0" lang="en-US" sz="1600" spc="-1" strike="noStrike">
                <a:solidFill>
                  <a:srgbClr val="0000ff"/>
                </a:solidFill>
                <a:latin typeface="Calibri"/>
                <a:ea typeface="Calibri"/>
              </a:rPr>
              <a:t>Scaling Test-Time Reasoning with Reusable Computation (ICLR’26)</a:t>
            </a:r>
            <a:endParaRPr b="0" lang="en-US" sz="1600" spc="-1" strike="noStrike">
              <a:latin typeface="Arial"/>
            </a:endParaRPr>
          </a:p>
          <a:p>
            <a:pPr>
              <a:lnSpc>
                <a:spcPct val="100000"/>
              </a:lnSpc>
              <a:buNone/>
            </a:pPr>
            <a:endParaRPr b="0" lang="en-US" sz="1800" spc="-1" strike="noStrike">
              <a:latin typeface="Arial"/>
            </a:endParaRPr>
          </a:p>
        </p:txBody>
      </p:sp>
      <p:sp>
        <p:nvSpPr>
          <p:cNvPr id="3" name="PlaceHolder 2"/>
          <p:cNvSpPr>
            <a:spLocks noGrp="1"/>
          </p:cNvSpPr>
          <p:nvPr>
            <p:ph type="sldNum" idx="2"/>
          </p:nvPr>
        </p:nvSpPr>
        <p:spPr/>
        <p:txBody>
          <a:bodyPr/>
          <a:p>
            <a:fld id="{E5CC9AE8-6FD5-4039-BDED-DD99394BE6DD}" type="slidenum">
              <a:t>14</a:t>
            </a:fld>
          </a:p>
        </p:txBody>
      </p:sp>
    </p:spTree>
  </p:cSld>
  <mc:AlternateContent>
    <mc:Choice Requires="p14">
      <p:transition spd="slow" p14:dur="2000"/>
    </mc:Choice>
    <mc:Fallback>
      <p:transition spd="slow"/>
    </mc:Fallback>
  </mc:AlternateContent>
  <p:timing>
    <p:tnLst>
      <p:par>
        <p:cTn id="134" dur="indefinite" restart="never" nodeType="tmRoot">
          <p:childTnLst>
            <p:seq>
              <p:cTn id="135" dur="indefinite" nodeType="mainSeq">
                <p:childTnLst>
                  <p:par>
                    <p:cTn id="136" fill="hold">
                      <p:stCondLst>
                        <p:cond delay="indefinite"/>
                      </p:stCondLst>
                      <p:childTnLst>
                        <p:par>
                          <p:cTn id="137" fill="hold">
                            <p:stCondLst>
                              <p:cond delay="0"/>
                            </p:stCondLst>
                            <p:childTnLst>
                              <p:par>
                                <p:cTn id="138" nodeType="clickEffect" fill="hold" presetClass="entr" presetID="1">
                                  <p:stCondLst>
                                    <p:cond delay="0"/>
                                  </p:stCondLst>
                                  <p:childTnLst>
                                    <p:set>
                                      <p:cBhvr>
                                        <p:cTn id="139" dur="1" fill="hold">
                                          <p:stCondLst>
                                            <p:cond delay="0"/>
                                          </p:stCondLst>
                                        </p:cTn>
                                        <p:tgtEl>
                                          <p:spTgt spid="227"/>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
                                  <p:stCondLst>
                                    <p:cond delay="0"/>
                                  </p:stCondLst>
                                  <p:childTnLst>
                                    <p:set>
                                      <p:cBhvr>
                                        <p:cTn id="143"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Where are we in NL-2-SQL?</a:t>
            </a:r>
            <a:endParaRPr b="0" lang="en-US" sz="4000" spc="-1" strike="noStrike">
              <a:solidFill>
                <a:srgbClr val="000000"/>
              </a:solidFill>
              <a:latin typeface="Calibri"/>
            </a:endParaRPr>
          </a:p>
        </p:txBody>
      </p:sp>
      <p:sp>
        <p:nvSpPr>
          <p:cNvPr id="231" name="PlaceHolder 2"/>
          <p:cNvSpPr>
            <a:spLocks noGrp="1"/>
          </p:cNvSpPr>
          <p:nvPr>
            <p:ph/>
          </p:nvPr>
        </p:nvSpPr>
        <p:spPr>
          <a:xfrm>
            <a:off x="609480" y="1251720"/>
            <a:ext cx="8556480" cy="48873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1" lang="en-US" sz="2400" spc="-1" strike="noStrike">
                <a:solidFill>
                  <a:srgbClr val="000000"/>
                </a:solidFill>
                <a:latin typeface="Calibri"/>
                <a:ea typeface="Calibri"/>
              </a:rPr>
              <a:t>ARCHER: </a:t>
            </a:r>
            <a:r>
              <a:rPr b="0" lang="en-US" sz="2400" spc="-1" strike="noStrike">
                <a:solidFill>
                  <a:srgbClr val="000000"/>
                </a:solidFill>
                <a:latin typeface="Calibri"/>
                <a:ea typeface="Calibri"/>
              </a:rPr>
              <a:t>recently introduced Text-to-SQL benchmark with complex arithmetic and reasoning tasks</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9/19/25: </a:t>
            </a:r>
            <a:r>
              <a:rPr b="0" lang="en-US" sz="2000" spc="-1" strike="noStrike">
                <a:solidFill>
                  <a:srgbClr val="3366cc"/>
                </a:solidFill>
                <a:latin typeface="Calibri"/>
                <a:ea typeface="Calibri"/>
              </a:rPr>
              <a:t>	</a:t>
            </a:r>
            <a:r>
              <a:rPr b="0" lang="en-US" sz="2000" spc="-1" strike="noStrike">
                <a:solidFill>
                  <a:srgbClr val="3366cc"/>
                </a:solidFill>
                <a:latin typeface="Calibri"/>
                <a:ea typeface="Calibri"/>
              </a:rPr>
              <a:t>A vanilla GPT-5 based baseline: 44.23%</a:t>
            </a:r>
            <a:endParaRPr b="0" lang="en-US" sz="2000" spc="-1" strike="noStrike">
              <a:solidFill>
                <a:srgbClr val="000000"/>
              </a:solidFill>
              <a:latin typeface="Calibri"/>
            </a:endParaRPr>
          </a:p>
          <a:p>
            <a:pPr marL="1371600">
              <a:lnSpc>
                <a:spcPct val="100000"/>
              </a:lnSpc>
              <a:spcBef>
                <a:spcPts val="400"/>
              </a:spcBef>
              <a:buNone/>
              <a:tabLst>
                <a:tab algn="l" pos="0"/>
              </a:tabLst>
            </a:pPr>
            <a:r>
              <a:rPr b="0" lang="en-US" sz="2000" spc="-1" strike="noStrike">
                <a:solidFill>
                  <a:srgbClr val="3366cc"/>
                </a:solidFill>
                <a:latin typeface="Calibri"/>
                <a:ea typeface="Calibri"/>
              </a:rPr>
              <a:t>	</a:t>
            </a:r>
            <a:r>
              <a:rPr b="1" lang="en-US" sz="2000" spc="-1" strike="noStrike">
                <a:solidFill>
                  <a:srgbClr val="3366cc"/>
                </a:solidFill>
                <a:latin typeface="Calibri"/>
                <a:ea typeface="Calibri"/>
              </a:rPr>
              <a:t>Oracle AI Agentic system</a:t>
            </a:r>
            <a:r>
              <a:rPr b="0" lang="en-US" sz="2000" spc="-1" strike="noStrike">
                <a:solidFill>
                  <a:srgbClr val="3366cc"/>
                </a:solidFill>
                <a:latin typeface="Calibri"/>
                <a:ea typeface="Calibri"/>
              </a:rPr>
              <a:t>: 54.96%</a:t>
            </a:r>
            <a:endParaRPr b="0" lang="en-US" sz="2000" spc="-1" strike="noStrike">
              <a:solidFill>
                <a:srgbClr val="000000"/>
              </a:solidFill>
              <a:latin typeface="Calibri"/>
            </a:endParaRPr>
          </a:p>
          <a:p>
            <a:pPr marL="1371600">
              <a:lnSpc>
                <a:spcPct val="100000"/>
              </a:lnSpc>
              <a:spcBef>
                <a:spcPts val="400"/>
              </a:spcBef>
              <a:buNone/>
              <a:tabLst>
                <a:tab algn="l" pos="0"/>
              </a:tabLst>
            </a:pPr>
            <a:r>
              <a:rPr b="0" lang="en-US" sz="2000" spc="-1" strike="noStrike">
                <a:solidFill>
                  <a:srgbClr val="3366cc"/>
                </a:solidFill>
                <a:latin typeface="Calibri"/>
                <a:ea typeface="Calibri"/>
              </a:rPr>
              <a:t>	</a:t>
            </a:r>
            <a:r>
              <a:rPr b="0" lang="en-US" sz="2000" spc="-1" strike="noStrike">
                <a:solidFill>
                  <a:srgbClr val="ff0000"/>
                </a:solidFill>
                <a:latin typeface="Calibri"/>
                <a:ea typeface="Calibri"/>
              </a:rPr>
              <a:t>[NEWS] OCI AI Science wins first place in the 2025 competition!</a:t>
            </a:r>
            <a:endParaRPr b="0" lang="en-US" sz="20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tabLst>
                <a:tab algn="l" pos="0"/>
              </a:tabLst>
            </a:pPr>
            <a:r>
              <a:rPr b="0" lang="en-US" sz="2400" spc="-1" strike="noStrike">
                <a:solidFill>
                  <a:srgbClr val="000000"/>
                </a:solidFill>
                <a:latin typeface="Calibri"/>
                <a:ea typeface="Calibri"/>
              </a:rPr>
              <a:t>A vanilla NL2SQL system: </a:t>
            </a:r>
            <a:r>
              <a:rPr b="0" lang="en-US" sz="2400" spc="-1" strike="noStrike">
                <a:solidFill>
                  <a:srgbClr val="ff0000"/>
                </a:solidFill>
                <a:latin typeface="Calibri"/>
                <a:ea typeface="Calibri"/>
              </a:rPr>
              <a:t>[</a:t>
            </a:r>
            <a:r>
              <a:rPr b="0" lang="en-US" sz="2400" spc="-1" strike="noStrike">
                <a:solidFill>
                  <a:srgbClr val="000000"/>
                </a:solidFill>
                <a:latin typeface="Calibri"/>
                <a:ea typeface="Calibri"/>
              </a:rPr>
              <a:t>NL Query</a:t>
            </a:r>
            <a:r>
              <a:rPr b="0" lang="en-US" sz="2400" spc="-1" strike="noStrike">
                <a:solidFill>
                  <a:srgbClr val="000000"/>
                </a:solidFill>
                <a:latin typeface="Wingdings"/>
                <a:ea typeface="Calibri"/>
              </a:rPr>
              <a:t></a:t>
            </a:r>
            <a:r>
              <a:rPr b="0" lang="en-US" sz="2400" spc="-1" strike="noStrike">
                <a:solidFill>
                  <a:srgbClr val="000000"/>
                </a:solidFill>
                <a:latin typeface="Calibri"/>
                <a:ea typeface="Calibri"/>
              </a:rPr>
              <a:t> LLM </a:t>
            </a:r>
            <a:r>
              <a:rPr b="0" lang="en-US" sz="2400" spc="-1" strike="noStrike">
                <a:solidFill>
                  <a:srgbClr val="000000"/>
                </a:solidFill>
                <a:latin typeface="Wingdings"/>
                <a:ea typeface="Calibri"/>
              </a:rPr>
              <a:t></a:t>
            </a:r>
            <a:r>
              <a:rPr b="0" lang="en-US" sz="2400" spc="-1" strike="noStrike">
                <a:solidFill>
                  <a:srgbClr val="000000"/>
                </a:solidFill>
                <a:latin typeface="Calibri"/>
                <a:ea typeface="Calibri"/>
              </a:rPr>
              <a:t> SQL</a:t>
            </a:r>
            <a:r>
              <a:rPr b="0" lang="en-US" sz="2400" spc="-1" strike="noStrike">
                <a:solidFill>
                  <a:srgbClr val="ff0000"/>
                </a:solidFill>
                <a:latin typeface="Calibri"/>
                <a:ea typeface="Calibri"/>
              </a:rPr>
              <a:t>]</a:t>
            </a:r>
            <a:r>
              <a:rPr b="0" lang="en-US" sz="2400" spc="-1" strike="noStrike">
                <a:solidFill>
                  <a:srgbClr val="000000"/>
                </a:solidFill>
                <a:latin typeface="Calibri"/>
                <a:ea typeface="Calibri"/>
              </a:rPr>
              <a:t> is not sufficient [in most cases].</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3366cc"/>
                </a:solidFill>
                <a:latin typeface="Calibri"/>
                <a:ea typeface="Calibri"/>
              </a:rPr>
              <a:t>Performance is dataset specific; failures are due to both retrieval and generation</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3366cc"/>
                </a:solidFill>
                <a:latin typeface="Calibri"/>
                <a:ea typeface="Calibri"/>
              </a:rPr>
              <a:t>Gaps between vanilla models and advanced systems ~20-50%</a:t>
            </a:r>
            <a:endParaRPr b="0" lang="en-US" sz="2000" spc="-1" strike="noStrike">
              <a:solidFill>
                <a:srgbClr val="000000"/>
              </a:solidFill>
              <a:latin typeface="Calibri"/>
            </a:endParaRPr>
          </a:p>
          <a:p>
            <a:endParaRPr b="0" lang="en-US" sz="1800" spc="-1" strike="noStrike">
              <a:solidFill>
                <a:srgbClr val="000000"/>
              </a:solidFill>
              <a:latin typeface="Calibri"/>
            </a:endParaRPr>
          </a:p>
          <a:p>
            <a:pPr marL="1371600">
              <a:lnSpc>
                <a:spcPct val="100000"/>
              </a:lnSpc>
              <a:spcBef>
                <a:spcPts val="400"/>
              </a:spcBef>
              <a:buNone/>
              <a:tabLst>
                <a:tab algn="l" pos="0"/>
              </a:tabLst>
            </a:pPr>
            <a:r>
              <a:rPr b="0" lang="en-US" sz="2000" spc="-1" strike="noStrike">
                <a:solidFill>
                  <a:srgbClr val="3366cc"/>
                </a:solidFill>
                <a:latin typeface="Calibri"/>
                <a:ea typeface="Calibri"/>
              </a:rPr>
              <a:t>	</a:t>
            </a:r>
            <a:endParaRPr b="0" lang="en-US" sz="2000" spc="-1" strike="noStrike">
              <a:solidFill>
                <a:srgbClr val="000000"/>
              </a:solidFill>
              <a:latin typeface="Calibri"/>
            </a:endParaRPr>
          </a:p>
          <a:p>
            <a:pPr marL="114480">
              <a:lnSpc>
                <a:spcPct val="100000"/>
              </a:lnSpc>
              <a:spcBef>
                <a:spcPts val="320"/>
              </a:spcBef>
              <a:buNone/>
              <a:tabLst>
                <a:tab algn="l" pos="0"/>
              </a:tabLst>
            </a:pPr>
            <a:r>
              <a:rPr b="0" lang="en-US" sz="1600" spc="-1" strike="noStrike">
                <a:solidFill>
                  <a:srgbClr val="000000"/>
                </a:solidFill>
                <a:latin typeface="Calibri"/>
                <a:ea typeface="Calibri"/>
              </a:rPr>
              <a:t>*Metric: measured as % correct execution</a:t>
            </a:r>
            <a:endParaRPr b="0" lang="en-US" sz="1600" spc="-1" strike="noStrike">
              <a:solidFill>
                <a:srgbClr val="000000"/>
              </a:solidFill>
              <a:latin typeface="Calibri"/>
            </a:endParaRPr>
          </a:p>
        </p:txBody>
      </p:sp>
      <p:pic>
        <p:nvPicPr>
          <p:cNvPr id="232" name="Picture 6" descr=""/>
          <p:cNvPicPr/>
          <p:nvPr/>
        </p:nvPicPr>
        <p:blipFill>
          <a:blip r:embed="rId1"/>
          <a:stretch/>
        </p:blipFill>
        <p:spPr>
          <a:xfrm>
            <a:off x="9437400" y="911880"/>
            <a:ext cx="2633400" cy="5725800"/>
          </a:xfrm>
          <a:prstGeom prst="rect">
            <a:avLst/>
          </a:prstGeom>
          <a:ln w="28575">
            <a:solidFill>
              <a:srgbClr val="5b9bd5"/>
            </a:solidFill>
            <a:round/>
          </a:ln>
        </p:spPr>
      </p:pic>
      <p:sp>
        <p:nvSpPr>
          <p:cNvPr id="233" name="Speech Bubble: Rectangle 4"/>
          <p:cNvSpPr/>
          <p:nvPr/>
        </p:nvSpPr>
        <p:spPr>
          <a:xfrm>
            <a:off x="6951960" y="1743840"/>
            <a:ext cx="2349360" cy="614160"/>
          </a:xfrm>
          <a:prstGeom prst="wedgeRectCallout">
            <a:avLst>
              <a:gd name="adj1" fmla="val -82494"/>
              <a:gd name="adj2" fmla="val 94319"/>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2000" spc="-1" strike="noStrike">
                <a:solidFill>
                  <a:srgbClr val="000000"/>
                </a:solidFill>
                <a:latin typeface="Calibri"/>
                <a:ea typeface="Calibri"/>
              </a:rPr>
              <a:t>Look at the absolute results!</a:t>
            </a:r>
            <a:endParaRPr b="0" lang="en-US" sz="2000" spc="-1" strike="noStrike">
              <a:latin typeface="Arial"/>
            </a:endParaRPr>
          </a:p>
        </p:txBody>
      </p:sp>
      <p:sp>
        <p:nvSpPr>
          <p:cNvPr id="234" name="Arrow: Down 7"/>
          <p:cNvSpPr/>
          <p:nvPr/>
        </p:nvSpPr>
        <p:spPr>
          <a:xfrm rot="18358200">
            <a:off x="9133920" y="3525840"/>
            <a:ext cx="470520" cy="1068120"/>
          </a:xfrm>
          <a:prstGeom prst="downArrow">
            <a:avLst>
              <a:gd name="adj1" fmla="val 50000"/>
              <a:gd name="adj2" fmla="val 50000"/>
            </a:avLst>
          </a:prstGeom>
          <a:solidFill>
            <a:srgbClr val="ff0000"/>
          </a:solidFill>
          <a:ln w="12700">
            <a:solidFill>
              <a:srgbClr val="ff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235" name="Speech Bubble: Rectangle 5"/>
          <p:cNvSpPr/>
          <p:nvPr/>
        </p:nvSpPr>
        <p:spPr>
          <a:xfrm>
            <a:off x="6959880" y="1734840"/>
            <a:ext cx="2349360" cy="614160"/>
          </a:xfrm>
          <a:prstGeom prst="wedgeRectCallout">
            <a:avLst>
              <a:gd name="adj1" fmla="val 49295"/>
              <a:gd name="adj2" fmla="val 251847"/>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2000" spc="-1" strike="noStrike">
                <a:solidFill>
                  <a:srgbClr val="000000"/>
                </a:solidFill>
                <a:latin typeface="Calibri"/>
                <a:ea typeface="Calibri"/>
              </a:rPr>
              <a:t>Look at the absolute results!</a:t>
            </a:r>
            <a:endParaRPr b="0" lang="en-US" sz="2000" spc="-1" strike="noStrike">
              <a:latin typeface="Arial"/>
            </a:endParaRPr>
          </a:p>
        </p:txBody>
      </p:sp>
      <p:sp>
        <p:nvSpPr>
          <p:cNvPr id="4" name="PlaceHolder 3"/>
          <p:cNvSpPr>
            <a:spLocks noGrp="1"/>
          </p:cNvSpPr>
          <p:nvPr>
            <p:ph type="sldNum" idx="2"/>
          </p:nvPr>
        </p:nvSpPr>
        <p:spPr/>
        <p:txBody>
          <a:bodyPr/>
          <a:p>
            <a:fld id="{1E381882-223B-4B12-8911-FF98BDB60703}" type="slidenum">
              <a:t>15</a:t>
            </a:fld>
          </a:p>
        </p:txBody>
      </p:sp>
    </p:spTree>
  </p:cSld>
  <mc:AlternateContent>
    <mc:Choice Requires="p14">
      <p:transition spd="slow" p14:dur="2000"/>
    </mc:Choice>
    <mc:Fallback>
      <p:transition spd="slow"/>
    </mc:Fallback>
  </mc:AlternateContent>
  <p:timing>
    <p:tnLst>
      <p:par>
        <p:cTn id="144" dur="indefinite" restart="never" nodeType="tmRoot">
          <p:childTnLst>
            <p:seq>
              <p:cTn id="145" dur="indefinite" nodeType="mainSeq">
                <p:childTnLst>
                  <p:par>
                    <p:cTn id="146" fill="hold">
                      <p:stCondLst>
                        <p:cond delay="indefinite"/>
                      </p:stCondLst>
                      <p:childTnLst>
                        <p:par>
                          <p:cTn id="147" fill="hold">
                            <p:stCondLst>
                              <p:cond delay="0"/>
                            </p:stCondLst>
                            <p:childTnLst>
                              <p:par>
                                <p:cTn id="148" nodeType="clickEffect" fill="hold" presetClass="entr" presetID="22" presetSubtype="1">
                                  <p:stCondLst>
                                    <p:cond delay="0"/>
                                  </p:stCondLst>
                                  <p:childTnLst>
                                    <p:set>
                                      <p:cBhvr>
                                        <p:cTn id="149" dur="1" fill="hold">
                                          <p:stCondLst>
                                            <p:cond delay="0"/>
                                          </p:stCondLst>
                                        </p:cTn>
                                        <p:tgtEl>
                                          <p:spTgt spid="232"/>
                                        </p:tgtEl>
                                        <p:attrNameLst>
                                          <p:attrName>style.visibility</p:attrName>
                                        </p:attrNameLst>
                                      </p:cBhvr>
                                      <p:to>
                                        <p:strVal val="visible"/>
                                      </p:to>
                                    </p:set>
                                    <p:animEffect filter="wipe(up)" transition="in">
                                      <p:cBhvr additive="repl">
                                        <p:cTn id="150" dur="1000"/>
                                        <p:tgtEl>
                                          <p:spTgt spid="232"/>
                                        </p:tgtEl>
                                      </p:cBhvr>
                                    </p:animEffect>
                                  </p:childTnLst>
                                </p:cTn>
                              </p:par>
                            </p:childTnLst>
                          </p:cTn>
                        </p:par>
                        <p:par>
                          <p:cTn id="151" fill="hold">
                            <p:stCondLst>
                              <p:cond delay="1000"/>
                            </p:stCondLst>
                            <p:childTnLst>
                              <p:par>
                                <p:cTn id="152" nodeType="afterEffect" fill="hold" presetClass="entr" presetID="2" presetSubtype="9">
                                  <p:stCondLst>
                                    <p:cond delay="0"/>
                                  </p:stCondLst>
                                  <p:childTnLst>
                                    <p:set>
                                      <p:cBhvr>
                                        <p:cTn id="153" dur="1" fill="hold">
                                          <p:stCondLst>
                                            <p:cond delay="0"/>
                                          </p:stCondLst>
                                        </p:cTn>
                                        <p:tgtEl>
                                          <p:spTgt spid="234"/>
                                        </p:tgtEl>
                                        <p:attrNameLst>
                                          <p:attrName>style.visibility</p:attrName>
                                        </p:attrNameLst>
                                      </p:cBhvr>
                                      <p:to>
                                        <p:strVal val="visible"/>
                                      </p:to>
                                    </p:set>
                                    <p:anim calcmode="lin" valueType="num">
                                      <p:cBhvr additive="repl">
                                        <p:cTn id="154" dur="1000" fill="hold"/>
                                        <p:tgtEl>
                                          <p:spTgt spid="234"/>
                                        </p:tgtEl>
                                        <p:attrNameLst>
                                          <p:attrName>ppt_x</p:attrName>
                                        </p:attrNameLst>
                                      </p:cBhvr>
                                      <p:tavLst>
                                        <p:tav tm="0">
                                          <p:val>
                                            <p:strVal val="0-#ppt_w/2"/>
                                          </p:val>
                                        </p:tav>
                                        <p:tav tm="100000">
                                          <p:val>
                                            <p:strVal val="#ppt_x"/>
                                          </p:val>
                                        </p:tav>
                                      </p:tavLst>
                                    </p:anim>
                                    <p:anim calcmode="lin" valueType="num">
                                      <p:cBhvr additive="repl">
                                        <p:cTn id="155" dur="1000" fill="hold"/>
                                        <p:tgtEl>
                                          <p:spTgt spid="234"/>
                                        </p:tgtEl>
                                        <p:attrNameLst>
                                          <p:attrName>ppt_y</p:attrName>
                                        </p:attrNameLst>
                                      </p:cBhvr>
                                      <p:tavLst>
                                        <p:tav tm="0">
                                          <p:val>
                                            <p:strVal val="0-#ppt_h/2"/>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nodeType="clickEffect" fill="hold" presetClass="entr" presetID="1">
                                  <p:stCondLst>
                                    <p:cond delay="0"/>
                                  </p:stCondLst>
                                  <p:childTnLst>
                                    <p:set>
                                      <p:cBhvr>
                                        <p:cTn id="159" dur="1" fill="hold">
                                          <p:stCondLst>
                                            <p:cond delay="0"/>
                                          </p:stCondLst>
                                        </p:cTn>
                                        <p:tgtEl>
                                          <p:spTgt spid="231">
                                            <p:txEl>
                                              <p:pRg st="0" end="0"/>
                                            </p:txEl>
                                          </p:spTgt>
                                        </p:tgtEl>
                                        <p:attrNameLst>
                                          <p:attrName>style.visibility</p:attrName>
                                        </p:attrNameLst>
                                      </p:cBhvr>
                                      <p:to>
                                        <p:strVal val="visible"/>
                                      </p:to>
                                    </p:set>
                                  </p:childTnLst>
                                </p:cTn>
                              </p:par>
                              <p:par>
                                <p:cTn id="160" nodeType="withEffect" fill="hold" presetClass="entr" presetID="1">
                                  <p:stCondLst>
                                    <p:cond delay="0"/>
                                  </p:stCondLst>
                                  <p:childTnLst>
                                    <p:set>
                                      <p:cBhvr>
                                        <p:cTn id="161" dur="1" fill="hold">
                                          <p:stCondLst>
                                            <p:cond delay="0"/>
                                          </p:stCondLst>
                                        </p:cTn>
                                        <p:tgtEl>
                                          <p:spTgt spid="231">
                                            <p:txEl>
                                              <p:pRg st="1" end="1"/>
                                            </p:txEl>
                                          </p:spTgt>
                                        </p:tgtEl>
                                        <p:attrNameLst>
                                          <p:attrName>style.visibility</p:attrName>
                                        </p:attrNameLst>
                                      </p:cBhvr>
                                      <p:to>
                                        <p:strVal val="visible"/>
                                      </p:to>
                                    </p:set>
                                  </p:childTnLst>
                                </p:cTn>
                              </p:par>
                              <p:par>
                                <p:cTn id="162" nodeType="withEffect" fill="hold" presetClass="entr" presetID="1">
                                  <p:stCondLst>
                                    <p:cond delay="0"/>
                                  </p:stCondLst>
                                  <p:childTnLst>
                                    <p:set>
                                      <p:cBhvr>
                                        <p:cTn id="163" dur="1" fill="hold">
                                          <p:stCondLst>
                                            <p:cond delay="0"/>
                                          </p:stCondLst>
                                        </p:cTn>
                                        <p:tgtEl>
                                          <p:spTgt spid="231">
                                            <p:txEl>
                                              <p:pRg st="2" end="2"/>
                                            </p:txEl>
                                          </p:spTgt>
                                        </p:tgtEl>
                                        <p:attrNameLst>
                                          <p:attrName>style.visibility</p:attrName>
                                        </p:attrNameLst>
                                      </p:cBhvr>
                                      <p:to>
                                        <p:strVal val="visible"/>
                                      </p:to>
                                    </p:set>
                                  </p:childTnLst>
                                </p:cTn>
                              </p:par>
                              <p:par>
                                <p:cTn id="164" nodeType="withEffect" fill="hold" presetClass="entr" presetID="1">
                                  <p:stCondLst>
                                    <p:cond delay="0"/>
                                  </p:stCondLst>
                                  <p:childTnLst>
                                    <p:set>
                                      <p:cBhvr>
                                        <p:cTn id="165" dur="1" fill="hold">
                                          <p:stCondLst>
                                            <p:cond delay="0"/>
                                          </p:stCondLst>
                                        </p:cTn>
                                        <p:tgtEl>
                                          <p:spTgt spid="231">
                                            <p:txEl>
                                              <p:pRg st="3" end="3"/>
                                            </p:txEl>
                                          </p:spTgt>
                                        </p:tgtEl>
                                        <p:attrNameLst>
                                          <p:attrName>style.visibility</p:attrName>
                                        </p:attrNameLst>
                                      </p:cBhvr>
                                      <p:to>
                                        <p:strVal val="visible"/>
                                      </p:to>
                                    </p:set>
                                  </p:childTnLst>
                                </p:cTn>
                              </p:par>
                              <p:par>
                                <p:cTn id="166" nodeType="withEffect" fill="hold" presetClass="entr" presetID="1">
                                  <p:stCondLst>
                                    <p:cond delay="0"/>
                                  </p:stCondLst>
                                  <p:childTnLst>
                                    <p:set>
                                      <p:cBhvr>
                                        <p:cTn id="167" dur="1" fill="hold">
                                          <p:stCondLst>
                                            <p:cond delay="0"/>
                                          </p:stCondLst>
                                        </p:cTn>
                                        <p:tgtEl>
                                          <p:spTgt spid="231">
                                            <p:txEl>
                                              <p:pRg st="10" end="10"/>
                                            </p:txEl>
                                          </p:spTgt>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nodeType="clickEffect" fill="hold" presetClass="entr" presetID="1">
                                  <p:stCondLst>
                                    <p:cond delay="0"/>
                                  </p:stCondLst>
                                  <p:childTnLst>
                                    <p:set>
                                      <p:cBhvr>
                                        <p:cTn id="171" dur="1" fill="hold">
                                          <p:stCondLst>
                                            <p:cond delay="0"/>
                                          </p:stCondLst>
                                        </p:cTn>
                                        <p:tgtEl>
                                          <p:spTgt spid="233"/>
                                        </p:tgtEl>
                                        <p:attrNameLst>
                                          <p:attrName>style.visibility</p:attrName>
                                        </p:attrNameLst>
                                      </p:cBhvr>
                                      <p:to>
                                        <p:strVal val="visible"/>
                                      </p:to>
                                    </p:set>
                                  </p:childTnLst>
                                </p:cTn>
                              </p:par>
                              <p:par>
                                <p:cTn id="172" nodeType="withEffect" fill="hold" presetClass="entr" presetID="1">
                                  <p:stCondLst>
                                    <p:cond delay="0"/>
                                  </p:stCondLst>
                                  <p:childTnLst>
                                    <p:set>
                                      <p:cBhvr>
                                        <p:cTn id="173" dur="1" fill="hold">
                                          <p:stCondLst>
                                            <p:cond delay="0"/>
                                          </p:stCondLst>
                                        </p:cTn>
                                        <p:tgtEl>
                                          <p:spTgt spid="235"/>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nodeType="clickEffect" fill="hold" presetClass="entr" presetID="1">
                                  <p:stCondLst>
                                    <p:cond delay="0"/>
                                  </p:stCondLst>
                                  <p:childTnLst>
                                    <p:set>
                                      <p:cBhvr>
                                        <p:cTn id="177" dur="1" fill="hold">
                                          <p:stCondLst>
                                            <p:cond delay="0"/>
                                          </p:stCondLst>
                                        </p:cTn>
                                        <p:tgtEl>
                                          <p:spTgt spid="231">
                                            <p:txEl>
                                              <p:pRg st="5" end="5"/>
                                            </p:txEl>
                                          </p:spTgt>
                                        </p:tgtEl>
                                        <p:attrNameLst>
                                          <p:attrName>style.visibility</p:attrName>
                                        </p:attrNameLst>
                                      </p:cBhvr>
                                      <p:to>
                                        <p:strVal val="visible"/>
                                      </p:to>
                                    </p:set>
                                  </p:childTnLst>
                                </p:cTn>
                              </p:par>
                              <p:par>
                                <p:cTn id="178" nodeType="withEffect" fill="hold" presetClass="entr" presetID="1">
                                  <p:stCondLst>
                                    <p:cond delay="0"/>
                                  </p:stCondLst>
                                  <p:childTnLst>
                                    <p:set>
                                      <p:cBhvr>
                                        <p:cTn id="179" dur="1" fill="hold">
                                          <p:stCondLst>
                                            <p:cond delay="0"/>
                                          </p:stCondLst>
                                        </p:cTn>
                                        <p:tgtEl>
                                          <p:spTgt spid="231">
                                            <p:txEl>
                                              <p:pRg st="6" end="6"/>
                                            </p:txEl>
                                          </p:spTgt>
                                        </p:tgtEl>
                                        <p:attrNameLst>
                                          <p:attrName>style.visibility</p:attrName>
                                        </p:attrNameLst>
                                      </p:cBhvr>
                                      <p:to>
                                        <p:strVal val="visible"/>
                                      </p:to>
                                    </p:set>
                                  </p:childTnLst>
                                </p:cTn>
                              </p:par>
                              <p:par>
                                <p:cTn id="180" nodeType="withEffect" fill="hold" presetClass="entr" presetID="1">
                                  <p:stCondLst>
                                    <p:cond delay="0"/>
                                  </p:stCondLst>
                                  <p:childTnLst>
                                    <p:set>
                                      <p:cBhvr>
                                        <p:cTn id="181" dur="1" fill="hold">
                                          <p:stCondLst>
                                            <p:cond delay="0"/>
                                          </p:stCondLst>
                                        </p:cTn>
                                        <p:tgtEl>
                                          <p:spTgt spid="231">
                                            <p:txEl>
                                              <p:pRg st="7" end="7"/>
                                            </p:txEl>
                                          </p:spTgt>
                                        </p:tgtEl>
                                        <p:attrNameLst>
                                          <p:attrName>style.visibility</p:attrName>
                                        </p:attrNameLst>
                                      </p:cBhvr>
                                      <p:to>
                                        <p:strVal val="visible"/>
                                      </p:to>
                                    </p:set>
                                  </p:childTnLst>
                                </p:cTn>
                              </p:par>
                              <p:par>
                                <p:cTn id="182" nodeType="withEffect" fill="hold" presetClass="entr" presetID="1">
                                  <p:stCondLst>
                                    <p:cond delay="0"/>
                                  </p:stCondLst>
                                  <p:childTnLst>
                                    <p:set>
                                      <p:cBhvr>
                                        <p:cTn id="183" dur="1" fill="hold">
                                          <p:stCondLst>
                                            <p:cond delay="0"/>
                                          </p:stCondLst>
                                        </p:cTn>
                                        <p:tgtEl>
                                          <p:spTgt spid="231">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Why is it Hard?</a:t>
            </a:r>
            <a:endParaRPr b="0" lang="en-US" sz="4000" spc="-1" strike="noStrike">
              <a:solidFill>
                <a:srgbClr val="000000"/>
              </a:solidFill>
              <a:latin typeface="Calibri"/>
            </a:endParaRPr>
          </a:p>
        </p:txBody>
      </p:sp>
      <p:sp>
        <p:nvSpPr>
          <p:cNvPr id="237" name="PlaceHolder 2"/>
          <p:cNvSpPr>
            <a:spLocks noGrp="1"/>
          </p:cNvSpPr>
          <p:nvPr>
            <p:ph/>
          </p:nvPr>
        </p:nvSpPr>
        <p:spPr>
          <a:xfrm>
            <a:off x="609480" y="910080"/>
            <a:ext cx="11190240" cy="1370880"/>
          </a:xfrm>
          <a:prstGeom prst="rect">
            <a:avLst/>
          </a:prstGeom>
          <a:noFill/>
          <a:ln w="0">
            <a:noFill/>
          </a:ln>
        </p:spPr>
        <p:txBody>
          <a:bodyPr numCol="1" spcCol="0" anchor="t">
            <a:noAutofit/>
          </a:bodyPr>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In order to access the knowledge we need, and do it efficiently, it is essential to </a:t>
            </a:r>
            <a:endParaRPr b="0" lang="en-US" sz="2000" spc="-1" strike="noStrike">
              <a:solidFill>
                <a:srgbClr val="000000"/>
              </a:solidFill>
              <a:latin typeface="Calibri"/>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(1) Develop an </a:t>
            </a:r>
            <a:r>
              <a:rPr b="1" lang="en-US" sz="1800" spc="-1" strike="noStrike">
                <a:solidFill>
                  <a:srgbClr val="3366cc"/>
                </a:solidFill>
                <a:latin typeface="Calibri"/>
                <a:ea typeface="Calibri"/>
              </a:rPr>
              <a:t>abstract semantic layer</a:t>
            </a:r>
            <a:r>
              <a:rPr b="0" lang="en-US" sz="1800" spc="-1" strike="noStrike">
                <a:solidFill>
                  <a:srgbClr val="3366cc"/>
                </a:solidFill>
                <a:latin typeface="Calibri"/>
                <a:ea typeface="Calibri"/>
              </a:rPr>
              <a:t> on top of existing data sources (to bring the data closer to the needs), and </a:t>
            </a:r>
            <a:endParaRPr b="0" lang="en-US" sz="1800" spc="-1" strike="noStrike">
              <a:solidFill>
                <a:srgbClr val="000000"/>
              </a:solidFill>
              <a:latin typeface="Calibri"/>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(2) </a:t>
            </a:r>
            <a:r>
              <a:rPr b="1" lang="en-US" sz="1800" spc="-1" strike="noStrike">
                <a:solidFill>
                  <a:srgbClr val="3366cc"/>
                </a:solidFill>
                <a:latin typeface="Calibri"/>
                <a:ea typeface="Calibri"/>
              </a:rPr>
              <a:t>Structure:</a:t>
            </a:r>
            <a:r>
              <a:rPr b="0" lang="en-US" sz="1800" spc="-1" strike="noStrike">
                <a:solidFill>
                  <a:srgbClr val="3366cc"/>
                </a:solidFill>
                <a:latin typeface="Calibri"/>
                <a:ea typeface="Calibri"/>
              </a:rPr>
              <a:t> Understand </a:t>
            </a:r>
            <a:r>
              <a:rPr b="1" lang="en-US" sz="1800" spc="-1" strike="noStrike">
                <a:solidFill>
                  <a:srgbClr val="3366cc"/>
                </a:solidFill>
                <a:latin typeface="Calibri"/>
                <a:ea typeface="Calibri"/>
              </a:rPr>
              <a:t>how the data is organized </a:t>
            </a:r>
            <a:r>
              <a:rPr b="0" lang="en-US" sz="1800" spc="-1" strike="noStrike">
                <a:solidFill>
                  <a:srgbClr val="3366cc"/>
                </a:solidFill>
                <a:latin typeface="Calibri"/>
                <a:ea typeface="Calibri"/>
              </a:rPr>
              <a:t>so that we can plan well </a:t>
            </a:r>
            <a:endParaRPr b="0" lang="en-US" sz="1800" spc="-1" strike="noStrike">
              <a:solidFill>
                <a:srgbClr val="000000"/>
              </a:solidFill>
              <a:latin typeface="Calibri"/>
            </a:endParaRPr>
          </a:p>
        </p:txBody>
      </p:sp>
      <p:sp>
        <p:nvSpPr>
          <p:cNvPr id="238" name="Content Placeholder 2"/>
          <p:cNvSpPr/>
          <p:nvPr/>
        </p:nvSpPr>
        <p:spPr>
          <a:xfrm>
            <a:off x="6460920" y="2464920"/>
            <a:ext cx="5333760" cy="2517480"/>
          </a:xfrm>
          <a:prstGeom prst="rect">
            <a:avLst/>
          </a:prstGeom>
          <a:solidFill>
            <a:schemeClr val="bg1">
              <a:lumMod val="95000"/>
            </a:schemeClr>
          </a:solidFill>
          <a:ln w="9525">
            <a:solidFill>
              <a:srgbClr val="00000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On the Data (base) side:</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Schemas could have a </a:t>
            </a:r>
            <a:r>
              <a:rPr b="1" lang="en-US" sz="1800" spc="-1" strike="noStrike">
                <a:solidFill>
                  <a:srgbClr val="3366cc"/>
                </a:solidFill>
                <a:latin typeface="Calibri"/>
                <a:ea typeface="Calibri"/>
              </a:rPr>
              <a:t>complex structure </a:t>
            </a:r>
            <a:endParaRPr b="0" lang="en-US" sz="1800" spc="-1" strike="noStrike">
              <a:latin typeface="Arial"/>
            </a:endParaRPr>
          </a:p>
          <a:p>
            <a:pPr lvl="2" marL="1143000" indent="-228600">
              <a:lnSpc>
                <a:spcPct val="100000"/>
              </a:lnSpc>
              <a:spcBef>
                <a:spcPts val="320"/>
              </a:spcBef>
              <a:buClr>
                <a:srgbClr val="3b3838"/>
              </a:buClr>
              <a:buSzPct val="65000"/>
              <a:buFont typeface="Wingdings" charset="2"/>
              <a:buChar char=""/>
            </a:pPr>
            <a:r>
              <a:rPr b="0" lang="en-US" sz="1600" spc="-1" strike="noStrike">
                <a:solidFill>
                  <a:srgbClr val="000000"/>
                </a:solidFill>
                <a:latin typeface="Calibri"/>
                <a:ea typeface="Calibri"/>
              </a:rPr>
              <a:t>Difficult to retrieve the right tables.</a:t>
            </a:r>
            <a:endParaRPr b="0" lang="en-US" sz="1600" spc="-1" strike="noStrike">
              <a:latin typeface="Arial"/>
            </a:endParaRPr>
          </a:p>
          <a:p>
            <a:pPr lvl="1" marL="743040" indent="-285840">
              <a:lnSpc>
                <a:spcPct val="100000"/>
              </a:lnSpc>
              <a:spcBef>
                <a:spcPts val="360"/>
              </a:spcBef>
              <a:buClr>
                <a:srgbClr val="3b3838"/>
              </a:buClr>
              <a:buSzPct val="80000"/>
              <a:buFont typeface="Wingdings" charset="2"/>
              <a:buChar char=""/>
            </a:pPr>
            <a:r>
              <a:rPr b="1" lang="en-US" sz="1800" spc="-1" strike="noStrike">
                <a:solidFill>
                  <a:srgbClr val="3366cc"/>
                </a:solidFill>
                <a:latin typeface="Calibri"/>
                <a:ea typeface="Calibri"/>
              </a:rPr>
              <a:t>Naming: </a:t>
            </a:r>
            <a:endParaRPr b="0" lang="en-US" sz="1800" spc="-1" strike="noStrike">
              <a:latin typeface="Arial"/>
            </a:endParaRPr>
          </a:p>
          <a:p>
            <a:pPr lvl="2" marL="1143000" indent="-228600">
              <a:lnSpc>
                <a:spcPct val="100000"/>
              </a:lnSpc>
              <a:spcBef>
                <a:spcPts val="320"/>
              </a:spcBef>
              <a:buClr>
                <a:srgbClr val="3b3838"/>
              </a:buClr>
              <a:buSzPct val="65000"/>
              <a:buFont typeface="Wingdings" charset="2"/>
              <a:buChar char=""/>
            </a:pPr>
            <a:r>
              <a:rPr b="0" lang="en-US" sz="1600" spc="-1" strike="noStrike">
                <a:solidFill>
                  <a:srgbClr val="000000"/>
                </a:solidFill>
                <a:latin typeface="Calibri"/>
                <a:ea typeface="Calibri"/>
              </a:rPr>
              <a:t>Often ambiguous and uninformative</a:t>
            </a:r>
            <a:endParaRPr b="0" lang="en-US" sz="1600" spc="-1" strike="noStrike">
              <a:latin typeface="Arial"/>
            </a:endParaRPr>
          </a:p>
          <a:p>
            <a:pPr lvl="2" marL="1143000" indent="-228600">
              <a:lnSpc>
                <a:spcPct val="100000"/>
              </a:lnSpc>
              <a:spcBef>
                <a:spcPts val="320"/>
              </a:spcBef>
              <a:buClr>
                <a:srgbClr val="3b3838"/>
              </a:buClr>
              <a:buSzPct val="65000"/>
              <a:buFont typeface="Wingdings" charset="2"/>
              <a:buChar char=""/>
            </a:pPr>
            <a:r>
              <a:rPr b="0" lang="en-US" sz="1600" spc="-1" strike="noStrike">
                <a:solidFill>
                  <a:srgbClr val="000000"/>
                </a:solidFill>
                <a:latin typeface="Calibri"/>
                <a:ea typeface="Calibri"/>
              </a:rPr>
              <a:t>Entity linking</a:t>
            </a:r>
            <a:endParaRPr b="0" lang="en-US" sz="1600" spc="-1" strike="noStrike">
              <a:latin typeface="Arial"/>
            </a:endParaRPr>
          </a:p>
        </p:txBody>
      </p:sp>
      <p:sp>
        <p:nvSpPr>
          <p:cNvPr id="239" name="Content Placeholder 2"/>
          <p:cNvSpPr/>
          <p:nvPr/>
        </p:nvSpPr>
        <p:spPr>
          <a:xfrm>
            <a:off x="313920" y="2464920"/>
            <a:ext cx="5333760" cy="2517480"/>
          </a:xfrm>
          <a:prstGeom prst="rect">
            <a:avLst/>
          </a:prstGeom>
          <a:solidFill>
            <a:schemeClr val="bg1">
              <a:lumMod val="95000"/>
            </a:schemeClr>
          </a:solidFill>
          <a:ln w="9525">
            <a:solidFill>
              <a:srgbClr val="00000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On the Query side:</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1" lang="en-US" sz="1800" spc="-1" strike="noStrike">
                <a:solidFill>
                  <a:srgbClr val="3366cc"/>
                </a:solidFill>
                <a:latin typeface="Calibri"/>
                <a:ea typeface="Calibri"/>
              </a:rPr>
              <a:t>Semantic similarity:</a:t>
            </a:r>
            <a:endParaRPr b="0" lang="en-US" sz="1800" spc="-1" strike="noStrike">
              <a:latin typeface="Arial"/>
            </a:endParaRPr>
          </a:p>
          <a:p>
            <a:pPr lvl="2" marL="1143000" indent="-228600">
              <a:lnSpc>
                <a:spcPct val="100000"/>
              </a:lnSpc>
              <a:spcBef>
                <a:spcPts val="320"/>
              </a:spcBef>
              <a:buClr>
                <a:srgbClr val="3b3838"/>
              </a:buClr>
              <a:buSzPct val="65000"/>
              <a:buFont typeface="Wingdings" charset="2"/>
              <a:buChar char=""/>
            </a:pPr>
            <a:r>
              <a:rPr b="0" lang="en-US" sz="1600" spc="-1" strike="noStrike">
                <a:solidFill>
                  <a:srgbClr val="000000"/>
                </a:solidFill>
                <a:latin typeface="Calibri"/>
                <a:ea typeface="Calibri"/>
              </a:rPr>
              <a:t>Queries and data objects are not “similar”, and even when they are often it’s not sufficient. </a:t>
            </a:r>
            <a:endParaRPr b="0" lang="en-US" sz="1600" spc="-1" strike="noStrike">
              <a:latin typeface="Arial"/>
            </a:endParaRPr>
          </a:p>
          <a:p>
            <a:pPr lvl="1" marL="743040" indent="-285840">
              <a:lnSpc>
                <a:spcPct val="100000"/>
              </a:lnSpc>
              <a:spcBef>
                <a:spcPts val="360"/>
              </a:spcBef>
              <a:buClr>
                <a:srgbClr val="3b3838"/>
              </a:buClr>
              <a:buSzPct val="80000"/>
              <a:buFont typeface="Wingdings" charset="2"/>
              <a:buChar char=""/>
            </a:pPr>
            <a:r>
              <a:rPr b="1" lang="en-US" sz="1800" spc="-1" strike="noStrike">
                <a:solidFill>
                  <a:srgbClr val="3366cc"/>
                </a:solidFill>
                <a:latin typeface="Calibri"/>
                <a:ea typeface="Calibri"/>
              </a:rPr>
              <a:t>Complex queries: </a:t>
            </a:r>
            <a:endParaRPr b="0" lang="en-US" sz="1800" spc="-1" strike="noStrike">
              <a:latin typeface="Arial"/>
            </a:endParaRPr>
          </a:p>
          <a:p>
            <a:pPr lvl="2" marL="1143000" indent="-228600">
              <a:lnSpc>
                <a:spcPct val="100000"/>
              </a:lnSpc>
              <a:spcBef>
                <a:spcPts val="320"/>
              </a:spcBef>
              <a:buClr>
                <a:srgbClr val="3b3838"/>
              </a:buClr>
              <a:buSzPct val="65000"/>
              <a:buFont typeface="Wingdings" charset="2"/>
              <a:buChar char=""/>
            </a:pPr>
            <a:r>
              <a:rPr b="0" lang="en-US" sz="1600" spc="-1" strike="noStrike">
                <a:solidFill>
                  <a:srgbClr val="000000"/>
                </a:solidFill>
                <a:latin typeface="Calibri"/>
                <a:ea typeface="Calibri"/>
              </a:rPr>
              <a:t>Require decomposition that is often structure aware</a:t>
            </a:r>
            <a:endParaRPr b="0" lang="en-US" sz="1600" spc="-1" strike="noStrike">
              <a:latin typeface="Arial"/>
            </a:endParaRPr>
          </a:p>
        </p:txBody>
      </p:sp>
      <p:sp>
        <p:nvSpPr>
          <p:cNvPr id="240" name="Content Placeholder 2"/>
          <p:cNvSpPr/>
          <p:nvPr/>
        </p:nvSpPr>
        <p:spPr>
          <a:xfrm>
            <a:off x="2776320" y="5195880"/>
            <a:ext cx="6638760" cy="1361880"/>
          </a:xfrm>
          <a:prstGeom prst="rect">
            <a:avLst/>
          </a:prstGeom>
          <a:solidFill>
            <a:schemeClr val="bg1">
              <a:lumMod val="95000"/>
            </a:schemeClr>
          </a:solidFill>
          <a:ln w="9525">
            <a:solidFill>
              <a:srgbClr val="00000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1" lang="en-US" sz="2000" spc="-1" strike="noStrike">
                <a:solidFill>
                  <a:srgbClr val="000000"/>
                </a:solidFill>
                <a:latin typeface="Calibri"/>
                <a:ea typeface="Calibri"/>
              </a:rPr>
              <a:t>Reasoning:</a:t>
            </a:r>
            <a:r>
              <a:rPr b="0" lang="en-US" sz="2000" spc="-1" strike="noStrike">
                <a:solidFill>
                  <a:srgbClr val="000000"/>
                </a:solidFill>
                <a:latin typeface="Calibri"/>
                <a:ea typeface="Calibri"/>
              </a:rPr>
              <a:t> Queries could require supporting specific types of reasoning that evade general purpose models</a:t>
            </a:r>
            <a:endParaRPr b="0" lang="en-US" sz="2000" spc="-1" strike="noStrike">
              <a:latin typeface="Arial"/>
            </a:endParaRPr>
          </a:p>
          <a:p>
            <a:pPr lvl="1" marL="743040" indent="-285840">
              <a:lnSpc>
                <a:spcPct val="100000"/>
              </a:lnSpc>
              <a:spcBef>
                <a:spcPts val="320"/>
              </a:spcBef>
              <a:buClr>
                <a:srgbClr val="3b3838"/>
              </a:buClr>
              <a:buSzPct val="80000"/>
              <a:buFont typeface="Wingdings" charset="2"/>
              <a:buChar char=""/>
            </a:pPr>
            <a:r>
              <a:rPr b="0" lang="en-US" sz="1600" spc="-1" strike="noStrike">
                <a:solidFill>
                  <a:srgbClr val="3366cc"/>
                </a:solidFill>
                <a:latin typeface="Calibri"/>
                <a:ea typeface="Calibri"/>
              </a:rPr>
              <a:t>Aggregation of information, temporal references and reasoning, counterfactuals,…</a:t>
            </a:r>
            <a:endParaRPr b="0" lang="en-US" sz="1600" spc="-1" strike="noStrike">
              <a:latin typeface="Arial"/>
            </a:endParaRPr>
          </a:p>
        </p:txBody>
      </p:sp>
      <p:sp>
        <p:nvSpPr>
          <p:cNvPr id="241" name="Speech Bubble: Rectangle 4"/>
          <p:cNvSpPr/>
          <p:nvPr/>
        </p:nvSpPr>
        <p:spPr>
          <a:xfrm>
            <a:off x="6833880" y="67680"/>
            <a:ext cx="2293560" cy="628920"/>
          </a:xfrm>
          <a:prstGeom prst="wedgeRectCallout">
            <a:avLst>
              <a:gd name="adj1" fmla="val -97344"/>
              <a:gd name="adj2" fmla="val 17469"/>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600" spc="-1" strike="noStrike">
                <a:solidFill>
                  <a:srgbClr val="000000"/>
                </a:solidFill>
                <a:latin typeface="Calibri"/>
                <a:ea typeface="Calibri"/>
              </a:rPr>
              <a:t>Many exciting problems to think about</a:t>
            </a:r>
            <a:endParaRPr b="0" lang="en-US" sz="1600" spc="-1" strike="noStrike">
              <a:latin typeface="Arial"/>
            </a:endParaRPr>
          </a:p>
        </p:txBody>
      </p:sp>
      <p:sp>
        <p:nvSpPr>
          <p:cNvPr id="4" name="PlaceHolder 3"/>
          <p:cNvSpPr>
            <a:spLocks noGrp="1"/>
          </p:cNvSpPr>
          <p:nvPr>
            <p:ph type="sldNum" idx="2"/>
          </p:nvPr>
        </p:nvSpPr>
        <p:spPr/>
        <p:txBody>
          <a:bodyPr/>
          <a:p>
            <a:fld id="{4C7A08E7-B8B3-4B88-85C9-62D1018DFC0B}" type="slidenum">
              <a:t>16</a:t>
            </a:fld>
          </a:p>
        </p:txBody>
      </p:sp>
    </p:spTree>
  </p:cSld>
  <mc:AlternateContent>
    <mc:Choice Requires="p14">
      <p:transition spd="slow" p14:dur="2000"/>
    </mc:Choice>
    <mc:Fallback>
      <p:transition spd="slow"/>
    </mc:Fallback>
  </mc:AlternateContent>
  <p:timing>
    <p:tnLst>
      <p:par>
        <p:cTn id="184" dur="indefinite" restart="never" nodeType="tmRoot">
          <p:childTnLst>
            <p:seq>
              <p:cTn id="185" dur="indefinite" nodeType="mainSeq">
                <p:childTnLst>
                  <p:par>
                    <p:cTn id="186" fill="hold">
                      <p:stCondLst>
                        <p:cond delay="indefinite"/>
                      </p:stCondLst>
                      <p:childTnLst>
                        <p:par>
                          <p:cTn id="187" fill="hold">
                            <p:stCondLst>
                              <p:cond delay="0"/>
                            </p:stCondLst>
                            <p:childTnLst>
                              <p:par>
                                <p:cTn id="188" nodeType="withEffect" fill="hold" presetClass="entr" presetID="1">
                                  <p:stCondLst>
                                    <p:cond delay="0"/>
                                  </p:stCondLst>
                                  <p:childTnLst>
                                    <p:set>
                                      <p:cBhvr>
                                        <p:cTn id="189" dur="1" fill="hold">
                                          <p:stCondLst>
                                            <p:cond delay="0"/>
                                          </p:stCondLst>
                                        </p:cTn>
                                        <p:tgtEl>
                                          <p:spTgt spid="238"/>
                                        </p:tgtEl>
                                        <p:attrNameLst>
                                          <p:attrName>style.visibility</p:attrName>
                                        </p:attrNameLst>
                                      </p:cBhvr>
                                      <p:to>
                                        <p:strVal val="visible"/>
                                      </p:to>
                                    </p:set>
                                  </p:childTnLst>
                                </p:cTn>
                              </p:par>
                              <p:par>
                                <p:cTn id="190" nodeType="withEffect" fill="hold" presetClass="entr" presetID="1">
                                  <p:stCondLst>
                                    <p:cond delay="0"/>
                                  </p:stCondLst>
                                  <p:childTnLst>
                                    <p:set>
                                      <p:cBhvr>
                                        <p:cTn id="191" dur="1" fill="hold">
                                          <p:stCondLst>
                                            <p:cond delay="0"/>
                                          </p:stCondLst>
                                        </p:cTn>
                                        <p:tgtEl>
                                          <p:spTgt spid="239"/>
                                        </p:tgtEl>
                                        <p:attrNameLst>
                                          <p:attrName>style.visibility</p:attrName>
                                        </p:attrNameLst>
                                      </p:cBhvr>
                                      <p:to>
                                        <p:strVal val="visible"/>
                                      </p:to>
                                    </p:set>
                                  </p:childTnLst>
                                </p:cTn>
                              </p:par>
                              <p:par>
                                <p:cTn id="192" nodeType="withEffect" fill="hold" presetClass="entr" presetID="1">
                                  <p:stCondLst>
                                    <p:cond delay="0"/>
                                  </p:stCondLst>
                                  <p:childTnLst>
                                    <p:set>
                                      <p:cBhvr>
                                        <p:cTn id="193" dur="1" fill="hold">
                                          <p:stCondLst>
                                            <p:cond delay="0"/>
                                          </p:stCondLst>
                                        </p:cTn>
                                        <p:tgtEl>
                                          <p:spTgt spid="240"/>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nodeType="clickEffect" fill="hold" presetClass="entr" presetID="1">
                                  <p:stCondLst>
                                    <p:cond delay="0"/>
                                  </p:stCondLst>
                                  <p:childTnLst>
                                    <p:set>
                                      <p:cBhvr>
                                        <p:cTn id="197"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ORACLE AI Solution: SOMA-SQL </a:t>
            </a:r>
            <a:r>
              <a:rPr b="0" lang="en-US" sz="2000" spc="-1" strike="noStrike">
                <a:solidFill>
                  <a:srgbClr val="000000"/>
                </a:solidFill>
                <a:latin typeface="Calibri"/>
                <a:ea typeface="Calibri"/>
              </a:rPr>
              <a:t>[Somayajula, Liu, et al.’26]</a:t>
            </a:r>
            <a:endParaRPr b="0" lang="en-US" sz="2000" spc="-1" strike="noStrike">
              <a:solidFill>
                <a:srgbClr val="000000"/>
              </a:solidFill>
              <a:latin typeface="Calibri"/>
            </a:endParaRPr>
          </a:p>
        </p:txBody>
      </p:sp>
      <p:sp>
        <p:nvSpPr>
          <p:cNvPr id="243" name="PlaceHolder 2"/>
          <p:cNvSpPr>
            <a:spLocks noGrp="1"/>
          </p:cNvSpPr>
          <p:nvPr>
            <p:ph/>
          </p:nvPr>
        </p:nvSpPr>
        <p:spPr>
          <a:xfrm>
            <a:off x="265680" y="1251720"/>
            <a:ext cx="6168240" cy="44845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2d2d2d"/>
                </a:solidFill>
                <a:latin typeface="Calibri"/>
                <a:ea typeface="Calibri"/>
              </a:rPr>
              <a:t>NL Question: "What were the </a:t>
            </a:r>
            <a:r>
              <a:rPr b="0" lang="en-US" sz="2400" spc="-1" strike="noStrike">
                <a:solidFill>
                  <a:srgbClr val="3366cc"/>
                </a:solidFill>
                <a:latin typeface="Calibri"/>
                <a:ea typeface="Calibri"/>
              </a:rPr>
              <a:t>top-performing</a:t>
            </a:r>
            <a:r>
              <a:rPr b="0" lang="en-US" sz="2400" spc="-1" strike="noStrike">
                <a:solidFill>
                  <a:srgbClr val="2d2d2d"/>
                </a:solidFill>
                <a:latin typeface="Calibri"/>
                <a:ea typeface="Calibri"/>
              </a:rPr>
              <a:t> regions in </a:t>
            </a:r>
            <a:r>
              <a:rPr b="0" lang="en-US" sz="2400" spc="-1" strike="noStrike">
                <a:solidFill>
                  <a:srgbClr val="3366cc"/>
                </a:solidFill>
                <a:latin typeface="Calibri"/>
                <a:ea typeface="Calibri"/>
              </a:rPr>
              <a:t>New York last quarter</a:t>
            </a:r>
            <a:r>
              <a:rPr b="0" lang="en-US" sz="2400" spc="-1" strike="noStrike">
                <a:solidFill>
                  <a:srgbClr val="2d2d2d"/>
                </a:solidFill>
                <a:latin typeface="Calibri"/>
                <a:ea typeface="Calibri"/>
              </a:rPr>
              <a:t>?“</a:t>
            </a:r>
            <a:endParaRPr b="0" lang="en-US" sz="2400" spc="-1" strike="noStrike">
              <a:solidFill>
                <a:srgbClr val="000000"/>
              </a:solidFill>
              <a:latin typeface="Calibri"/>
            </a:endParaRPr>
          </a:p>
          <a:p>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2d2d2d"/>
                </a:solidFill>
                <a:latin typeface="Calibri"/>
                <a:ea typeface="Calibri"/>
              </a:rPr>
              <a:t>Query-level ambiguity – underspecified intent: </a:t>
            </a:r>
            <a:endParaRPr b="0" lang="en-US" sz="2000" spc="-1" strike="noStrike">
              <a:solidFill>
                <a:srgbClr val="000000"/>
              </a:solidFill>
              <a:latin typeface="Calibri"/>
            </a:endParaRPr>
          </a:p>
          <a:p>
            <a:pPr lvl="2" marL="1143000" indent="-228600">
              <a:lnSpc>
                <a:spcPct val="100000"/>
              </a:lnSpc>
              <a:spcBef>
                <a:spcPts val="360"/>
              </a:spcBef>
              <a:buClr>
                <a:srgbClr val="3b3838"/>
              </a:buClr>
              <a:buSzPct val="65000"/>
              <a:buFont typeface="Wingdings" charset="2"/>
              <a:buChar char=""/>
            </a:pPr>
            <a:r>
              <a:rPr b="1" lang="en-US" sz="1800" spc="-1" strike="noStrike">
                <a:solidFill>
                  <a:srgbClr val="000000"/>
                </a:solidFill>
                <a:latin typeface="Calibri"/>
                <a:ea typeface="Calibri"/>
              </a:rPr>
              <a:t>New York: </a:t>
            </a:r>
            <a:r>
              <a:rPr b="0" lang="en-US" sz="1800" spc="-1" strike="noStrike">
                <a:solidFill>
                  <a:srgbClr val="4a4f57"/>
                </a:solidFill>
                <a:latin typeface="Calibri"/>
                <a:ea typeface="Calibri"/>
              </a:rPr>
              <a:t>city, state, NYSE value</a:t>
            </a:r>
            <a:endParaRPr b="0" lang="en-US" sz="1800" spc="-1" strike="noStrike">
              <a:solidFill>
                <a:srgbClr val="000000"/>
              </a:solidFill>
              <a:latin typeface="Calibri"/>
            </a:endParaRPr>
          </a:p>
          <a:p>
            <a:pPr marL="914400">
              <a:lnSpc>
                <a:spcPct val="100000"/>
              </a:lnSpc>
              <a:spcBef>
                <a:spcPts val="360"/>
              </a:spcBef>
              <a:buNone/>
              <a:tabLst>
                <a:tab algn="l" pos="0"/>
              </a:tabLst>
            </a:pPr>
            <a:endParaRPr b="0" lang="en-US" sz="18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2d2d2d"/>
                </a:solidFill>
                <a:latin typeface="Calibri"/>
                <a:ea typeface="Calibri"/>
              </a:rPr>
              <a:t>Schema-level ambiguity – unspecified reference:  </a:t>
            </a:r>
            <a:endParaRPr b="0" lang="en-US" sz="2000" spc="-1" strike="noStrike">
              <a:solidFill>
                <a:srgbClr val="000000"/>
              </a:solidFill>
              <a:latin typeface="Calibri"/>
            </a:endParaRPr>
          </a:p>
          <a:p>
            <a:pPr lvl="2" marL="1143000" indent="-228600">
              <a:lnSpc>
                <a:spcPct val="100000"/>
              </a:lnSpc>
              <a:spcBef>
                <a:spcPts val="360"/>
              </a:spcBef>
              <a:buClr>
                <a:srgbClr val="3b3838"/>
              </a:buClr>
              <a:buSzPct val="65000"/>
              <a:buFont typeface="Wingdings" charset="2"/>
              <a:buChar char=""/>
              <a:tabLst>
                <a:tab algn="l" pos="0"/>
              </a:tabLst>
            </a:pPr>
            <a:r>
              <a:rPr b="1" lang="en-US" sz="1800" spc="-1" strike="noStrike">
                <a:solidFill>
                  <a:srgbClr val="000000"/>
                </a:solidFill>
                <a:latin typeface="Calibri"/>
                <a:ea typeface="Calibri"/>
              </a:rPr>
              <a:t>Last quarter: </a:t>
            </a:r>
            <a:r>
              <a:rPr b="0" lang="en-US" sz="1800" spc="-1" strike="noStrike">
                <a:solidFill>
                  <a:srgbClr val="4a4f57"/>
                </a:solidFill>
                <a:latin typeface="Calibri"/>
                <a:ea typeface="Calibri"/>
              </a:rPr>
              <a:t>calendar, fiscal, rolling 90 days</a:t>
            </a:r>
            <a:endParaRPr b="0" lang="en-US" sz="1800" spc="-1" strike="noStrike">
              <a:solidFill>
                <a:srgbClr val="000000"/>
              </a:solidFill>
              <a:latin typeface="Calibri"/>
            </a:endParaRPr>
          </a:p>
          <a:p>
            <a:pPr marL="914400">
              <a:lnSpc>
                <a:spcPct val="100000"/>
              </a:lnSpc>
              <a:spcBef>
                <a:spcPts val="360"/>
              </a:spcBef>
              <a:buNone/>
              <a:tabLst>
                <a:tab algn="l" pos="0"/>
              </a:tabLst>
            </a:pPr>
            <a:endParaRPr b="0" lang="en-US" sz="18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2d2d2d"/>
                </a:solidFill>
                <a:latin typeface="Calibri"/>
                <a:ea typeface="Calibri"/>
              </a:rPr>
              <a:t>Contextual ambiguity – questions assume  domain knowledge or business logic absent from both the question and the schema, </a:t>
            </a:r>
            <a:endParaRPr b="0" lang="en-US" sz="2000" spc="-1" strike="noStrike">
              <a:solidFill>
                <a:srgbClr val="000000"/>
              </a:solidFill>
              <a:latin typeface="Calibri"/>
            </a:endParaRPr>
          </a:p>
          <a:p>
            <a:pPr lvl="2" marL="1143000" indent="-228600">
              <a:lnSpc>
                <a:spcPct val="100000"/>
              </a:lnSpc>
              <a:spcBef>
                <a:spcPts val="360"/>
              </a:spcBef>
              <a:buClr>
                <a:srgbClr val="3b3838"/>
              </a:buClr>
              <a:buSzPct val="65000"/>
              <a:buFont typeface="Wingdings" charset="2"/>
              <a:buChar char=""/>
              <a:tabLst>
                <a:tab algn="l" pos="0"/>
              </a:tabLst>
            </a:pPr>
            <a:r>
              <a:rPr b="1" lang="en-US" sz="1800" spc="-1" strike="noStrike">
                <a:solidFill>
                  <a:srgbClr val="000000"/>
                </a:solidFill>
                <a:latin typeface="Calibri"/>
                <a:ea typeface="Calibri"/>
              </a:rPr>
              <a:t>Top Performing: </a:t>
            </a:r>
            <a:r>
              <a:rPr b="0" lang="en-US" sz="1800" spc="-1" strike="noStrike">
                <a:solidFill>
                  <a:srgbClr val="4a4f57"/>
                </a:solidFill>
                <a:latin typeface="Calibri"/>
                <a:ea typeface="Calibri"/>
              </a:rPr>
              <a:t>revenue, growth rate, closed deals</a:t>
            </a:r>
            <a:endParaRPr b="0" lang="en-US" sz="18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p:txBody>
      </p:sp>
      <p:sp>
        <p:nvSpPr>
          <p:cNvPr id="244" name="TextBox 5"/>
          <p:cNvSpPr/>
          <p:nvPr/>
        </p:nvSpPr>
        <p:spPr>
          <a:xfrm>
            <a:off x="1649880" y="5942880"/>
            <a:ext cx="3399840" cy="912600"/>
          </a:xfrm>
          <a:prstGeom prst="rect">
            <a:avLst/>
          </a:prstGeom>
          <a:solidFill>
            <a:schemeClr val="bg1">
              <a:lumMod val="95000"/>
            </a:schemeClr>
          </a:solidFill>
          <a:ln w="28575">
            <a:solidFill>
              <a:srgbClr val="478fe1"/>
            </a:solidFill>
            <a:round/>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4a4f57"/>
                </a:solidFill>
                <a:latin typeface="Calibri"/>
              </a:rPr>
              <a:t>Different choices impact filters, joins, and time windows.</a:t>
            </a:r>
            <a:endParaRPr b="0" lang="en-US" sz="1800" spc="-1" strike="noStrike">
              <a:latin typeface="Arial"/>
            </a:endParaRPr>
          </a:p>
        </p:txBody>
      </p:sp>
      <p:sp>
        <p:nvSpPr>
          <p:cNvPr id="245" name="Content Placeholder 2"/>
          <p:cNvSpPr/>
          <p:nvPr/>
        </p:nvSpPr>
        <p:spPr>
          <a:xfrm>
            <a:off x="6803640" y="1260360"/>
            <a:ext cx="5311440" cy="4484520"/>
          </a:xfrm>
          <a:prstGeom prst="rect">
            <a:avLst/>
          </a:prstGeom>
          <a:noFill/>
          <a:ln w="0">
            <a:noFill/>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1" lang="en-US" sz="2400" spc="-1" strike="noStrike">
                <a:solidFill>
                  <a:srgbClr val="2d2d2d"/>
                </a:solidFill>
                <a:latin typeface="Calibri"/>
                <a:ea typeface="Calibri"/>
              </a:rPr>
              <a:t>SOMA-SQL Workflow:</a:t>
            </a:r>
            <a:endParaRPr b="0" lang="en-US" sz="2400" spc="-1" strike="noStrike">
              <a:latin typeface="Arial"/>
            </a:endParaRPr>
          </a:p>
          <a:p>
            <a:pPr>
              <a:lnSpc>
                <a:spcPct val="100000"/>
              </a:lnSpc>
              <a:spcBef>
                <a:spcPts val="479"/>
              </a:spcBef>
              <a:buNone/>
            </a:pPr>
            <a:endParaRPr b="0" lang="en-US" sz="24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4a4f57"/>
                </a:solidFill>
                <a:latin typeface="Calibri"/>
                <a:ea typeface="Calibri"/>
              </a:rPr>
              <a:t>Detect ambiguity dimensions</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4a4f57"/>
                </a:solidFill>
                <a:latin typeface="Calibri"/>
                <a:ea typeface="Calibri"/>
              </a:rPr>
              <a:t>Taxonomy cues + K-SQL disagreements</a:t>
            </a:r>
            <a:endParaRPr b="0" lang="en-US" sz="2000" spc="-1" strike="noStrike">
              <a:latin typeface="Arial"/>
            </a:endParaRPr>
          </a:p>
          <a:p>
            <a:pPr>
              <a:lnSpc>
                <a:spcPct val="100000"/>
              </a:lnSpc>
              <a:spcBef>
                <a:spcPts val="479"/>
              </a:spcBef>
              <a:buNone/>
            </a:pPr>
            <a:endParaRPr b="0" lang="en-US" sz="24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4a4f57"/>
                </a:solidFill>
                <a:latin typeface="Calibri"/>
                <a:ea typeface="Calibri"/>
              </a:rPr>
              <a:t>Resolve with evidence</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4a4f57"/>
                </a:solidFill>
                <a:latin typeface="Calibri"/>
                <a:ea typeface="Calibri"/>
              </a:rPr>
              <a:t>Synthetic-log MCQs + database probes</a:t>
            </a:r>
            <a:endParaRPr b="0" lang="en-US" sz="2000" spc="-1" strike="noStrike">
              <a:latin typeface="Arial"/>
            </a:endParaRPr>
          </a:p>
          <a:p>
            <a:pPr>
              <a:lnSpc>
                <a:spcPct val="100000"/>
              </a:lnSpc>
              <a:spcBef>
                <a:spcPts val="400"/>
              </a:spcBef>
              <a:buNone/>
            </a:pPr>
            <a:endParaRPr b="0" lang="en-US" sz="20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4a4f57"/>
                </a:solidFill>
                <a:latin typeface="Calibri"/>
                <a:ea typeface="Calibri"/>
              </a:rPr>
              <a:t>Generate evidence-backed SQL</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4a4f57"/>
                </a:solidFill>
                <a:latin typeface="Calibri"/>
                <a:ea typeface="Calibri"/>
              </a:rPr>
              <a:t>Repair/select after assumptions are resolved</a:t>
            </a:r>
            <a:endParaRPr b="0" lang="en-US" sz="20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00"/>
              </a:spcBef>
              <a:buNone/>
            </a:pPr>
            <a:endParaRPr b="0" lang="en-US" sz="20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00"/>
              </a:spcBef>
              <a:buNone/>
            </a:pPr>
            <a:endParaRPr b="0" lang="en-US" sz="20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p:txBody>
      </p:sp>
      <p:sp>
        <p:nvSpPr>
          <p:cNvPr id="246" name="TextBox 11"/>
          <p:cNvSpPr/>
          <p:nvPr/>
        </p:nvSpPr>
        <p:spPr>
          <a:xfrm>
            <a:off x="7141680" y="5942880"/>
            <a:ext cx="4515840" cy="912600"/>
          </a:xfrm>
          <a:prstGeom prst="rect">
            <a:avLst/>
          </a:prstGeom>
          <a:solidFill>
            <a:schemeClr val="bg1">
              <a:lumMod val="95000"/>
            </a:schemeClr>
          </a:solidFill>
          <a:ln w="28575">
            <a:solidFill>
              <a:srgbClr val="478fe1"/>
            </a:solidFill>
            <a:round/>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rPr>
              <a:t>Net effect: an ambiguous question becomes an evidence-backed intent, not a silent guess.</a:t>
            </a:r>
            <a:endParaRPr b="0" lang="en-US" sz="1800" spc="-1" strike="noStrike">
              <a:latin typeface="Arial"/>
            </a:endParaRPr>
          </a:p>
        </p:txBody>
      </p:sp>
      <p:sp>
        <p:nvSpPr>
          <p:cNvPr id="247" name="Down Arrow 70"/>
          <p:cNvSpPr/>
          <p:nvPr/>
        </p:nvSpPr>
        <p:spPr>
          <a:xfrm>
            <a:off x="6945840" y="2715480"/>
            <a:ext cx="91080" cy="383760"/>
          </a:xfrm>
          <a:prstGeom prst="downArrow">
            <a:avLst>
              <a:gd name="adj1" fmla="val 50000"/>
              <a:gd name="adj2" fmla="val 50000"/>
            </a:avLst>
          </a:prstGeom>
          <a:solidFill>
            <a:srgbClr val="c739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8" name="Down Arrow 70"/>
          <p:cNvSpPr/>
          <p:nvPr/>
        </p:nvSpPr>
        <p:spPr>
          <a:xfrm>
            <a:off x="6945840" y="4008960"/>
            <a:ext cx="91080" cy="383760"/>
          </a:xfrm>
          <a:prstGeom prst="downArrow">
            <a:avLst>
              <a:gd name="adj1" fmla="val 50000"/>
              <a:gd name="adj2" fmla="val 50000"/>
            </a:avLst>
          </a:prstGeom>
          <a:solidFill>
            <a:srgbClr val="c739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9" name="TextBox 17"/>
          <p:cNvSpPr/>
          <p:nvPr/>
        </p:nvSpPr>
        <p:spPr>
          <a:xfrm>
            <a:off x="888480" y="851760"/>
            <a:ext cx="10414440" cy="394560"/>
          </a:xfrm>
          <a:prstGeom prst="rect">
            <a:avLst/>
          </a:prstGeom>
          <a:solidFill>
            <a:schemeClr val="bg1">
              <a:lumMod val="75000"/>
            </a:schemeClr>
          </a:solidFill>
          <a:ln w="0">
            <a:solidFill>
              <a:srgbClr val="478fe1"/>
            </a:solidFill>
          </a:ln>
        </p:spPr>
        <p:style>
          <a:lnRef idx="0"/>
          <a:fillRef idx="0"/>
          <a:effectRef idx="0"/>
          <a:fontRef idx="minor"/>
        </p:style>
        <p:txBody>
          <a:bodyPr lIns="90000" rIns="90000" tIns="45000" bIns="45000" anchor="t">
            <a:spAutoFit/>
          </a:bodyPr>
          <a:p>
            <a:pPr algn="ctr">
              <a:lnSpc>
                <a:spcPct val="100000"/>
              </a:lnSpc>
              <a:buNone/>
            </a:pPr>
            <a:r>
              <a:rPr b="0" lang="en-US" sz="2000" spc="-1" strike="noStrike">
                <a:solidFill>
                  <a:srgbClr val="000000"/>
                </a:solidFill>
                <a:latin typeface="Calibri"/>
                <a:ea typeface="Calibri"/>
              </a:rPr>
              <a:t>S</a:t>
            </a:r>
            <a:r>
              <a:rPr b="0" lang="en-US" sz="2000" spc="-1" strike="noStrike">
                <a:solidFill>
                  <a:srgbClr val="3366cc"/>
                </a:solidFill>
                <a:latin typeface="Calibri"/>
                <a:ea typeface="Calibri"/>
              </a:rPr>
              <a:t>ynthetic Query Log and Pr</a:t>
            </a:r>
            <a:r>
              <a:rPr b="0" lang="en-US" sz="2000" spc="-1" strike="noStrike">
                <a:solidFill>
                  <a:srgbClr val="000000"/>
                </a:solidFill>
                <a:latin typeface="Calibri"/>
                <a:ea typeface="Calibri"/>
              </a:rPr>
              <a:t>o</a:t>
            </a:r>
            <a:r>
              <a:rPr b="0" lang="en-US" sz="2000" spc="-1" strike="noStrike">
                <a:solidFill>
                  <a:srgbClr val="3366cc"/>
                </a:solidFill>
                <a:latin typeface="Calibri"/>
                <a:ea typeface="Calibri"/>
              </a:rPr>
              <a:t>bing for </a:t>
            </a:r>
            <a:r>
              <a:rPr b="0" lang="en-US" sz="2000" spc="-1" strike="noStrike">
                <a:solidFill>
                  <a:srgbClr val="000000"/>
                </a:solidFill>
                <a:latin typeface="Calibri"/>
                <a:ea typeface="Calibri"/>
              </a:rPr>
              <a:t>M</a:t>
            </a:r>
            <a:r>
              <a:rPr b="0" lang="en-US" sz="2000" spc="-1" strike="noStrike">
                <a:solidFill>
                  <a:srgbClr val="3366cc"/>
                </a:solidFill>
                <a:latin typeface="Calibri"/>
                <a:ea typeface="Calibri"/>
              </a:rPr>
              <a:t>ulti-source </a:t>
            </a:r>
            <a:r>
              <a:rPr b="0" lang="en-US" sz="2000" spc="-1" strike="noStrike">
                <a:solidFill>
                  <a:srgbClr val="000000"/>
                </a:solidFill>
                <a:latin typeface="Calibri"/>
                <a:ea typeface="Calibri"/>
              </a:rPr>
              <a:t>A</a:t>
            </a:r>
            <a:r>
              <a:rPr b="0" lang="en-US" sz="2000" spc="-1" strike="noStrike">
                <a:solidFill>
                  <a:srgbClr val="3366cc"/>
                </a:solidFill>
                <a:latin typeface="Calibri"/>
                <a:ea typeface="Calibri"/>
              </a:rPr>
              <a:t>mbiguity Resolution </a:t>
            </a:r>
            <a:endParaRPr b="0" lang="en-US" sz="2000" spc="-1" strike="noStrike">
              <a:latin typeface="Arial"/>
            </a:endParaRPr>
          </a:p>
        </p:txBody>
      </p:sp>
      <p:sp>
        <p:nvSpPr>
          <p:cNvPr id="250" name="Arrow: Down 18"/>
          <p:cNvSpPr/>
          <p:nvPr/>
        </p:nvSpPr>
        <p:spPr>
          <a:xfrm rot="2311800">
            <a:off x="10539720" y="2804760"/>
            <a:ext cx="470520" cy="1068120"/>
          </a:xfrm>
          <a:prstGeom prst="downArrow">
            <a:avLst>
              <a:gd name="adj1" fmla="val 50000"/>
              <a:gd name="adj2" fmla="val 50000"/>
            </a:avLst>
          </a:prstGeom>
          <a:solidFill>
            <a:srgbClr val="ff0000"/>
          </a:solidFill>
          <a:ln w="12700">
            <a:solidFill>
              <a:srgbClr val="ff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4" name="PlaceHolder 3"/>
          <p:cNvSpPr>
            <a:spLocks noGrp="1"/>
          </p:cNvSpPr>
          <p:nvPr>
            <p:ph type="sldNum" idx="2"/>
          </p:nvPr>
        </p:nvSpPr>
        <p:spPr/>
        <p:txBody>
          <a:bodyPr/>
          <a:p>
            <a:fld id="{59731646-A2C5-4053-92D2-9B84BD89C853}" type="slidenum">
              <a:t>17</a:t>
            </a:fld>
          </a:p>
        </p:txBody>
      </p:sp>
    </p:spTree>
  </p:cSld>
  <mc:AlternateContent>
    <mc:Choice Requires="p14">
      <p:transition spd="slow" p14:dur="2000"/>
    </mc:Choice>
    <mc:Fallback>
      <p:transition spd="slow"/>
    </mc:Fallback>
  </mc:AlternateContent>
  <p:timing>
    <p:tnLst>
      <p:par>
        <p:cTn id="198" dur="indefinite" restart="never" nodeType="tmRoot">
          <p:childTnLst>
            <p:seq>
              <p:cTn id="199" dur="indefinite" nodeType="mainSeq">
                <p:childTnLst>
                  <p:par>
                    <p:cTn id="200" fill="hold">
                      <p:stCondLst>
                        <p:cond delay="indefinite"/>
                      </p:stCondLst>
                      <p:childTnLst>
                        <p:par>
                          <p:cTn id="201" fill="hold">
                            <p:stCondLst>
                              <p:cond delay="0"/>
                            </p:stCondLst>
                            <p:childTnLst>
                              <p:par>
                                <p:cTn id="202" nodeType="clickEffect" fill="hold" presetClass="entr" presetID="1">
                                  <p:stCondLst>
                                    <p:cond delay="0"/>
                                  </p:stCondLst>
                                  <p:childTnLst>
                                    <p:set>
                                      <p:cBhvr>
                                        <p:cTn id="203" dur="1" fill="hold">
                                          <p:stCondLst>
                                            <p:cond delay="0"/>
                                          </p:stCondLst>
                                        </p:cTn>
                                        <p:tgtEl>
                                          <p:spTgt spid="243">
                                            <p:txEl>
                                              <p:pRg st="0" end="0"/>
                                            </p:txEl>
                                          </p:spTgt>
                                        </p:tgtEl>
                                        <p:attrNameLst>
                                          <p:attrName>style.visibility</p:attrName>
                                        </p:attrNameLst>
                                      </p:cBhvr>
                                      <p:to>
                                        <p:strVal val="visible"/>
                                      </p:to>
                                    </p:set>
                                  </p:childTnLst>
                                </p:cTn>
                              </p:par>
                              <p:par>
                                <p:cTn id="204" nodeType="withEffect" fill="hold" presetClass="entr" presetID="1">
                                  <p:stCondLst>
                                    <p:cond delay="0"/>
                                  </p:stCondLst>
                                  <p:childTnLst>
                                    <p:set>
                                      <p:cBhvr>
                                        <p:cTn id="205" dur="1" fill="hold">
                                          <p:stCondLst>
                                            <p:cond delay="0"/>
                                          </p:stCondLst>
                                        </p:cTn>
                                        <p:tgtEl>
                                          <p:spTgt spid="243">
                                            <p:txEl>
                                              <p:pRg st="2" end="2"/>
                                            </p:txEl>
                                          </p:spTgt>
                                        </p:tgtEl>
                                        <p:attrNameLst>
                                          <p:attrName>style.visibility</p:attrName>
                                        </p:attrNameLst>
                                      </p:cBhvr>
                                      <p:to>
                                        <p:strVal val="visible"/>
                                      </p:to>
                                    </p:set>
                                  </p:childTnLst>
                                </p:cTn>
                              </p:par>
                              <p:par>
                                <p:cTn id="206" nodeType="withEffect" fill="hold" presetClass="entr" presetID="1">
                                  <p:stCondLst>
                                    <p:cond delay="0"/>
                                  </p:stCondLst>
                                  <p:childTnLst>
                                    <p:set>
                                      <p:cBhvr>
                                        <p:cTn id="207" dur="1" fill="hold">
                                          <p:stCondLst>
                                            <p:cond delay="0"/>
                                          </p:stCondLst>
                                        </p:cTn>
                                        <p:tgtEl>
                                          <p:spTgt spid="243">
                                            <p:txEl>
                                              <p:pRg st="3" end="3"/>
                                            </p:txEl>
                                          </p:spTgt>
                                        </p:tgtEl>
                                        <p:attrNameLst>
                                          <p:attrName>style.visibility</p:attrName>
                                        </p:attrNameLst>
                                      </p:cBhvr>
                                      <p:to>
                                        <p:strVal val="visible"/>
                                      </p:to>
                                    </p:set>
                                  </p:childTnLst>
                                </p:cTn>
                              </p:par>
                              <p:par>
                                <p:cTn id="208" nodeType="withEffect" fill="hold" presetClass="entr" presetID="1">
                                  <p:stCondLst>
                                    <p:cond delay="0"/>
                                  </p:stCondLst>
                                  <p:childTnLst>
                                    <p:set>
                                      <p:cBhvr>
                                        <p:cTn id="209" dur="1" fill="hold">
                                          <p:stCondLst>
                                            <p:cond delay="0"/>
                                          </p:stCondLst>
                                        </p:cTn>
                                        <p:tgtEl>
                                          <p:spTgt spid="243">
                                            <p:txEl>
                                              <p:pRg st="5" end="5"/>
                                            </p:txEl>
                                          </p:spTgt>
                                        </p:tgtEl>
                                        <p:attrNameLst>
                                          <p:attrName>style.visibility</p:attrName>
                                        </p:attrNameLst>
                                      </p:cBhvr>
                                      <p:to>
                                        <p:strVal val="visible"/>
                                      </p:to>
                                    </p:set>
                                  </p:childTnLst>
                                </p:cTn>
                              </p:par>
                              <p:par>
                                <p:cTn id="210" nodeType="withEffect" fill="hold" presetClass="entr" presetID="1">
                                  <p:stCondLst>
                                    <p:cond delay="0"/>
                                  </p:stCondLst>
                                  <p:childTnLst>
                                    <p:set>
                                      <p:cBhvr>
                                        <p:cTn id="211" dur="1" fill="hold">
                                          <p:stCondLst>
                                            <p:cond delay="0"/>
                                          </p:stCondLst>
                                        </p:cTn>
                                        <p:tgtEl>
                                          <p:spTgt spid="243">
                                            <p:txEl>
                                              <p:pRg st="6" end="6"/>
                                            </p:txEl>
                                          </p:spTgt>
                                        </p:tgtEl>
                                        <p:attrNameLst>
                                          <p:attrName>style.visibility</p:attrName>
                                        </p:attrNameLst>
                                      </p:cBhvr>
                                      <p:to>
                                        <p:strVal val="visible"/>
                                      </p:to>
                                    </p:set>
                                  </p:childTnLst>
                                </p:cTn>
                              </p:par>
                              <p:par>
                                <p:cTn id="212" nodeType="withEffect" fill="hold" presetClass="entr" presetID="1">
                                  <p:stCondLst>
                                    <p:cond delay="0"/>
                                  </p:stCondLst>
                                  <p:childTnLst>
                                    <p:set>
                                      <p:cBhvr>
                                        <p:cTn id="213" dur="1" fill="hold">
                                          <p:stCondLst>
                                            <p:cond delay="0"/>
                                          </p:stCondLst>
                                        </p:cTn>
                                        <p:tgtEl>
                                          <p:spTgt spid="243">
                                            <p:txEl>
                                              <p:pRg st="8" end="8"/>
                                            </p:txEl>
                                          </p:spTgt>
                                        </p:tgtEl>
                                        <p:attrNameLst>
                                          <p:attrName>style.visibility</p:attrName>
                                        </p:attrNameLst>
                                      </p:cBhvr>
                                      <p:to>
                                        <p:strVal val="visible"/>
                                      </p:to>
                                    </p:set>
                                  </p:childTnLst>
                                </p:cTn>
                              </p:par>
                              <p:par>
                                <p:cTn id="214" nodeType="withEffect" fill="hold" presetClass="entr" presetID="1">
                                  <p:stCondLst>
                                    <p:cond delay="0"/>
                                  </p:stCondLst>
                                  <p:childTnLst>
                                    <p:set>
                                      <p:cBhvr>
                                        <p:cTn id="215" dur="1" fill="hold">
                                          <p:stCondLst>
                                            <p:cond delay="0"/>
                                          </p:stCondLst>
                                        </p:cTn>
                                        <p:tgtEl>
                                          <p:spTgt spid="243">
                                            <p:txEl>
                                              <p:pRg st="9" end="9"/>
                                            </p:txEl>
                                          </p:spTgt>
                                        </p:tgtEl>
                                        <p:attrNameLst>
                                          <p:attrName>style.visibility</p:attrName>
                                        </p:attrNameLst>
                                      </p:cBhvr>
                                      <p:to>
                                        <p:strVal val="visible"/>
                                      </p:to>
                                    </p:set>
                                  </p:childTnLst>
                                </p:cTn>
                              </p:par>
                              <p:par>
                                <p:cTn id="216" nodeType="withEffect" fill="hold" presetClass="entr" presetID="1">
                                  <p:stCondLst>
                                    <p:cond delay="0"/>
                                  </p:stCondLst>
                                  <p:childTnLst>
                                    <p:set>
                                      <p:cBhvr>
                                        <p:cTn id="217" dur="1" fill="hold">
                                          <p:stCondLst>
                                            <p:cond delay="0"/>
                                          </p:stCondLst>
                                        </p:cTn>
                                        <p:tgtEl>
                                          <p:spTgt spid="244"/>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nodeType="clickEffect" fill="hold" presetClass="entr" presetID="1">
                                  <p:stCondLst>
                                    <p:cond delay="0"/>
                                  </p:stCondLst>
                                  <p:childTnLst>
                                    <p:set>
                                      <p:cBhvr>
                                        <p:cTn id="221" dur="1" fill="hold">
                                          <p:stCondLst>
                                            <p:cond delay="0"/>
                                          </p:stCondLst>
                                        </p:cTn>
                                        <p:tgtEl>
                                          <p:spTgt spid="245"/>
                                        </p:tgtEl>
                                        <p:attrNameLst>
                                          <p:attrName>style.visibility</p:attrName>
                                        </p:attrNameLst>
                                      </p:cBhvr>
                                      <p:to>
                                        <p:strVal val="visible"/>
                                      </p:to>
                                    </p:set>
                                  </p:childTnLst>
                                </p:cTn>
                              </p:par>
                            </p:childTnLst>
                          </p:cTn>
                        </p:par>
                        <p:par>
                          <p:cTn id="222" fill="hold">
                            <p:stCondLst>
                              <p:cond delay="0"/>
                            </p:stCondLst>
                            <p:childTnLst>
                              <p:par>
                                <p:cTn id="223" nodeType="afterEffect" fill="hold" presetClass="entr" presetID="22" presetSubtype="1">
                                  <p:stCondLst>
                                    <p:cond delay="0"/>
                                  </p:stCondLst>
                                  <p:childTnLst>
                                    <p:set>
                                      <p:cBhvr>
                                        <p:cTn id="224" dur="1" fill="hold">
                                          <p:stCondLst>
                                            <p:cond delay="0"/>
                                          </p:stCondLst>
                                        </p:cTn>
                                        <p:tgtEl>
                                          <p:spTgt spid="247"/>
                                        </p:tgtEl>
                                        <p:attrNameLst>
                                          <p:attrName>style.visibility</p:attrName>
                                        </p:attrNameLst>
                                      </p:cBhvr>
                                      <p:to>
                                        <p:strVal val="visible"/>
                                      </p:to>
                                    </p:set>
                                    <p:animEffect filter="wipe(up)" transition="in">
                                      <p:cBhvr additive="repl">
                                        <p:cTn id="225" dur="500"/>
                                        <p:tgtEl>
                                          <p:spTgt spid="247"/>
                                        </p:tgtEl>
                                      </p:cBhvr>
                                    </p:animEffect>
                                  </p:childTnLst>
                                </p:cTn>
                              </p:par>
                            </p:childTnLst>
                          </p:cTn>
                        </p:par>
                        <p:par>
                          <p:cTn id="226" fill="hold">
                            <p:stCondLst>
                              <p:cond delay="500"/>
                            </p:stCondLst>
                            <p:childTnLst>
                              <p:par>
                                <p:cTn id="227" nodeType="afterEffect" fill="hold" presetClass="entr" presetID="22" presetSubtype="1">
                                  <p:stCondLst>
                                    <p:cond delay="500"/>
                                  </p:stCondLst>
                                  <p:childTnLst>
                                    <p:set>
                                      <p:cBhvr>
                                        <p:cTn id="228" dur="1" fill="hold">
                                          <p:stCondLst>
                                            <p:cond delay="0"/>
                                          </p:stCondLst>
                                        </p:cTn>
                                        <p:tgtEl>
                                          <p:spTgt spid="248"/>
                                        </p:tgtEl>
                                        <p:attrNameLst>
                                          <p:attrName>style.visibility</p:attrName>
                                        </p:attrNameLst>
                                      </p:cBhvr>
                                      <p:to>
                                        <p:strVal val="visible"/>
                                      </p:to>
                                    </p:set>
                                    <p:animEffect filter="wipe(up)" transition="in">
                                      <p:cBhvr additive="repl">
                                        <p:cTn id="229" dur="500"/>
                                        <p:tgtEl>
                                          <p:spTgt spid="248"/>
                                        </p:tgtEl>
                                      </p:cBhvr>
                                    </p:animEffect>
                                  </p:childTnLst>
                                </p:cTn>
                              </p:par>
                            </p:childTnLst>
                          </p:cTn>
                        </p:par>
                      </p:childTnLst>
                    </p:cTn>
                  </p:par>
                  <p:par>
                    <p:cTn id="230" fill="hold">
                      <p:stCondLst>
                        <p:cond delay="indefinite"/>
                      </p:stCondLst>
                      <p:childTnLst>
                        <p:par>
                          <p:cTn id="231" fill="hold">
                            <p:stCondLst>
                              <p:cond delay="0"/>
                            </p:stCondLst>
                            <p:childTnLst>
                              <p:par>
                                <p:cTn id="232" nodeType="clickEffect" fill="hold" presetClass="entr" presetID="1">
                                  <p:stCondLst>
                                    <p:cond delay="0"/>
                                  </p:stCondLst>
                                  <p:childTnLst>
                                    <p:set>
                                      <p:cBhvr>
                                        <p:cTn id="233" dur="1" fill="hold">
                                          <p:stCondLst>
                                            <p:cond delay="0"/>
                                          </p:stCondLst>
                                        </p:cTn>
                                        <p:tgtEl>
                                          <p:spTgt spid="246"/>
                                        </p:tgtEl>
                                        <p:attrNameLst>
                                          <p:attrName>style.visibility</p:attrName>
                                        </p:attrNameLst>
                                      </p:cBhvr>
                                      <p:to>
                                        <p:strVal val="visible"/>
                                      </p:to>
                                    </p:set>
                                  </p:childTnLst>
                                </p:cTn>
                              </p:par>
                            </p:childTnLst>
                          </p:cTn>
                        </p:par>
                        <p:par>
                          <p:cTn id="234" fill="hold">
                            <p:stCondLst>
                              <p:cond delay="0"/>
                            </p:stCondLst>
                            <p:childTnLst>
                              <p:par>
                                <p:cTn id="235" nodeType="afterEffect" fill="hold" presetClass="entr" presetID="2" presetSubtype="3">
                                  <p:stCondLst>
                                    <p:cond delay="0"/>
                                  </p:stCondLst>
                                  <p:childTnLst>
                                    <p:set>
                                      <p:cBhvr>
                                        <p:cTn id="236" dur="1" fill="hold">
                                          <p:stCondLst>
                                            <p:cond delay="0"/>
                                          </p:stCondLst>
                                        </p:cTn>
                                        <p:tgtEl>
                                          <p:spTgt spid="250"/>
                                        </p:tgtEl>
                                        <p:attrNameLst>
                                          <p:attrName>style.visibility</p:attrName>
                                        </p:attrNameLst>
                                      </p:cBhvr>
                                      <p:to>
                                        <p:strVal val="visible"/>
                                      </p:to>
                                    </p:set>
                                    <p:anim calcmode="lin" valueType="num">
                                      <p:cBhvr additive="repl">
                                        <p:cTn id="237" dur="1000" fill="hold"/>
                                        <p:tgtEl>
                                          <p:spTgt spid="250"/>
                                        </p:tgtEl>
                                        <p:attrNameLst>
                                          <p:attrName>ppt_x</p:attrName>
                                        </p:attrNameLst>
                                      </p:cBhvr>
                                      <p:tavLst>
                                        <p:tav tm="0">
                                          <p:val>
                                            <p:strVal val="1+#ppt_w/2"/>
                                          </p:val>
                                        </p:tav>
                                        <p:tav tm="100000">
                                          <p:val>
                                            <p:strVal val="#ppt_x"/>
                                          </p:val>
                                        </p:tav>
                                      </p:tavLst>
                                    </p:anim>
                                    <p:anim calcmode="lin" valueType="num">
                                      <p:cBhvr additive="repl">
                                        <p:cTn id="238" dur="1000" fill="hold"/>
                                        <p:tgtEl>
                                          <p:spTgt spid="25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609480" y="862560"/>
            <a:ext cx="10972440" cy="37785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 </a:t>
            </a:r>
            <a:r>
              <a:rPr b="0" lang="en-US" sz="2400" spc="-1" strike="noStrike">
                <a:solidFill>
                  <a:srgbClr val="000000"/>
                </a:solidFill>
                <a:latin typeface="Calibri"/>
                <a:ea typeface="Calibri"/>
              </a:rPr>
              <a:t>SOMA-SQL converts historical SQL into MCQ-style disambiguation tool</a:t>
            </a:r>
            <a:endParaRPr b="0" lang="en-US" sz="2400" spc="-1" strike="noStrike">
              <a:solidFill>
                <a:srgbClr val="000000"/>
              </a:solidFill>
              <a:latin typeface="Calibri"/>
            </a:endParaRPr>
          </a:p>
        </p:txBody>
      </p:sp>
      <p:sp>
        <p:nvSpPr>
          <p:cNvPr id="252" name="Rectangle 13"/>
          <p:cNvSpPr/>
          <p:nvPr/>
        </p:nvSpPr>
        <p:spPr>
          <a:xfrm>
            <a:off x="402120" y="1276560"/>
            <a:ext cx="54360" cy="255600"/>
          </a:xfrm>
          <a:prstGeom prst="rect">
            <a:avLst/>
          </a:prstGeom>
          <a:solidFill>
            <a:srgbClr val="c73b3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3" name="TextBox 15"/>
          <p:cNvSpPr/>
          <p:nvPr/>
        </p:nvSpPr>
        <p:spPr>
          <a:xfrm>
            <a:off x="470160" y="1105920"/>
            <a:ext cx="4023000" cy="637920"/>
          </a:xfrm>
          <a:prstGeom prst="rect">
            <a:avLst/>
          </a:prstGeom>
          <a:noFill/>
          <a:ln w="0">
            <a:noFill/>
          </a:ln>
        </p:spPr>
        <p:style>
          <a:lnRef idx="0"/>
          <a:fillRef idx="0"/>
          <a:effectRef idx="0"/>
          <a:fontRef idx="minor"/>
        </p:style>
        <p:txBody>
          <a:bodyPr lIns="90000" rIns="90000" tIns="45000" bIns="45000" anchor="ctr">
            <a:spAutoFit/>
          </a:bodyPr>
          <a:p>
            <a:pPr>
              <a:lnSpc>
                <a:spcPct val="100000"/>
              </a:lnSpc>
              <a:buNone/>
            </a:pPr>
            <a:r>
              <a:rPr b="1" lang="en-US" sz="1800" spc="-1" strike="noStrike">
                <a:solidFill>
                  <a:srgbClr val="3366cc"/>
                </a:solidFill>
                <a:latin typeface="Calibri"/>
              </a:rPr>
              <a:t>OFFLINE: Construct Synthetic Query Log</a:t>
            </a:r>
            <a:endParaRPr b="0" lang="en-US" sz="1800" spc="-1" strike="noStrike">
              <a:latin typeface="Arial"/>
            </a:endParaRPr>
          </a:p>
        </p:txBody>
      </p:sp>
      <p:sp>
        <p:nvSpPr>
          <p:cNvPr id="254" name="TextBox 17"/>
          <p:cNvSpPr/>
          <p:nvPr/>
        </p:nvSpPr>
        <p:spPr>
          <a:xfrm>
            <a:off x="720360" y="1868400"/>
            <a:ext cx="1371240" cy="91224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ctr">
            <a:spAutoFit/>
          </a:bodyPr>
          <a:p>
            <a:r>
              <a:rPr b="1" lang="en-US" sz="1800" spc="-1" strike="noStrike">
                <a:solidFill>
                  <a:srgbClr val="2b2b2b"/>
                </a:solidFill>
                <a:latin typeface="Calibri"/>
              </a:rPr>
              <a:t>Validated</a:t>
            </a:r>
            <a:endParaRPr b="0" lang="en-US" sz="1800" spc="-1" strike="noStrike">
              <a:latin typeface="Arial"/>
            </a:endParaRPr>
          </a:p>
          <a:p>
            <a:pPr algn="ctr">
              <a:lnSpc>
                <a:spcPct val="100000"/>
              </a:lnSpc>
              <a:buNone/>
            </a:pPr>
            <a:r>
              <a:rPr b="1" lang="en-US" sz="1800" spc="-1" strike="noStrike">
                <a:solidFill>
                  <a:srgbClr val="2b2b2b"/>
                </a:solidFill>
                <a:latin typeface="Calibri"/>
              </a:rPr>
              <a:t>SQL log</a:t>
            </a:r>
            <a:endParaRPr b="0" lang="en-US" sz="1800" spc="-1" strike="noStrike">
              <a:latin typeface="Arial"/>
            </a:endParaRPr>
          </a:p>
        </p:txBody>
      </p:sp>
      <p:sp>
        <p:nvSpPr>
          <p:cNvPr id="255" name="TextBox 18"/>
          <p:cNvSpPr/>
          <p:nvPr/>
        </p:nvSpPr>
        <p:spPr>
          <a:xfrm>
            <a:off x="583200" y="2617920"/>
            <a:ext cx="1645560" cy="30240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lang="en-US" sz="1400" spc="-1" strike="noStrike">
                <a:solidFill>
                  <a:srgbClr val="3366cc"/>
                </a:solidFill>
                <a:latin typeface="Calibri"/>
              </a:rPr>
              <a:t>intent anchor</a:t>
            </a:r>
            <a:endParaRPr b="0" lang="en-US" sz="1400" spc="-1" strike="noStrike">
              <a:latin typeface="Arial"/>
            </a:endParaRPr>
          </a:p>
        </p:txBody>
      </p:sp>
      <p:pic>
        <p:nvPicPr>
          <p:cNvPr id="256" name="Picture 33" descr="icon_clean2.png"/>
          <p:cNvPicPr/>
          <p:nvPr/>
        </p:nvPicPr>
        <p:blipFill>
          <a:blip r:embed="rId1"/>
          <a:stretch/>
        </p:blipFill>
        <p:spPr>
          <a:xfrm>
            <a:off x="3384000" y="1538640"/>
            <a:ext cx="475200" cy="411120"/>
          </a:xfrm>
          <a:prstGeom prst="rect">
            <a:avLst/>
          </a:prstGeom>
          <a:ln w="0">
            <a:noFill/>
          </a:ln>
        </p:spPr>
      </p:pic>
      <p:sp>
        <p:nvSpPr>
          <p:cNvPr id="257" name="TextBox 34"/>
          <p:cNvSpPr/>
          <p:nvPr/>
        </p:nvSpPr>
        <p:spPr>
          <a:xfrm>
            <a:off x="2990160" y="1868400"/>
            <a:ext cx="1371240" cy="91224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ctr">
            <a:spAutoFit/>
          </a:bodyPr>
          <a:p>
            <a:r>
              <a:rPr b="1" lang="en-US" sz="1800" spc="-1" strike="noStrike">
                <a:solidFill>
                  <a:srgbClr val="2b2b2b"/>
                </a:solidFill>
                <a:latin typeface="Calibri"/>
              </a:rPr>
              <a:t>Detailed</a:t>
            </a:r>
            <a:endParaRPr b="0" lang="en-US" sz="1800" spc="-1" strike="noStrike">
              <a:latin typeface="Arial"/>
            </a:endParaRPr>
          </a:p>
          <a:p>
            <a:pPr algn="ctr">
              <a:lnSpc>
                <a:spcPct val="100000"/>
              </a:lnSpc>
              <a:buNone/>
            </a:pPr>
            <a:r>
              <a:rPr b="1" lang="en-US" sz="1800" spc="-1" strike="noStrike">
                <a:solidFill>
                  <a:srgbClr val="2b2b2b"/>
                </a:solidFill>
                <a:latin typeface="Calibri"/>
              </a:rPr>
              <a:t>NL intent</a:t>
            </a:r>
            <a:endParaRPr b="0" lang="en-US" sz="1800" spc="-1" strike="noStrike">
              <a:latin typeface="Arial"/>
            </a:endParaRPr>
          </a:p>
        </p:txBody>
      </p:sp>
      <p:sp>
        <p:nvSpPr>
          <p:cNvPr id="258" name="TextBox 35"/>
          <p:cNvSpPr/>
          <p:nvPr/>
        </p:nvSpPr>
        <p:spPr>
          <a:xfrm>
            <a:off x="2865960" y="2511360"/>
            <a:ext cx="1645560" cy="51552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lang="en-US" sz="1400" spc="-1" strike="noStrike">
                <a:solidFill>
                  <a:srgbClr val="3366cc"/>
                </a:solidFill>
                <a:latin typeface="Calibri"/>
              </a:rPr>
              <a:t>fully specified NLQ</a:t>
            </a:r>
            <a:endParaRPr b="0" lang="en-US" sz="1400" spc="-1" strike="noStrike">
              <a:latin typeface="Arial"/>
            </a:endParaRPr>
          </a:p>
        </p:txBody>
      </p:sp>
      <p:pic>
        <p:nvPicPr>
          <p:cNvPr id="259" name="Picture 36" descr="icon_clean3.png"/>
          <p:cNvPicPr/>
          <p:nvPr/>
        </p:nvPicPr>
        <p:blipFill>
          <a:blip r:embed="rId2"/>
          <a:stretch/>
        </p:blipFill>
        <p:spPr>
          <a:xfrm>
            <a:off x="5819400" y="1538640"/>
            <a:ext cx="411120" cy="411120"/>
          </a:xfrm>
          <a:prstGeom prst="rect">
            <a:avLst/>
          </a:prstGeom>
          <a:ln w="0">
            <a:noFill/>
          </a:ln>
        </p:spPr>
      </p:pic>
      <p:sp>
        <p:nvSpPr>
          <p:cNvPr id="260" name="TextBox 37"/>
          <p:cNvSpPr/>
          <p:nvPr/>
        </p:nvSpPr>
        <p:spPr>
          <a:xfrm>
            <a:off x="5259960" y="1731240"/>
            <a:ext cx="1371240" cy="118656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ctr">
            <a:spAutoFit/>
          </a:bodyPr>
          <a:p>
            <a:r>
              <a:rPr b="1" lang="en-US" sz="1800" spc="-1" strike="noStrike">
                <a:solidFill>
                  <a:srgbClr val="2b2b2b"/>
                </a:solidFill>
                <a:latin typeface="Calibri"/>
              </a:rPr>
              <a:t>Ambiguous</a:t>
            </a:r>
            <a:endParaRPr b="0" lang="en-US" sz="1800" spc="-1" strike="noStrike">
              <a:latin typeface="Arial"/>
            </a:endParaRPr>
          </a:p>
          <a:p>
            <a:pPr algn="ctr">
              <a:lnSpc>
                <a:spcPct val="100000"/>
              </a:lnSpc>
              <a:buNone/>
            </a:pPr>
            <a:r>
              <a:rPr b="1" lang="en-US" sz="1800" spc="-1" strike="noStrike">
                <a:solidFill>
                  <a:srgbClr val="2b2b2b"/>
                </a:solidFill>
                <a:latin typeface="Calibri"/>
              </a:rPr>
              <a:t>NL wording</a:t>
            </a:r>
            <a:endParaRPr b="0" lang="en-US" sz="1800" spc="-1" strike="noStrike">
              <a:latin typeface="Arial"/>
            </a:endParaRPr>
          </a:p>
        </p:txBody>
      </p:sp>
      <p:sp>
        <p:nvSpPr>
          <p:cNvPr id="261" name="TextBox 38"/>
          <p:cNvSpPr/>
          <p:nvPr/>
        </p:nvSpPr>
        <p:spPr>
          <a:xfrm>
            <a:off x="5143320" y="2617920"/>
            <a:ext cx="1645560" cy="30240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lang="en-US" sz="1400" spc="-1" strike="noStrike">
                <a:solidFill>
                  <a:srgbClr val="3366cc"/>
                </a:solidFill>
                <a:latin typeface="Calibri"/>
              </a:rPr>
              <a:t>remove details</a:t>
            </a:r>
            <a:endParaRPr b="0" lang="en-US" sz="1400" spc="-1" strike="noStrike">
              <a:latin typeface="Arial"/>
            </a:endParaRPr>
          </a:p>
        </p:txBody>
      </p:sp>
      <p:pic>
        <p:nvPicPr>
          <p:cNvPr id="262" name="Picture 43" descr="icon_clean4.png"/>
          <p:cNvPicPr/>
          <p:nvPr/>
        </p:nvPicPr>
        <p:blipFill>
          <a:blip r:embed="rId3"/>
          <a:stretch/>
        </p:blipFill>
        <p:spPr>
          <a:xfrm>
            <a:off x="8096400" y="1538640"/>
            <a:ext cx="529920" cy="456840"/>
          </a:xfrm>
          <a:prstGeom prst="rect">
            <a:avLst/>
          </a:prstGeom>
          <a:ln w="0">
            <a:noFill/>
          </a:ln>
        </p:spPr>
      </p:pic>
      <p:sp>
        <p:nvSpPr>
          <p:cNvPr id="263" name="TextBox 45"/>
          <p:cNvSpPr/>
          <p:nvPr/>
        </p:nvSpPr>
        <p:spPr>
          <a:xfrm>
            <a:off x="7529400" y="2021040"/>
            <a:ext cx="1508400" cy="63792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ctr">
            <a:spAutoFit/>
          </a:bodyPr>
          <a:p>
            <a:pPr algn="ctr">
              <a:lnSpc>
                <a:spcPct val="100000"/>
              </a:lnSpc>
              <a:buNone/>
            </a:pPr>
            <a:r>
              <a:rPr b="1" lang="en-US" sz="1800" spc="-1" strike="noStrike">
                <a:solidFill>
                  <a:srgbClr val="282828"/>
                </a:solidFill>
                <a:latin typeface="Calibri"/>
              </a:rPr>
              <a:t>K SQL</a:t>
            </a:r>
            <a:endParaRPr b="0" lang="en-US" sz="1800" spc="-1" strike="noStrike">
              <a:latin typeface="Arial"/>
            </a:endParaRPr>
          </a:p>
          <a:p>
            <a:pPr algn="ctr">
              <a:lnSpc>
                <a:spcPct val="100000"/>
              </a:lnSpc>
              <a:buNone/>
            </a:pPr>
            <a:r>
              <a:rPr b="1" lang="en-US" sz="1800" spc="-1" strike="noStrike">
                <a:solidFill>
                  <a:srgbClr val="282828"/>
                </a:solidFill>
                <a:latin typeface="Calibri"/>
              </a:rPr>
              <a:t>variants</a:t>
            </a:r>
            <a:endParaRPr b="0" lang="en-US" sz="1800" spc="-1" strike="noStrike">
              <a:latin typeface="Arial"/>
            </a:endParaRPr>
          </a:p>
        </p:txBody>
      </p:sp>
      <p:sp>
        <p:nvSpPr>
          <p:cNvPr id="264" name="TextBox 46"/>
          <p:cNvSpPr/>
          <p:nvPr/>
        </p:nvSpPr>
        <p:spPr>
          <a:xfrm>
            <a:off x="7362360" y="2511360"/>
            <a:ext cx="1858680" cy="515520"/>
          </a:xfrm>
          <a:prstGeom prst="rect">
            <a:avLst/>
          </a:prstGeom>
          <a:noFill/>
          <a:ln w="0">
            <a:noFill/>
          </a:ln>
        </p:spPr>
        <p:style>
          <a:lnRef idx="0"/>
          <a:fillRef idx="0"/>
          <a:effectRef idx="0"/>
          <a:fontRef idx="minor"/>
        </p:style>
        <p:txBody>
          <a:bodyPr lIns="90000" rIns="90000" tIns="45000" bIns="45000" anchor="ctr">
            <a:spAutoFit/>
          </a:bodyPr>
          <a:p>
            <a:pPr>
              <a:lnSpc>
                <a:spcPct val="100000"/>
              </a:lnSpc>
              <a:buNone/>
            </a:pPr>
            <a:r>
              <a:rPr b="0" lang="en-US" sz="1400" spc="-1" strike="noStrike">
                <a:solidFill>
                  <a:srgbClr val="3366cc"/>
                </a:solidFill>
                <a:latin typeface="Calibri"/>
              </a:rPr>
              <a:t>interpretation samples</a:t>
            </a:r>
            <a:endParaRPr b="0" lang="en-US" sz="1400" spc="-1" strike="noStrike">
              <a:latin typeface="Arial"/>
            </a:endParaRPr>
          </a:p>
        </p:txBody>
      </p:sp>
      <p:sp>
        <p:nvSpPr>
          <p:cNvPr id="265" name="TextBox 48"/>
          <p:cNvSpPr/>
          <p:nvPr/>
        </p:nvSpPr>
        <p:spPr>
          <a:xfrm>
            <a:off x="9936360" y="2005560"/>
            <a:ext cx="1371240" cy="63792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ctr">
            <a:spAutoFit/>
          </a:bodyPr>
          <a:p>
            <a:r>
              <a:rPr b="1" lang="en-US" sz="1800" spc="-1" strike="noStrike">
                <a:solidFill>
                  <a:srgbClr val="000000"/>
                </a:solidFill>
                <a:latin typeface="Calibri"/>
              </a:rPr>
              <a:t>MCQ</a:t>
            </a:r>
            <a:endParaRPr b="0" lang="en-US" sz="1800" spc="-1" strike="noStrike">
              <a:latin typeface="Arial"/>
            </a:endParaRPr>
          </a:p>
          <a:p>
            <a:pPr algn="ctr">
              <a:lnSpc>
                <a:spcPct val="100000"/>
              </a:lnSpc>
              <a:buNone/>
            </a:pPr>
            <a:r>
              <a:rPr b="1" lang="en-US" sz="1800" spc="-1" strike="noStrike">
                <a:solidFill>
                  <a:srgbClr val="000000"/>
                </a:solidFill>
                <a:latin typeface="Calibri"/>
              </a:rPr>
              <a:t>record</a:t>
            </a:r>
            <a:endParaRPr b="0" lang="en-US" sz="1800" spc="-1" strike="noStrike">
              <a:latin typeface="Arial"/>
            </a:endParaRPr>
          </a:p>
        </p:txBody>
      </p:sp>
      <p:sp>
        <p:nvSpPr>
          <p:cNvPr id="266" name="TextBox 54"/>
          <p:cNvSpPr/>
          <p:nvPr/>
        </p:nvSpPr>
        <p:spPr>
          <a:xfrm>
            <a:off x="9841320" y="2511360"/>
            <a:ext cx="1645560" cy="51552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lang="en-US" sz="1400" spc="-1" strike="noStrike">
                <a:solidFill>
                  <a:srgbClr val="3366cc"/>
                </a:solidFill>
                <a:latin typeface="Calibri"/>
              </a:rPr>
              <a:t>stored resolution</a:t>
            </a:r>
            <a:endParaRPr b="0" lang="en-US" sz="1400" spc="-1" strike="noStrike">
              <a:latin typeface="Arial"/>
            </a:endParaRPr>
          </a:p>
        </p:txBody>
      </p:sp>
      <p:sp>
        <p:nvSpPr>
          <p:cNvPr id="267" name="TextBox 66"/>
          <p:cNvSpPr/>
          <p:nvPr/>
        </p:nvSpPr>
        <p:spPr>
          <a:xfrm>
            <a:off x="444600" y="3062520"/>
            <a:ext cx="1922760" cy="159624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100" spc="-1" strike="noStrike">
                <a:solidFill>
                  <a:srgbClr val="3366cc"/>
                </a:solidFill>
                <a:latin typeface="Calibri"/>
              </a:rPr>
              <a:t>Validated SQL anchor</a:t>
            </a:r>
            <a:endParaRPr b="0" lang="en-US" sz="1100" spc="-1" strike="noStrike">
              <a:latin typeface="Arial"/>
            </a:endParaRPr>
          </a:p>
          <a:p>
            <a:pPr>
              <a:lnSpc>
                <a:spcPct val="100000"/>
              </a:lnSpc>
              <a:buNone/>
            </a:pPr>
            <a:r>
              <a:rPr b="0" lang="en-US" sz="1100" spc="-1" strike="noStrike">
                <a:solidFill>
                  <a:srgbClr val="282828"/>
                </a:solidFill>
                <a:latin typeface="Calibri"/>
              </a:rPr>
              <a:t>SELECT r.region_name,</a:t>
            </a:r>
            <a:endParaRPr b="0" lang="en-US" sz="1100" spc="-1" strike="noStrike">
              <a:latin typeface="Arial"/>
            </a:endParaRPr>
          </a:p>
          <a:p>
            <a:pPr>
              <a:lnSpc>
                <a:spcPct val="100000"/>
              </a:lnSpc>
              <a:buNone/>
            </a:pPr>
            <a:r>
              <a:rPr b="0" lang="en-US" sz="1100" spc="-1" strike="noStrike">
                <a:solidFill>
                  <a:srgbClr val="282828"/>
                </a:solidFill>
                <a:latin typeface="Calibri"/>
              </a:rPr>
              <a:t>  </a:t>
            </a:r>
            <a:r>
              <a:rPr b="0" lang="en-US" sz="1100" spc="-1" strike="noStrike">
                <a:solidFill>
                  <a:srgbClr val="282828"/>
                </a:solidFill>
                <a:latin typeface="Calibri"/>
              </a:rPr>
              <a:t>SUM(o.revenue) AS total_revenue</a:t>
            </a:r>
            <a:endParaRPr b="0" lang="en-US" sz="1100" spc="-1" strike="noStrike">
              <a:latin typeface="Arial"/>
            </a:endParaRPr>
          </a:p>
          <a:p>
            <a:pPr>
              <a:lnSpc>
                <a:spcPct val="100000"/>
              </a:lnSpc>
              <a:buNone/>
            </a:pPr>
            <a:r>
              <a:rPr b="0" lang="en-US" sz="1100" spc="-1" strike="noStrike">
                <a:solidFill>
                  <a:srgbClr val="282828"/>
                </a:solidFill>
                <a:latin typeface="Calibri"/>
              </a:rPr>
              <a:t>FROM orders o ...</a:t>
            </a:r>
            <a:endParaRPr b="0" lang="en-US" sz="1100" spc="-1" strike="noStrike">
              <a:latin typeface="Arial"/>
            </a:endParaRPr>
          </a:p>
          <a:p>
            <a:pPr>
              <a:lnSpc>
                <a:spcPct val="100000"/>
              </a:lnSpc>
              <a:buNone/>
            </a:pPr>
            <a:r>
              <a:rPr b="0" lang="en-US" sz="1100" spc="-1" strike="noStrike">
                <a:solidFill>
                  <a:srgbClr val="282828"/>
                </a:solidFill>
                <a:latin typeface="Calibri"/>
              </a:rPr>
              <a:t>WHERE c.state = 'New York'</a:t>
            </a:r>
            <a:endParaRPr b="0" lang="en-US" sz="1100" spc="-1" strike="noStrike">
              <a:latin typeface="Arial"/>
            </a:endParaRPr>
          </a:p>
          <a:p>
            <a:pPr>
              <a:lnSpc>
                <a:spcPct val="100000"/>
              </a:lnSpc>
              <a:buNone/>
            </a:pPr>
            <a:r>
              <a:rPr b="0" lang="en-US" sz="1100" spc="-1" strike="noStrike">
                <a:solidFill>
                  <a:srgbClr val="282828"/>
                </a:solidFill>
                <a:latin typeface="Calibri"/>
              </a:rPr>
              <a:t>  </a:t>
            </a:r>
            <a:r>
              <a:rPr b="0" lang="en-US" sz="1100" spc="-1" strike="noStrike">
                <a:solidFill>
                  <a:srgbClr val="282828"/>
                </a:solidFill>
                <a:latin typeface="Calibri"/>
              </a:rPr>
              <a:t>AND fiscal_q = '2024 Q1'</a:t>
            </a:r>
            <a:endParaRPr b="0" lang="en-US" sz="1100" spc="-1" strike="noStrike">
              <a:latin typeface="Arial"/>
            </a:endParaRPr>
          </a:p>
        </p:txBody>
      </p:sp>
      <p:sp>
        <p:nvSpPr>
          <p:cNvPr id="268" name="TextBox 69"/>
          <p:cNvSpPr/>
          <p:nvPr/>
        </p:nvSpPr>
        <p:spPr>
          <a:xfrm>
            <a:off x="2763720" y="3216600"/>
            <a:ext cx="1979640" cy="158148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3366cc"/>
                </a:solidFill>
                <a:latin typeface="Calibri"/>
              </a:rPr>
              <a:t>Detailed NL intent</a:t>
            </a:r>
            <a:endParaRPr b="0" lang="en-US" sz="1400" spc="-1" strike="noStrike">
              <a:latin typeface="Arial"/>
            </a:endParaRPr>
          </a:p>
          <a:p>
            <a:pPr>
              <a:lnSpc>
                <a:spcPct val="100000"/>
              </a:lnSpc>
              <a:buNone/>
            </a:pPr>
            <a:r>
              <a:rPr b="0" lang="en-US" sz="1400" spc="-1" strike="noStrike">
                <a:solidFill>
                  <a:srgbClr val="2b2b2b"/>
                </a:solidFill>
                <a:latin typeface="Calibri"/>
              </a:rPr>
              <a:t>List top-5 regions in New York State ranked by total revenue in fiscal quarter Q1’24.</a:t>
            </a:r>
            <a:endParaRPr b="0" lang="en-US" sz="1400" spc="-1" strike="noStrike">
              <a:latin typeface="Arial"/>
            </a:endParaRPr>
          </a:p>
        </p:txBody>
      </p:sp>
      <p:sp>
        <p:nvSpPr>
          <p:cNvPr id="269" name="TextBox 72"/>
          <p:cNvSpPr/>
          <p:nvPr/>
        </p:nvSpPr>
        <p:spPr>
          <a:xfrm>
            <a:off x="5114880" y="3216600"/>
            <a:ext cx="1803240" cy="136836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3366cc"/>
                </a:solidFill>
                <a:latin typeface="Calibri"/>
              </a:rPr>
              <a:t>Ambiguous user wording</a:t>
            </a:r>
            <a:endParaRPr b="0" lang="en-US" sz="1400" spc="-1" strike="noStrike">
              <a:latin typeface="Arial"/>
            </a:endParaRPr>
          </a:p>
          <a:p>
            <a:pPr>
              <a:lnSpc>
                <a:spcPct val="100000"/>
              </a:lnSpc>
              <a:buNone/>
            </a:pPr>
            <a:r>
              <a:rPr b="0" lang="en-US" sz="1400" spc="-1" strike="noStrike">
                <a:solidFill>
                  <a:srgbClr val="2b2b2b"/>
                </a:solidFill>
                <a:latin typeface="Calibri"/>
              </a:rPr>
              <a:t>Find top-5 performing regions in New York last quarter?</a:t>
            </a:r>
            <a:endParaRPr b="0" lang="en-US" sz="1400" spc="-1" strike="noStrike">
              <a:latin typeface="Arial"/>
            </a:endParaRPr>
          </a:p>
        </p:txBody>
      </p:sp>
      <p:sp>
        <p:nvSpPr>
          <p:cNvPr id="270" name="TextBox 75"/>
          <p:cNvSpPr/>
          <p:nvPr/>
        </p:nvSpPr>
        <p:spPr>
          <a:xfrm>
            <a:off x="7290360" y="3431880"/>
            <a:ext cx="1984680" cy="136836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3366cc"/>
                </a:solidFill>
                <a:latin typeface="Calibri"/>
              </a:rPr>
              <a:t>Candidate variants</a:t>
            </a:r>
            <a:endParaRPr b="0" lang="en-US" sz="1400" spc="-1" strike="noStrike">
              <a:latin typeface="Arial"/>
            </a:endParaRPr>
          </a:p>
          <a:p>
            <a:pPr>
              <a:lnSpc>
                <a:spcPct val="100000"/>
              </a:lnSpc>
              <a:buNone/>
            </a:pPr>
            <a:r>
              <a:rPr b="0" lang="en-US" sz="1400" spc="-1" strike="noStrike">
                <a:solidFill>
                  <a:srgbClr val="2b2b2b"/>
                </a:solidFill>
                <a:latin typeface="Calibri"/>
              </a:rPr>
              <a:t>A  SUM(o.revenue)</a:t>
            </a:r>
            <a:endParaRPr b="0" lang="en-US" sz="1400" spc="-1" strike="noStrike">
              <a:latin typeface="Arial"/>
            </a:endParaRPr>
          </a:p>
          <a:p>
            <a:pPr>
              <a:lnSpc>
                <a:spcPct val="100000"/>
              </a:lnSpc>
              <a:buNone/>
            </a:pPr>
            <a:r>
              <a:rPr b="0" lang="en-US" sz="1400" spc="-1" strike="noStrike">
                <a:solidFill>
                  <a:srgbClr val="2b2b2b"/>
                </a:solidFill>
                <a:latin typeface="Calibri"/>
              </a:rPr>
              <a:t>B  SUM(o.profit)</a:t>
            </a:r>
            <a:endParaRPr b="0" lang="en-US" sz="1400" spc="-1" strike="noStrike">
              <a:latin typeface="Arial"/>
            </a:endParaRPr>
          </a:p>
          <a:p>
            <a:pPr>
              <a:lnSpc>
                <a:spcPct val="100000"/>
              </a:lnSpc>
              <a:buNone/>
            </a:pPr>
            <a:r>
              <a:rPr b="0" lang="en-US" sz="1400" spc="-1" strike="noStrike">
                <a:solidFill>
                  <a:srgbClr val="2b2b2b"/>
                </a:solidFill>
                <a:latin typeface="Calibri"/>
              </a:rPr>
              <a:t>C  COUNT(o.deal_id)</a:t>
            </a:r>
            <a:endParaRPr b="0" lang="en-US" sz="1400" spc="-1" strike="noStrike">
              <a:latin typeface="Arial"/>
            </a:endParaRPr>
          </a:p>
        </p:txBody>
      </p:sp>
      <p:sp>
        <p:nvSpPr>
          <p:cNvPr id="271" name="TextBox 78"/>
          <p:cNvSpPr/>
          <p:nvPr/>
        </p:nvSpPr>
        <p:spPr>
          <a:xfrm>
            <a:off x="9646560" y="3155040"/>
            <a:ext cx="1923120" cy="136728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200" spc="-1" strike="noStrike">
                <a:solidFill>
                  <a:srgbClr val="3366cc"/>
                </a:solidFill>
                <a:latin typeface="Calibri"/>
              </a:rPr>
              <a:t>Stored MCQ record</a:t>
            </a:r>
            <a:endParaRPr b="0" lang="en-US" sz="1200" spc="-1" strike="noStrike">
              <a:latin typeface="Arial"/>
            </a:endParaRPr>
          </a:p>
          <a:p>
            <a:pPr>
              <a:lnSpc>
                <a:spcPct val="100000"/>
              </a:lnSpc>
              <a:buNone/>
            </a:pPr>
            <a:r>
              <a:rPr b="0" lang="en-US" sz="1200" spc="-1" strike="noStrike">
                <a:solidFill>
                  <a:srgbClr val="2b2b2b"/>
                </a:solidFill>
                <a:latin typeface="Calibri"/>
              </a:rPr>
              <a:t>How should “performing” be ranked?</a:t>
            </a:r>
            <a:endParaRPr b="0" lang="en-US" sz="1200" spc="-1" strike="noStrike">
              <a:latin typeface="Arial"/>
            </a:endParaRPr>
          </a:p>
          <a:p>
            <a:pPr>
              <a:lnSpc>
                <a:spcPct val="100000"/>
              </a:lnSpc>
              <a:buNone/>
            </a:pPr>
            <a:r>
              <a:rPr b="0" lang="en-US" sz="1200" spc="-1" strike="noStrike">
                <a:solidFill>
                  <a:srgbClr val="c74634"/>
                </a:solidFill>
                <a:latin typeface="Calibri"/>
              </a:rPr>
              <a:t>A) Revenue  ✓</a:t>
            </a:r>
            <a:endParaRPr b="0" lang="en-US" sz="1200" spc="-1" strike="noStrike">
              <a:latin typeface="Arial"/>
            </a:endParaRPr>
          </a:p>
          <a:p>
            <a:pPr>
              <a:lnSpc>
                <a:spcPct val="100000"/>
              </a:lnSpc>
              <a:buNone/>
            </a:pPr>
            <a:r>
              <a:rPr b="0" lang="en-US" sz="1200" spc="-1" strike="noStrike">
                <a:solidFill>
                  <a:srgbClr val="c74634"/>
                </a:solidFill>
                <a:latin typeface="Calibri"/>
              </a:rPr>
              <a:t>B) Profit</a:t>
            </a:r>
            <a:endParaRPr b="0" lang="en-US" sz="1200" spc="-1" strike="noStrike">
              <a:latin typeface="Arial"/>
            </a:endParaRPr>
          </a:p>
          <a:p>
            <a:pPr>
              <a:lnSpc>
                <a:spcPct val="100000"/>
              </a:lnSpc>
              <a:buNone/>
            </a:pPr>
            <a:r>
              <a:rPr b="0" lang="en-US" sz="1200" spc="-1" strike="noStrike">
                <a:solidFill>
                  <a:srgbClr val="c74634"/>
                </a:solidFill>
                <a:latin typeface="Calibri"/>
              </a:rPr>
              <a:t>C) Deal count</a:t>
            </a:r>
            <a:endParaRPr b="0" lang="en-US" sz="1200" spc="-1" strike="noStrike">
              <a:latin typeface="Arial"/>
            </a:endParaRPr>
          </a:p>
        </p:txBody>
      </p:sp>
      <p:sp>
        <p:nvSpPr>
          <p:cNvPr id="272" name="Rectangle 83"/>
          <p:cNvSpPr/>
          <p:nvPr/>
        </p:nvSpPr>
        <p:spPr>
          <a:xfrm>
            <a:off x="402120" y="4648320"/>
            <a:ext cx="11063880" cy="10440"/>
          </a:xfrm>
          <a:prstGeom prst="rect">
            <a:avLst/>
          </a:prstGeom>
          <a:solidFill>
            <a:schemeClr val="bg1">
              <a:lumMod val="95000"/>
            </a:schemeClr>
          </a:solidFill>
          <a:ln>
            <a:solidFill>
              <a:srgbClr val="478f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3" name="Rectangle 84"/>
          <p:cNvSpPr/>
          <p:nvPr/>
        </p:nvSpPr>
        <p:spPr>
          <a:xfrm>
            <a:off x="411840" y="4746960"/>
            <a:ext cx="54360" cy="255600"/>
          </a:xfrm>
          <a:prstGeom prst="rect">
            <a:avLst/>
          </a:prstGeom>
          <a:solidFill>
            <a:srgbClr val="c73b3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4" name="TextBox 85"/>
          <p:cNvSpPr/>
          <p:nvPr/>
        </p:nvSpPr>
        <p:spPr>
          <a:xfrm>
            <a:off x="502560" y="4579920"/>
            <a:ext cx="5997960" cy="637920"/>
          </a:xfrm>
          <a:prstGeom prst="rect">
            <a:avLst/>
          </a:prstGeom>
          <a:noFill/>
          <a:ln w="0">
            <a:noFill/>
          </a:ln>
        </p:spPr>
        <p:style>
          <a:lnRef idx="0"/>
          <a:fillRef idx="0"/>
          <a:effectRef idx="0"/>
          <a:fontRef idx="minor"/>
        </p:style>
        <p:txBody>
          <a:bodyPr lIns="90000" rIns="90000" tIns="45000" bIns="45000" anchor="ctr">
            <a:spAutoFit/>
          </a:bodyPr>
          <a:p>
            <a:pPr>
              <a:lnSpc>
                <a:spcPct val="100000"/>
              </a:lnSpc>
              <a:buNone/>
            </a:pPr>
            <a:r>
              <a:rPr b="1" lang="en-US" sz="1800" spc="-1" strike="noStrike">
                <a:solidFill>
                  <a:srgbClr val="3366cc"/>
                </a:solidFill>
                <a:latin typeface="Calibri"/>
              </a:rPr>
              <a:t>ONLINE: Retrieve MCQs to Resolve a New User Question</a:t>
            </a:r>
            <a:endParaRPr b="0" lang="en-US" sz="1800" spc="-1" strike="noStrike">
              <a:latin typeface="Arial"/>
            </a:endParaRPr>
          </a:p>
        </p:txBody>
      </p:sp>
      <p:sp>
        <p:nvSpPr>
          <p:cNvPr id="275" name="TextBox 88"/>
          <p:cNvSpPr/>
          <p:nvPr/>
        </p:nvSpPr>
        <p:spPr>
          <a:xfrm>
            <a:off x="468360" y="5192280"/>
            <a:ext cx="3062880" cy="106308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2b2b2b"/>
                </a:solidFill>
                <a:latin typeface="Calibri"/>
              </a:rPr>
              <a:t>New user question</a:t>
            </a:r>
            <a:endParaRPr b="0" lang="en-US" sz="1600" spc="-1" strike="noStrike">
              <a:latin typeface="Arial"/>
            </a:endParaRPr>
          </a:p>
          <a:p>
            <a:pPr>
              <a:lnSpc>
                <a:spcPct val="100000"/>
              </a:lnSpc>
              <a:buNone/>
            </a:pPr>
            <a:r>
              <a:rPr b="0" lang="en-US" sz="1600" spc="-1" strike="noStrike">
                <a:solidFill>
                  <a:srgbClr val="2b2b2b"/>
                </a:solidFill>
                <a:latin typeface="Calibri"/>
              </a:rPr>
              <a:t>“</a:t>
            </a:r>
            <a:r>
              <a:rPr b="0" lang="en-US" sz="1600" spc="-1" strike="noStrike">
                <a:solidFill>
                  <a:srgbClr val="2b2b2b"/>
                </a:solidFill>
                <a:latin typeface="Calibri"/>
              </a:rPr>
              <a:t>Can you help me find the top-performing region last quarter?”</a:t>
            </a:r>
            <a:endParaRPr b="0" lang="en-US" sz="1600" spc="-1" strike="noStrike">
              <a:latin typeface="Arial"/>
            </a:endParaRPr>
          </a:p>
        </p:txBody>
      </p:sp>
      <p:sp>
        <p:nvSpPr>
          <p:cNvPr id="276" name="TextBox 91"/>
          <p:cNvSpPr/>
          <p:nvPr/>
        </p:nvSpPr>
        <p:spPr>
          <a:xfrm>
            <a:off x="4227120" y="5192280"/>
            <a:ext cx="2770200" cy="81972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Calibri"/>
              </a:rPr>
              <a:t>Retrieve relevant MCQ</a:t>
            </a:r>
            <a:endParaRPr b="0" lang="en-US" sz="1600" spc="-1" strike="noStrike">
              <a:latin typeface="Arial"/>
            </a:endParaRPr>
          </a:p>
          <a:p>
            <a:pPr>
              <a:lnSpc>
                <a:spcPct val="100000"/>
              </a:lnSpc>
              <a:buNone/>
            </a:pPr>
            <a:r>
              <a:rPr b="0" lang="en-US" sz="1600" spc="-1" strike="noStrike">
                <a:solidFill>
                  <a:srgbClr val="2b2b2b"/>
                </a:solidFill>
                <a:latin typeface="Calibri"/>
              </a:rPr>
              <a:t>How should “performing” be ranked?  →  Revenue</a:t>
            </a:r>
            <a:endParaRPr b="0" lang="en-US" sz="1600" spc="-1" strike="noStrike">
              <a:latin typeface="Arial"/>
            </a:endParaRPr>
          </a:p>
        </p:txBody>
      </p:sp>
      <p:sp>
        <p:nvSpPr>
          <p:cNvPr id="277" name="TextBox 94"/>
          <p:cNvSpPr/>
          <p:nvPr/>
        </p:nvSpPr>
        <p:spPr>
          <a:xfrm>
            <a:off x="7692840" y="5192280"/>
            <a:ext cx="3868560" cy="106308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2b2b2b"/>
                </a:solidFill>
                <a:latin typeface="Calibri"/>
              </a:rPr>
              <a:t>Use as generation context</a:t>
            </a:r>
            <a:endParaRPr b="0" lang="en-US" sz="1600" spc="-1" strike="noStrike">
              <a:latin typeface="Arial"/>
            </a:endParaRPr>
          </a:p>
          <a:p>
            <a:pPr>
              <a:lnSpc>
                <a:spcPct val="100000"/>
              </a:lnSpc>
              <a:buNone/>
            </a:pPr>
            <a:r>
              <a:rPr b="0" lang="en-US" sz="1600" spc="-1" strike="noStrike">
                <a:solidFill>
                  <a:srgbClr val="52565c"/>
                </a:solidFill>
                <a:latin typeface="Calibri"/>
              </a:rPr>
              <a:t>Inject clarification into planning and SQL generation; produce intent-conditioned SQL</a:t>
            </a:r>
            <a:endParaRPr b="0" lang="en-US" sz="1600" spc="-1" strike="noStrike">
              <a:latin typeface="Arial"/>
            </a:endParaRPr>
          </a:p>
        </p:txBody>
      </p:sp>
      <p:sp>
        <p:nvSpPr>
          <p:cNvPr id="278" name="TextBox 98"/>
          <p:cNvSpPr/>
          <p:nvPr/>
        </p:nvSpPr>
        <p:spPr>
          <a:xfrm>
            <a:off x="1009800" y="6160680"/>
            <a:ext cx="10171800" cy="637920"/>
          </a:xfrm>
          <a:prstGeom prst="rect">
            <a:avLst/>
          </a:prstGeom>
          <a:solidFill>
            <a:schemeClr val="bg1">
              <a:lumMod val="95000"/>
            </a:schemeClr>
          </a:solidFill>
          <a:ln w="28575">
            <a:solidFill>
              <a:srgbClr val="478fe1"/>
            </a:solidFill>
            <a:round/>
          </a:ln>
        </p:spPr>
        <p:style>
          <a:lnRef idx="0"/>
          <a:fillRef idx="0"/>
          <a:effectRef idx="0"/>
          <a:fontRef idx="minor"/>
        </p:style>
        <p:txBody>
          <a:bodyPr lIns="90000" rIns="90000" tIns="45000" bIns="45000" anchor="ctr">
            <a:spAutoFit/>
          </a:bodyPr>
          <a:p>
            <a:pPr algn="ctr">
              <a:lnSpc>
                <a:spcPct val="100000"/>
              </a:lnSpc>
              <a:buNone/>
            </a:pPr>
            <a:r>
              <a:rPr b="1" lang="en-US" sz="1800" spc="-1" strike="noStrike">
                <a:solidFill>
                  <a:srgbClr val="282828"/>
                </a:solidFill>
                <a:latin typeface="Calibri"/>
              </a:rPr>
              <a:t>Key takeaway: historical SQL expressions provide useful clarification knowledge for disambiguation</a:t>
            </a:r>
            <a:endParaRPr b="0" lang="en-US" sz="1800" spc="-1" strike="noStrike">
              <a:latin typeface="Arial"/>
            </a:endParaRPr>
          </a:p>
        </p:txBody>
      </p:sp>
      <p:sp>
        <p:nvSpPr>
          <p:cNvPr id="279" name="Straight Arrow Connector 100"/>
          <p:cNvSpPr/>
          <p:nvPr/>
        </p:nvSpPr>
        <p:spPr>
          <a:xfrm>
            <a:off x="2179800" y="2297520"/>
            <a:ext cx="722160" cy="360"/>
          </a:xfrm>
          <a:custGeom>
            <a:avLst/>
            <a:gdLst/>
            <a:ahLst/>
            <a:rect l="l" t="t" r="r" b="b"/>
            <a:pathLst>
              <a:path w="21600" h="21600">
                <a:moveTo>
                  <a:pt x="0" y="0"/>
                </a:moveTo>
                <a:lnTo>
                  <a:pt x="21600" y="21600"/>
                </a:lnTo>
              </a:path>
            </a:pathLst>
          </a:custGeom>
          <a:noFill/>
          <a:ln w="28575">
            <a:solidFill>
              <a:srgbClr val="000000"/>
            </a:solidFill>
            <a:round/>
            <a:tailEnd len="med" type="triangle" w="med"/>
          </a:ln>
        </p:spPr>
        <p:style>
          <a:lnRef idx="1">
            <a:schemeClr val="accent1"/>
          </a:lnRef>
          <a:fillRef idx="0">
            <a:schemeClr val="accent1"/>
          </a:fillRef>
          <a:effectRef idx="0">
            <a:schemeClr val="accent1"/>
          </a:effectRef>
          <a:fontRef idx="minor"/>
        </p:style>
      </p:sp>
      <p:sp>
        <p:nvSpPr>
          <p:cNvPr id="280" name="Straight Arrow Connector 101"/>
          <p:cNvSpPr/>
          <p:nvPr/>
        </p:nvSpPr>
        <p:spPr>
          <a:xfrm>
            <a:off x="4449600" y="2297520"/>
            <a:ext cx="722160" cy="360"/>
          </a:xfrm>
          <a:custGeom>
            <a:avLst/>
            <a:gdLst/>
            <a:ahLst/>
            <a:rect l="l" t="t" r="r" b="b"/>
            <a:pathLst>
              <a:path w="21600" h="21600">
                <a:moveTo>
                  <a:pt x="0" y="0"/>
                </a:moveTo>
                <a:lnTo>
                  <a:pt x="21600" y="21600"/>
                </a:lnTo>
              </a:path>
            </a:pathLst>
          </a:custGeom>
          <a:noFill/>
          <a:ln w="28575">
            <a:solidFill>
              <a:srgbClr val="000000"/>
            </a:solidFill>
            <a:round/>
            <a:tailEnd len="med" type="triangle" w="med"/>
          </a:ln>
        </p:spPr>
        <p:style>
          <a:lnRef idx="1">
            <a:schemeClr val="accent1"/>
          </a:lnRef>
          <a:fillRef idx="0">
            <a:schemeClr val="accent1"/>
          </a:fillRef>
          <a:effectRef idx="0">
            <a:schemeClr val="accent1"/>
          </a:effectRef>
          <a:fontRef idx="minor"/>
        </p:style>
      </p:sp>
      <p:sp>
        <p:nvSpPr>
          <p:cNvPr id="281" name="Straight Arrow Connector 102"/>
          <p:cNvSpPr/>
          <p:nvPr/>
        </p:nvSpPr>
        <p:spPr>
          <a:xfrm>
            <a:off x="6719400" y="2297520"/>
            <a:ext cx="722160" cy="360"/>
          </a:xfrm>
          <a:custGeom>
            <a:avLst/>
            <a:gdLst/>
            <a:ahLst/>
            <a:rect l="l" t="t" r="r" b="b"/>
            <a:pathLst>
              <a:path w="21600" h="21600">
                <a:moveTo>
                  <a:pt x="0" y="0"/>
                </a:moveTo>
                <a:lnTo>
                  <a:pt x="21600" y="21600"/>
                </a:lnTo>
              </a:path>
            </a:pathLst>
          </a:custGeom>
          <a:noFill/>
          <a:ln w="28575">
            <a:solidFill>
              <a:srgbClr val="000000"/>
            </a:solidFill>
            <a:round/>
            <a:tailEnd len="med" type="triangle" w="med"/>
          </a:ln>
        </p:spPr>
        <p:style>
          <a:lnRef idx="1">
            <a:schemeClr val="accent1"/>
          </a:lnRef>
          <a:fillRef idx="0">
            <a:schemeClr val="accent1"/>
          </a:fillRef>
          <a:effectRef idx="0">
            <a:schemeClr val="accent1"/>
          </a:effectRef>
          <a:fontRef idx="minor"/>
        </p:style>
      </p:sp>
      <p:sp>
        <p:nvSpPr>
          <p:cNvPr id="282" name="Straight Arrow Connector 103"/>
          <p:cNvSpPr/>
          <p:nvPr/>
        </p:nvSpPr>
        <p:spPr>
          <a:xfrm>
            <a:off x="9126360" y="2274480"/>
            <a:ext cx="722160" cy="360"/>
          </a:xfrm>
          <a:custGeom>
            <a:avLst/>
            <a:gdLst/>
            <a:ahLst/>
            <a:rect l="l" t="t" r="r" b="b"/>
            <a:pathLst>
              <a:path w="21600" h="21600">
                <a:moveTo>
                  <a:pt x="0" y="0"/>
                </a:moveTo>
                <a:lnTo>
                  <a:pt x="21600" y="21600"/>
                </a:lnTo>
              </a:path>
            </a:pathLst>
          </a:custGeom>
          <a:noFill/>
          <a:ln w="28575">
            <a:solidFill>
              <a:srgbClr val="000000"/>
            </a:solidFill>
            <a:round/>
            <a:tailEnd len="med" type="triangle" w="med"/>
          </a:ln>
        </p:spPr>
        <p:style>
          <a:lnRef idx="1">
            <a:schemeClr val="accent1"/>
          </a:lnRef>
          <a:fillRef idx="0">
            <a:schemeClr val="accent1"/>
          </a:fillRef>
          <a:effectRef idx="0">
            <a:schemeClr val="accent1"/>
          </a:effectRef>
          <a:fontRef idx="minor"/>
        </p:style>
      </p:sp>
      <p:sp>
        <p:nvSpPr>
          <p:cNvPr id="283" name="Straight Arrow Connector 104"/>
          <p:cNvSpPr/>
          <p:nvPr/>
        </p:nvSpPr>
        <p:spPr>
          <a:xfrm>
            <a:off x="2436480" y="375912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4" name="Straight Arrow Connector 107"/>
          <p:cNvSpPr/>
          <p:nvPr/>
        </p:nvSpPr>
        <p:spPr>
          <a:xfrm>
            <a:off x="4788000" y="375084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5" name="Straight Arrow Connector 108"/>
          <p:cNvSpPr/>
          <p:nvPr/>
        </p:nvSpPr>
        <p:spPr>
          <a:xfrm>
            <a:off x="6963120" y="377424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6" name="Straight Arrow Connector 109"/>
          <p:cNvSpPr/>
          <p:nvPr/>
        </p:nvSpPr>
        <p:spPr>
          <a:xfrm>
            <a:off x="9319320" y="377424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7" name="Straight Arrow Connector 110"/>
          <p:cNvSpPr/>
          <p:nvPr/>
        </p:nvSpPr>
        <p:spPr>
          <a:xfrm>
            <a:off x="3737880" y="553644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8" name="Straight Arrow Connector 111"/>
          <p:cNvSpPr/>
          <p:nvPr/>
        </p:nvSpPr>
        <p:spPr>
          <a:xfrm>
            <a:off x="7203960" y="5559840"/>
            <a:ext cx="282600" cy="360"/>
          </a:xfrm>
          <a:custGeom>
            <a:avLst/>
            <a:gdLst/>
            <a:ahLst/>
            <a:rect l="l" t="t" r="r" b="b"/>
            <a:pathLst>
              <a:path w="21600" h="21600">
                <a:moveTo>
                  <a:pt x="0" y="0"/>
                </a:moveTo>
                <a:lnTo>
                  <a:pt x="21600" y="21600"/>
                </a:lnTo>
              </a:path>
            </a:pathLst>
          </a:custGeom>
          <a:noFill/>
          <a:ln w="28575">
            <a:solidFill>
              <a:srgbClr val="478fe1"/>
            </a:solidFill>
            <a:round/>
            <a:tailEnd len="med" type="triangle" w="med"/>
          </a:ln>
        </p:spPr>
        <p:style>
          <a:lnRef idx="1">
            <a:schemeClr val="accent1"/>
          </a:lnRef>
          <a:fillRef idx="0">
            <a:schemeClr val="accent1"/>
          </a:fillRef>
          <a:effectRef idx="0">
            <a:schemeClr val="accent1"/>
          </a:effectRef>
          <a:fontRef idx="minor"/>
        </p:style>
      </p:sp>
      <p:sp>
        <p:nvSpPr>
          <p:cNvPr id="289" name="PlaceHolder 2"/>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Differentiator #1: Synthetic Query Logs</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239" dur="indefinite" restart="never" nodeType="tmRoot">
          <p:childTnLst>
            <p:seq>
              <p:cTn id="240" dur="indefinite" nodeType="mainSeq">
                <p:childTnLst>
                  <p:par>
                    <p:cTn id="241" fill="hold">
                      <p:stCondLst>
                        <p:cond delay="indefinite"/>
                      </p:stCondLst>
                      <p:childTnLst>
                        <p:par>
                          <p:cTn id="242" fill="hold">
                            <p:stCondLst>
                              <p:cond delay="0"/>
                            </p:stCondLst>
                            <p:childTnLst>
                              <p:par>
                                <p:cTn id="243" nodeType="clickEffect" fill="hold" presetClass="entr" presetID="1">
                                  <p:stCondLst>
                                    <p:cond delay="0"/>
                                  </p:stCondLst>
                                  <p:childTnLst>
                                    <p:set>
                                      <p:cBhvr>
                                        <p:cTn id="244" dur="1" fill="hold">
                                          <p:stCondLst>
                                            <p:cond delay="0"/>
                                          </p:stCondLst>
                                        </p:cTn>
                                        <p:tgtEl>
                                          <p:spTgt spid="252"/>
                                        </p:tgtEl>
                                        <p:attrNameLst>
                                          <p:attrName>style.visibility</p:attrName>
                                        </p:attrNameLst>
                                      </p:cBhvr>
                                      <p:to>
                                        <p:strVal val="visible"/>
                                      </p:to>
                                    </p:set>
                                  </p:childTnLst>
                                </p:cTn>
                              </p:par>
                              <p:par>
                                <p:cTn id="245" nodeType="withEffect" fill="hold" presetClass="entr" presetID="1">
                                  <p:stCondLst>
                                    <p:cond delay="0"/>
                                  </p:stCondLst>
                                  <p:childTnLst>
                                    <p:set>
                                      <p:cBhvr>
                                        <p:cTn id="246" dur="1" fill="hold">
                                          <p:stCondLst>
                                            <p:cond delay="0"/>
                                          </p:stCondLst>
                                        </p:cTn>
                                        <p:tgtEl>
                                          <p:spTgt spid="253"/>
                                        </p:tgtEl>
                                        <p:attrNameLst>
                                          <p:attrName>style.visibility</p:attrName>
                                        </p:attrNameLst>
                                      </p:cBhvr>
                                      <p:to>
                                        <p:strVal val="visible"/>
                                      </p:to>
                                    </p:set>
                                  </p:childTnLst>
                                </p:cTn>
                              </p:par>
                              <p:par>
                                <p:cTn id="247" nodeType="withEffect" fill="hold" presetClass="entr" presetID="1">
                                  <p:stCondLst>
                                    <p:cond delay="0"/>
                                  </p:stCondLst>
                                  <p:childTnLst>
                                    <p:set>
                                      <p:cBhvr>
                                        <p:cTn id="248" dur="1" fill="hold">
                                          <p:stCondLst>
                                            <p:cond delay="0"/>
                                          </p:stCondLst>
                                        </p:cTn>
                                        <p:tgtEl>
                                          <p:spTgt spid="254"/>
                                        </p:tgtEl>
                                        <p:attrNameLst>
                                          <p:attrName>style.visibility</p:attrName>
                                        </p:attrNameLst>
                                      </p:cBhvr>
                                      <p:to>
                                        <p:strVal val="visible"/>
                                      </p:to>
                                    </p:set>
                                  </p:childTnLst>
                                </p:cTn>
                              </p:par>
                              <p:par>
                                <p:cTn id="249" nodeType="withEffect" fill="hold" presetClass="entr" presetID="1">
                                  <p:stCondLst>
                                    <p:cond delay="0"/>
                                  </p:stCondLst>
                                  <p:childTnLst>
                                    <p:set>
                                      <p:cBhvr>
                                        <p:cTn id="250" dur="1" fill="hold">
                                          <p:stCondLst>
                                            <p:cond delay="0"/>
                                          </p:stCondLst>
                                        </p:cTn>
                                        <p:tgtEl>
                                          <p:spTgt spid="255"/>
                                        </p:tgtEl>
                                        <p:attrNameLst>
                                          <p:attrName>style.visibility</p:attrName>
                                        </p:attrNameLst>
                                      </p:cBhvr>
                                      <p:to>
                                        <p:strVal val="visible"/>
                                      </p:to>
                                    </p:set>
                                  </p:childTnLst>
                                </p:cTn>
                              </p:par>
                              <p:par>
                                <p:cTn id="251" nodeType="withEffect" fill="hold" presetClass="entr" presetID="1">
                                  <p:stCondLst>
                                    <p:cond delay="0"/>
                                  </p:stCondLst>
                                  <p:childTnLst>
                                    <p:set>
                                      <p:cBhvr>
                                        <p:cTn id="252" dur="1" fill="hold">
                                          <p:stCondLst>
                                            <p:cond delay="0"/>
                                          </p:stCondLst>
                                        </p:cTn>
                                        <p:tgtEl>
                                          <p:spTgt spid="256"/>
                                        </p:tgtEl>
                                        <p:attrNameLst>
                                          <p:attrName>style.visibility</p:attrName>
                                        </p:attrNameLst>
                                      </p:cBhvr>
                                      <p:to>
                                        <p:strVal val="visible"/>
                                      </p:to>
                                    </p:set>
                                  </p:childTnLst>
                                </p:cTn>
                              </p:par>
                              <p:par>
                                <p:cTn id="253" nodeType="withEffect" fill="hold" presetClass="entr" presetID="1">
                                  <p:stCondLst>
                                    <p:cond delay="0"/>
                                  </p:stCondLst>
                                  <p:childTnLst>
                                    <p:set>
                                      <p:cBhvr>
                                        <p:cTn id="254" dur="1" fill="hold">
                                          <p:stCondLst>
                                            <p:cond delay="0"/>
                                          </p:stCondLst>
                                        </p:cTn>
                                        <p:tgtEl>
                                          <p:spTgt spid="257"/>
                                        </p:tgtEl>
                                        <p:attrNameLst>
                                          <p:attrName>style.visibility</p:attrName>
                                        </p:attrNameLst>
                                      </p:cBhvr>
                                      <p:to>
                                        <p:strVal val="visible"/>
                                      </p:to>
                                    </p:set>
                                  </p:childTnLst>
                                </p:cTn>
                              </p:par>
                              <p:par>
                                <p:cTn id="255" nodeType="withEffect" fill="hold" presetClass="entr" presetID="1">
                                  <p:stCondLst>
                                    <p:cond delay="0"/>
                                  </p:stCondLst>
                                  <p:childTnLst>
                                    <p:set>
                                      <p:cBhvr>
                                        <p:cTn id="256" dur="1" fill="hold">
                                          <p:stCondLst>
                                            <p:cond delay="0"/>
                                          </p:stCondLst>
                                        </p:cTn>
                                        <p:tgtEl>
                                          <p:spTgt spid="258"/>
                                        </p:tgtEl>
                                        <p:attrNameLst>
                                          <p:attrName>style.visibility</p:attrName>
                                        </p:attrNameLst>
                                      </p:cBhvr>
                                      <p:to>
                                        <p:strVal val="visible"/>
                                      </p:to>
                                    </p:set>
                                  </p:childTnLst>
                                </p:cTn>
                              </p:par>
                              <p:par>
                                <p:cTn id="257" nodeType="withEffect" fill="hold" presetClass="entr" presetID="1">
                                  <p:stCondLst>
                                    <p:cond delay="0"/>
                                  </p:stCondLst>
                                  <p:childTnLst>
                                    <p:set>
                                      <p:cBhvr>
                                        <p:cTn id="258" dur="1" fill="hold">
                                          <p:stCondLst>
                                            <p:cond delay="0"/>
                                          </p:stCondLst>
                                        </p:cTn>
                                        <p:tgtEl>
                                          <p:spTgt spid="259"/>
                                        </p:tgtEl>
                                        <p:attrNameLst>
                                          <p:attrName>style.visibility</p:attrName>
                                        </p:attrNameLst>
                                      </p:cBhvr>
                                      <p:to>
                                        <p:strVal val="visible"/>
                                      </p:to>
                                    </p:set>
                                  </p:childTnLst>
                                </p:cTn>
                              </p:par>
                              <p:par>
                                <p:cTn id="259" nodeType="withEffect" fill="hold" presetClass="entr" presetID="1">
                                  <p:stCondLst>
                                    <p:cond delay="0"/>
                                  </p:stCondLst>
                                  <p:childTnLst>
                                    <p:set>
                                      <p:cBhvr>
                                        <p:cTn id="260" dur="1" fill="hold">
                                          <p:stCondLst>
                                            <p:cond delay="0"/>
                                          </p:stCondLst>
                                        </p:cTn>
                                        <p:tgtEl>
                                          <p:spTgt spid="260"/>
                                        </p:tgtEl>
                                        <p:attrNameLst>
                                          <p:attrName>style.visibility</p:attrName>
                                        </p:attrNameLst>
                                      </p:cBhvr>
                                      <p:to>
                                        <p:strVal val="visible"/>
                                      </p:to>
                                    </p:set>
                                  </p:childTnLst>
                                </p:cTn>
                              </p:par>
                              <p:par>
                                <p:cTn id="261" nodeType="withEffect" fill="hold" presetClass="entr" presetID="1">
                                  <p:stCondLst>
                                    <p:cond delay="0"/>
                                  </p:stCondLst>
                                  <p:childTnLst>
                                    <p:set>
                                      <p:cBhvr>
                                        <p:cTn id="262" dur="1" fill="hold">
                                          <p:stCondLst>
                                            <p:cond delay="0"/>
                                          </p:stCondLst>
                                        </p:cTn>
                                        <p:tgtEl>
                                          <p:spTgt spid="261"/>
                                        </p:tgtEl>
                                        <p:attrNameLst>
                                          <p:attrName>style.visibility</p:attrName>
                                        </p:attrNameLst>
                                      </p:cBhvr>
                                      <p:to>
                                        <p:strVal val="visible"/>
                                      </p:to>
                                    </p:set>
                                  </p:childTnLst>
                                </p:cTn>
                              </p:par>
                              <p:par>
                                <p:cTn id="263" nodeType="withEffect" fill="hold" presetClass="entr" presetID="1">
                                  <p:stCondLst>
                                    <p:cond delay="0"/>
                                  </p:stCondLst>
                                  <p:childTnLst>
                                    <p:set>
                                      <p:cBhvr>
                                        <p:cTn id="264" dur="1" fill="hold">
                                          <p:stCondLst>
                                            <p:cond delay="0"/>
                                          </p:stCondLst>
                                        </p:cTn>
                                        <p:tgtEl>
                                          <p:spTgt spid="262"/>
                                        </p:tgtEl>
                                        <p:attrNameLst>
                                          <p:attrName>style.visibility</p:attrName>
                                        </p:attrNameLst>
                                      </p:cBhvr>
                                      <p:to>
                                        <p:strVal val="visible"/>
                                      </p:to>
                                    </p:set>
                                  </p:childTnLst>
                                </p:cTn>
                              </p:par>
                              <p:par>
                                <p:cTn id="265" nodeType="withEffect" fill="hold" presetClass="entr" presetID="1">
                                  <p:stCondLst>
                                    <p:cond delay="0"/>
                                  </p:stCondLst>
                                  <p:childTnLst>
                                    <p:set>
                                      <p:cBhvr>
                                        <p:cTn id="266" dur="1" fill="hold">
                                          <p:stCondLst>
                                            <p:cond delay="0"/>
                                          </p:stCondLst>
                                        </p:cTn>
                                        <p:tgtEl>
                                          <p:spTgt spid="263"/>
                                        </p:tgtEl>
                                        <p:attrNameLst>
                                          <p:attrName>style.visibility</p:attrName>
                                        </p:attrNameLst>
                                      </p:cBhvr>
                                      <p:to>
                                        <p:strVal val="visible"/>
                                      </p:to>
                                    </p:set>
                                  </p:childTnLst>
                                </p:cTn>
                              </p:par>
                              <p:par>
                                <p:cTn id="267" nodeType="withEffect" fill="hold" presetClass="entr" presetID="1">
                                  <p:stCondLst>
                                    <p:cond delay="0"/>
                                  </p:stCondLst>
                                  <p:childTnLst>
                                    <p:set>
                                      <p:cBhvr>
                                        <p:cTn id="268" dur="1" fill="hold">
                                          <p:stCondLst>
                                            <p:cond delay="0"/>
                                          </p:stCondLst>
                                        </p:cTn>
                                        <p:tgtEl>
                                          <p:spTgt spid="264"/>
                                        </p:tgtEl>
                                        <p:attrNameLst>
                                          <p:attrName>style.visibility</p:attrName>
                                        </p:attrNameLst>
                                      </p:cBhvr>
                                      <p:to>
                                        <p:strVal val="visible"/>
                                      </p:to>
                                    </p:set>
                                  </p:childTnLst>
                                </p:cTn>
                              </p:par>
                              <p:par>
                                <p:cTn id="269" nodeType="withEffect" fill="hold" presetClass="entr" presetID="1">
                                  <p:stCondLst>
                                    <p:cond delay="0"/>
                                  </p:stCondLst>
                                  <p:childTnLst>
                                    <p:set>
                                      <p:cBhvr>
                                        <p:cTn id="270" dur="1" fill="hold">
                                          <p:stCondLst>
                                            <p:cond delay="0"/>
                                          </p:stCondLst>
                                        </p:cTn>
                                        <p:tgtEl>
                                          <p:spTgt spid="265"/>
                                        </p:tgtEl>
                                        <p:attrNameLst>
                                          <p:attrName>style.visibility</p:attrName>
                                        </p:attrNameLst>
                                      </p:cBhvr>
                                      <p:to>
                                        <p:strVal val="visible"/>
                                      </p:to>
                                    </p:set>
                                  </p:childTnLst>
                                </p:cTn>
                              </p:par>
                              <p:par>
                                <p:cTn id="271" nodeType="withEffect" fill="hold" presetClass="entr" presetID="1">
                                  <p:stCondLst>
                                    <p:cond delay="0"/>
                                  </p:stCondLst>
                                  <p:childTnLst>
                                    <p:set>
                                      <p:cBhvr>
                                        <p:cTn id="272" dur="1" fill="hold">
                                          <p:stCondLst>
                                            <p:cond delay="0"/>
                                          </p:stCondLst>
                                        </p:cTn>
                                        <p:tgtEl>
                                          <p:spTgt spid="266"/>
                                        </p:tgtEl>
                                        <p:attrNameLst>
                                          <p:attrName>style.visibility</p:attrName>
                                        </p:attrNameLst>
                                      </p:cBhvr>
                                      <p:to>
                                        <p:strVal val="visible"/>
                                      </p:to>
                                    </p:set>
                                  </p:childTnLst>
                                </p:cTn>
                              </p:par>
                              <p:par>
                                <p:cTn id="273" nodeType="withEffect" fill="hold" presetClass="entr" presetID="1">
                                  <p:stCondLst>
                                    <p:cond delay="0"/>
                                  </p:stCondLst>
                                  <p:childTnLst>
                                    <p:set>
                                      <p:cBhvr>
                                        <p:cTn id="274" dur="1" fill="hold">
                                          <p:stCondLst>
                                            <p:cond delay="0"/>
                                          </p:stCondLst>
                                        </p:cTn>
                                        <p:tgtEl>
                                          <p:spTgt spid="267"/>
                                        </p:tgtEl>
                                        <p:attrNameLst>
                                          <p:attrName>style.visibility</p:attrName>
                                        </p:attrNameLst>
                                      </p:cBhvr>
                                      <p:to>
                                        <p:strVal val="visible"/>
                                      </p:to>
                                    </p:set>
                                  </p:childTnLst>
                                </p:cTn>
                              </p:par>
                              <p:par>
                                <p:cTn id="275" nodeType="withEffect" fill="hold" presetClass="entr" presetID="1">
                                  <p:stCondLst>
                                    <p:cond delay="0"/>
                                  </p:stCondLst>
                                  <p:childTnLst>
                                    <p:set>
                                      <p:cBhvr>
                                        <p:cTn id="276" dur="1" fill="hold">
                                          <p:stCondLst>
                                            <p:cond delay="0"/>
                                          </p:stCondLst>
                                        </p:cTn>
                                        <p:tgtEl>
                                          <p:spTgt spid="268"/>
                                        </p:tgtEl>
                                        <p:attrNameLst>
                                          <p:attrName>style.visibility</p:attrName>
                                        </p:attrNameLst>
                                      </p:cBhvr>
                                      <p:to>
                                        <p:strVal val="visible"/>
                                      </p:to>
                                    </p:set>
                                  </p:childTnLst>
                                </p:cTn>
                              </p:par>
                              <p:par>
                                <p:cTn id="277" nodeType="withEffect" fill="hold" presetClass="entr" presetID="1">
                                  <p:stCondLst>
                                    <p:cond delay="0"/>
                                  </p:stCondLst>
                                  <p:childTnLst>
                                    <p:set>
                                      <p:cBhvr>
                                        <p:cTn id="278" dur="1" fill="hold">
                                          <p:stCondLst>
                                            <p:cond delay="0"/>
                                          </p:stCondLst>
                                        </p:cTn>
                                        <p:tgtEl>
                                          <p:spTgt spid="269"/>
                                        </p:tgtEl>
                                        <p:attrNameLst>
                                          <p:attrName>style.visibility</p:attrName>
                                        </p:attrNameLst>
                                      </p:cBhvr>
                                      <p:to>
                                        <p:strVal val="visible"/>
                                      </p:to>
                                    </p:set>
                                  </p:childTnLst>
                                </p:cTn>
                              </p:par>
                              <p:par>
                                <p:cTn id="279" nodeType="withEffect" fill="hold" presetClass="entr" presetID="1">
                                  <p:stCondLst>
                                    <p:cond delay="0"/>
                                  </p:stCondLst>
                                  <p:childTnLst>
                                    <p:set>
                                      <p:cBhvr>
                                        <p:cTn id="280" dur="1" fill="hold">
                                          <p:stCondLst>
                                            <p:cond delay="0"/>
                                          </p:stCondLst>
                                        </p:cTn>
                                        <p:tgtEl>
                                          <p:spTgt spid="270"/>
                                        </p:tgtEl>
                                        <p:attrNameLst>
                                          <p:attrName>style.visibility</p:attrName>
                                        </p:attrNameLst>
                                      </p:cBhvr>
                                      <p:to>
                                        <p:strVal val="visible"/>
                                      </p:to>
                                    </p:set>
                                  </p:childTnLst>
                                </p:cTn>
                              </p:par>
                              <p:par>
                                <p:cTn id="281" nodeType="withEffect" fill="hold" presetClass="entr" presetID="1">
                                  <p:stCondLst>
                                    <p:cond delay="0"/>
                                  </p:stCondLst>
                                  <p:childTnLst>
                                    <p:set>
                                      <p:cBhvr>
                                        <p:cTn id="282" dur="1" fill="hold">
                                          <p:stCondLst>
                                            <p:cond delay="0"/>
                                          </p:stCondLst>
                                        </p:cTn>
                                        <p:tgtEl>
                                          <p:spTgt spid="271"/>
                                        </p:tgtEl>
                                        <p:attrNameLst>
                                          <p:attrName>style.visibility</p:attrName>
                                        </p:attrNameLst>
                                      </p:cBhvr>
                                      <p:to>
                                        <p:strVal val="visible"/>
                                      </p:to>
                                    </p:set>
                                  </p:childTnLst>
                                </p:cTn>
                              </p:par>
                              <p:par>
                                <p:cTn id="283" nodeType="withEffect" fill="hold" presetClass="entr" presetID="1">
                                  <p:stCondLst>
                                    <p:cond delay="0"/>
                                  </p:stCondLst>
                                  <p:childTnLst>
                                    <p:set>
                                      <p:cBhvr>
                                        <p:cTn id="284" dur="1" fill="hold">
                                          <p:stCondLst>
                                            <p:cond delay="0"/>
                                          </p:stCondLst>
                                        </p:cTn>
                                        <p:tgtEl>
                                          <p:spTgt spid="279"/>
                                        </p:tgtEl>
                                        <p:attrNameLst>
                                          <p:attrName>style.visibility</p:attrName>
                                        </p:attrNameLst>
                                      </p:cBhvr>
                                      <p:to>
                                        <p:strVal val="visible"/>
                                      </p:to>
                                    </p:set>
                                  </p:childTnLst>
                                </p:cTn>
                              </p:par>
                              <p:par>
                                <p:cTn id="285" nodeType="withEffect" fill="hold" presetClass="entr" presetID="1">
                                  <p:stCondLst>
                                    <p:cond delay="0"/>
                                  </p:stCondLst>
                                  <p:childTnLst>
                                    <p:set>
                                      <p:cBhvr>
                                        <p:cTn id="286" dur="1" fill="hold">
                                          <p:stCondLst>
                                            <p:cond delay="0"/>
                                          </p:stCondLst>
                                        </p:cTn>
                                        <p:tgtEl>
                                          <p:spTgt spid="280"/>
                                        </p:tgtEl>
                                        <p:attrNameLst>
                                          <p:attrName>style.visibility</p:attrName>
                                        </p:attrNameLst>
                                      </p:cBhvr>
                                      <p:to>
                                        <p:strVal val="visible"/>
                                      </p:to>
                                    </p:set>
                                  </p:childTnLst>
                                </p:cTn>
                              </p:par>
                              <p:par>
                                <p:cTn id="287" nodeType="withEffect" fill="hold" presetClass="entr" presetID="1">
                                  <p:stCondLst>
                                    <p:cond delay="0"/>
                                  </p:stCondLst>
                                  <p:childTnLst>
                                    <p:set>
                                      <p:cBhvr>
                                        <p:cTn id="288" dur="1" fill="hold">
                                          <p:stCondLst>
                                            <p:cond delay="0"/>
                                          </p:stCondLst>
                                        </p:cTn>
                                        <p:tgtEl>
                                          <p:spTgt spid="281"/>
                                        </p:tgtEl>
                                        <p:attrNameLst>
                                          <p:attrName>style.visibility</p:attrName>
                                        </p:attrNameLst>
                                      </p:cBhvr>
                                      <p:to>
                                        <p:strVal val="visible"/>
                                      </p:to>
                                    </p:set>
                                  </p:childTnLst>
                                </p:cTn>
                              </p:par>
                              <p:par>
                                <p:cTn id="289" nodeType="withEffect" fill="hold" presetClass="entr" presetID="1">
                                  <p:stCondLst>
                                    <p:cond delay="0"/>
                                  </p:stCondLst>
                                  <p:childTnLst>
                                    <p:set>
                                      <p:cBhvr>
                                        <p:cTn id="290" dur="1" fill="hold">
                                          <p:stCondLst>
                                            <p:cond delay="0"/>
                                          </p:stCondLst>
                                        </p:cTn>
                                        <p:tgtEl>
                                          <p:spTgt spid="282"/>
                                        </p:tgtEl>
                                        <p:attrNameLst>
                                          <p:attrName>style.visibility</p:attrName>
                                        </p:attrNameLst>
                                      </p:cBhvr>
                                      <p:to>
                                        <p:strVal val="visible"/>
                                      </p:to>
                                    </p:set>
                                  </p:childTnLst>
                                </p:cTn>
                              </p:par>
                              <p:par>
                                <p:cTn id="291" nodeType="withEffect" fill="hold" presetClass="entr" presetID="1">
                                  <p:stCondLst>
                                    <p:cond delay="0"/>
                                  </p:stCondLst>
                                  <p:childTnLst>
                                    <p:set>
                                      <p:cBhvr>
                                        <p:cTn id="292" dur="1" fill="hold">
                                          <p:stCondLst>
                                            <p:cond delay="0"/>
                                          </p:stCondLst>
                                        </p:cTn>
                                        <p:tgtEl>
                                          <p:spTgt spid="283"/>
                                        </p:tgtEl>
                                        <p:attrNameLst>
                                          <p:attrName>style.visibility</p:attrName>
                                        </p:attrNameLst>
                                      </p:cBhvr>
                                      <p:to>
                                        <p:strVal val="visible"/>
                                      </p:to>
                                    </p:set>
                                  </p:childTnLst>
                                </p:cTn>
                              </p:par>
                              <p:par>
                                <p:cTn id="293" nodeType="withEffect" fill="hold" presetClass="entr" presetID="1">
                                  <p:stCondLst>
                                    <p:cond delay="0"/>
                                  </p:stCondLst>
                                  <p:childTnLst>
                                    <p:set>
                                      <p:cBhvr>
                                        <p:cTn id="294" dur="1" fill="hold">
                                          <p:stCondLst>
                                            <p:cond delay="0"/>
                                          </p:stCondLst>
                                        </p:cTn>
                                        <p:tgtEl>
                                          <p:spTgt spid="284"/>
                                        </p:tgtEl>
                                        <p:attrNameLst>
                                          <p:attrName>style.visibility</p:attrName>
                                        </p:attrNameLst>
                                      </p:cBhvr>
                                      <p:to>
                                        <p:strVal val="visible"/>
                                      </p:to>
                                    </p:set>
                                  </p:childTnLst>
                                </p:cTn>
                              </p:par>
                              <p:par>
                                <p:cTn id="295" nodeType="withEffect" fill="hold" presetClass="entr" presetID="1">
                                  <p:stCondLst>
                                    <p:cond delay="0"/>
                                  </p:stCondLst>
                                  <p:childTnLst>
                                    <p:set>
                                      <p:cBhvr>
                                        <p:cTn id="296" dur="1" fill="hold">
                                          <p:stCondLst>
                                            <p:cond delay="0"/>
                                          </p:stCondLst>
                                        </p:cTn>
                                        <p:tgtEl>
                                          <p:spTgt spid="285"/>
                                        </p:tgtEl>
                                        <p:attrNameLst>
                                          <p:attrName>style.visibility</p:attrName>
                                        </p:attrNameLst>
                                      </p:cBhvr>
                                      <p:to>
                                        <p:strVal val="visible"/>
                                      </p:to>
                                    </p:set>
                                  </p:childTnLst>
                                </p:cTn>
                              </p:par>
                              <p:par>
                                <p:cTn id="297" nodeType="withEffect" fill="hold" presetClass="entr" presetID="1">
                                  <p:stCondLst>
                                    <p:cond delay="0"/>
                                  </p:stCondLst>
                                  <p:childTnLst>
                                    <p:set>
                                      <p:cBhvr>
                                        <p:cTn id="298" dur="1" fill="hold">
                                          <p:stCondLst>
                                            <p:cond delay="0"/>
                                          </p:stCondLst>
                                        </p:cTn>
                                        <p:tgtEl>
                                          <p:spTgt spid="286"/>
                                        </p:tgtEl>
                                        <p:attrNameLst>
                                          <p:attrName>style.visibility</p:attrName>
                                        </p:attrNameLst>
                                      </p:cBhvr>
                                      <p:to>
                                        <p:strVal val="visible"/>
                                      </p:to>
                                    </p:set>
                                  </p:childTnLst>
                                </p:cTn>
                              </p:par>
                              <p:par>
                                <p:cTn id="299" nodeType="withEffect" fill="hold" presetClass="entr" presetID="1">
                                  <p:stCondLst>
                                    <p:cond delay="0"/>
                                  </p:stCondLst>
                                  <p:childTnLst>
                                    <p:set>
                                      <p:cBhvr>
                                        <p:cTn id="300" dur="1" fill="hold">
                                          <p:stCondLst>
                                            <p:cond delay="0"/>
                                          </p:stCondLst>
                                        </p:cTn>
                                        <p:tgtEl>
                                          <p:spTgt spid="-1"/>
                                        </p:tgtEl>
                                        <p:attrNameLst>
                                          <p:attrName>style.visibility</p:attrName>
                                        </p:attrNameLst>
                                      </p:cBhvr>
                                      <p:to>
                                        <p:strVal val="visible"/>
                                      </p:to>
                                    </p:set>
                                  </p:childTnLst>
                                </p:cTn>
                              </p:par>
                              <p:par>
                                <p:cTn id="301" nodeType="withEffect" fill="hold" presetClass="entr" presetID="1">
                                  <p:stCondLst>
                                    <p:cond delay="0"/>
                                  </p:stCondLst>
                                  <p:childTnLst>
                                    <p:set>
                                      <p:cBhvr>
                                        <p:cTn id="302" dur="1" fill="hold">
                                          <p:stCondLst>
                                            <p:cond delay="0"/>
                                          </p:stCondLst>
                                        </p:cTn>
                                        <p:tgtEl>
                                          <p:spTgt spid="-1"/>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nodeType="clickEffect" fill="hold" presetClass="entr" presetID="1">
                                  <p:stCondLst>
                                    <p:cond delay="0"/>
                                  </p:stCondLst>
                                  <p:childTnLst>
                                    <p:set>
                                      <p:cBhvr>
                                        <p:cTn id="306" dur="1" fill="hold">
                                          <p:stCondLst>
                                            <p:cond delay="0"/>
                                          </p:stCondLst>
                                        </p:cTn>
                                        <p:tgtEl>
                                          <p:spTgt spid="272"/>
                                        </p:tgtEl>
                                        <p:attrNameLst>
                                          <p:attrName>style.visibility</p:attrName>
                                        </p:attrNameLst>
                                      </p:cBhvr>
                                      <p:to>
                                        <p:strVal val="visible"/>
                                      </p:to>
                                    </p:set>
                                  </p:childTnLst>
                                </p:cTn>
                              </p:par>
                              <p:par>
                                <p:cTn id="307" nodeType="withEffect" fill="hold" presetClass="entr" presetID="1">
                                  <p:stCondLst>
                                    <p:cond delay="0"/>
                                  </p:stCondLst>
                                  <p:childTnLst>
                                    <p:set>
                                      <p:cBhvr>
                                        <p:cTn id="308" dur="1" fill="hold">
                                          <p:stCondLst>
                                            <p:cond delay="0"/>
                                          </p:stCondLst>
                                        </p:cTn>
                                        <p:tgtEl>
                                          <p:spTgt spid="273"/>
                                        </p:tgtEl>
                                        <p:attrNameLst>
                                          <p:attrName>style.visibility</p:attrName>
                                        </p:attrNameLst>
                                      </p:cBhvr>
                                      <p:to>
                                        <p:strVal val="visible"/>
                                      </p:to>
                                    </p:set>
                                  </p:childTnLst>
                                </p:cTn>
                              </p:par>
                              <p:par>
                                <p:cTn id="309" nodeType="withEffect" fill="hold" presetClass="entr" presetID="1">
                                  <p:stCondLst>
                                    <p:cond delay="0"/>
                                  </p:stCondLst>
                                  <p:childTnLst>
                                    <p:set>
                                      <p:cBhvr>
                                        <p:cTn id="310" dur="1" fill="hold">
                                          <p:stCondLst>
                                            <p:cond delay="0"/>
                                          </p:stCondLst>
                                        </p:cTn>
                                        <p:tgtEl>
                                          <p:spTgt spid="274"/>
                                        </p:tgtEl>
                                        <p:attrNameLst>
                                          <p:attrName>style.visibility</p:attrName>
                                        </p:attrNameLst>
                                      </p:cBhvr>
                                      <p:to>
                                        <p:strVal val="visible"/>
                                      </p:to>
                                    </p:set>
                                  </p:childTnLst>
                                </p:cTn>
                              </p:par>
                              <p:par>
                                <p:cTn id="311" nodeType="withEffect" fill="hold" presetClass="entr" presetID="1">
                                  <p:stCondLst>
                                    <p:cond delay="0"/>
                                  </p:stCondLst>
                                  <p:childTnLst>
                                    <p:set>
                                      <p:cBhvr>
                                        <p:cTn id="312" dur="1" fill="hold">
                                          <p:stCondLst>
                                            <p:cond delay="0"/>
                                          </p:stCondLst>
                                        </p:cTn>
                                        <p:tgtEl>
                                          <p:spTgt spid="275"/>
                                        </p:tgtEl>
                                        <p:attrNameLst>
                                          <p:attrName>style.visibility</p:attrName>
                                        </p:attrNameLst>
                                      </p:cBhvr>
                                      <p:to>
                                        <p:strVal val="visible"/>
                                      </p:to>
                                    </p:set>
                                  </p:childTnLst>
                                </p:cTn>
                              </p:par>
                              <p:par>
                                <p:cTn id="313" nodeType="withEffect" fill="hold" presetClass="entr" presetID="1">
                                  <p:stCondLst>
                                    <p:cond delay="0"/>
                                  </p:stCondLst>
                                  <p:childTnLst>
                                    <p:set>
                                      <p:cBhvr>
                                        <p:cTn id="314" dur="1" fill="hold">
                                          <p:stCondLst>
                                            <p:cond delay="0"/>
                                          </p:stCondLst>
                                        </p:cTn>
                                        <p:tgtEl>
                                          <p:spTgt spid="276"/>
                                        </p:tgtEl>
                                        <p:attrNameLst>
                                          <p:attrName>style.visibility</p:attrName>
                                        </p:attrNameLst>
                                      </p:cBhvr>
                                      <p:to>
                                        <p:strVal val="visible"/>
                                      </p:to>
                                    </p:set>
                                  </p:childTnLst>
                                </p:cTn>
                              </p:par>
                              <p:par>
                                <p:cTn id="315" nodeType="withEffect" fill="hold" presetClass="entr" presetID="1">
                                  <p:stCondLst>
                                    <p:cond delay="0"/>
                                  </p:stCondLst>
                                  <p:childTnLst>
                                    <p:set>
                                      <p:cBhvr>
                                        <p:cTn id="316" dur="1" fill="hold">
                                          <p:stCondLst>
                                            <p:cond delay="0"/>
                                          </p:stCondLst>
                                        </p:cTn>
                                        <p:tgtEl>
                                          <p:spTgt spid="277"/>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nodeType="clickEffect" fill="hold" presetClass="entr" presetID="1">
                                  <p:stCondLst>
                                    <p:cond delay="0"/>
                                  </p:stCondLst>
                                  <p:childTnLst>
                                    <p:set>
                                      <p:cBhvr>
                                        <p:cTn id="320" dur="1" fill="hold">
                                          <p:stCondLst>
                                            <p:cond delay="0"/>
                                          </p:stCondLst>
                                        </p:cTn>
                                        <p:tgtEl>
                                          <p:spTgt spid="278"/>
                                        </p:tgtEl>
                                        <p:attrNameLst>
                                          <p:attrName>style.visibility</p:attrName>
                                        </p:attrNameLst>
                                      </p:cBhvr>
                                      <p:to>
                                        <p:strVal val="visible"/>
                                      </p:to>
                                    </p:set>
                                  </p:childTnLst>
                                </p:cTn>
                              </p:par>
                              <p:par>
                                <p:cTn id="321" nodeType="withEffect" fill="hold" presetClass="entr" presetID="1">
                                  <p:stCondLst>
                                    <p:cond delay="0"/>
                                  </p:stCondLst>
                                  <p:childTnLst>
                                    <p:set>
                                      <p:cBhvr>
                                        <p:cTn id="322" dur="1" fill="hold">
                                          <p:stCondLst>
                                            <p:cond delay="0"/>
                                          </p:stCondLst>
                                        </p:cTn>
                                        <p:tgtEl>
                                          <p:spTgt spid="287"/>
                                        </p:tgtEl>
                                        <p:attrNameLst>
                                          <p:attrName>style.visibility</p:attrName>
                                        </p:attrNameLst>
                                      </p:cBhvr>
                                      <p:to>
                                        <p:strVal val="visible"/>
                                      </p:to>
                                    </p:set>
                                  </p:childTnLst>
                                </p:cTn>
                              </p:par>
                              <p:par>
                                <p:cTn id="323" nodeType="withEffect" fill="hold" presetClass="entr" presetID="1">
                                  <p:stCondLst>
                                    <p:cond delay="0"/>
                                  </p:stCondLst>
                                  <p:childTnLst>
                                    <p:set>
                                      <p:cBhvr>
                                        <p:cTn id="324"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p:nvPr>
        </p:nvSpPr>
        <p:spPr>
          <a:xfrm>
            <a:off x="609480" y="848520"/>
            <a:ext cx="11307600" cy="5245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565b63"/>
                </a:solidFill>
                <a:latin typeface="Calibri"/>
                <a:ea typeface="Calibri"/>
              </a:rPr>
              <a:t>SOMA-SQL probes plausible interpretations against DB &amp; uses it to repair the final SQL.</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291" name="Shape 4"/>
          <p:cNvSpPr/>
          <p:nvPr/>
        </p:nvSpPr>
        <p:spPr>
          <a:xfrm>
            <a:off x="690480" y="1848240"/>
            <a:ext cx="63720" cy="749520"/>
          </a:xfrm>
          <a:prstGeom prst="rect">
            <a:avLst/>
          </a:prstGeom>
          <a:solidFill>
            <a:schemeClr val="bg1">
              <a:lumMod val="95000"/>
            </a:schemeClr>
          </a:solidFill>
          <a:ln w="12700">
            <a:solidFill>
              <a:srgbClr val="478fe1"/>
            </a:solidFill>
            <a:round/>
          </a:ln>
        </p:spPr>
        <p:style>
          <a:lnRef idx="0"/>
          <a:fillRef idx="0"/>
          <a:effectRef idx="0"/>
          <a:fontRef idx="minor"/>
        </p:style>
      </p:sp>
      <p:sp>
        <p:nvSpPr>
          <p:cNvPr id="292" name="Text 7"/>
          <p:cNvSpPr/>
          <p:nvPr/>
        </p:nvSpPr>
        <p:spPr>
          <a:xfrm>
            <a:off x="941760" y="1821960"/>
            <a:ext cx="2947320" cy="79560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ctr">
            <a:noAutofit/>
          </a:bodyPr>
          <a:p>
            <a:r>
              <a:rPr b="1" lang="en-US" sz="1800" spc="-1" strike="noStrike">
                <a:solidFill>
                  <a:srgbClr val="24272b"/>
                </a:solidFill>
                <a:latin typeface="Calibri"/>
                <a:ea typeface="Aptos"/>
              </a:rPr>
              <a:t>Ambiguous question</a:t>
            </a:r>
            <a:endParaRPr b="0" lang="en-US" sz="1800" spc="-1" strike="noStrike">
              <a:latin typeface="Arial"/>
            </a:endParaRPr>
          </a:p>
          <a:p>
            <a:pPr algn="ctr">
              <a:lnSpc>
                <a:spcPct val="100000"/>
              </a:lnSpc>
              <a:buNone/>
              <a:tabLst>
                <a:tab algn="l" pos="0"/>
              </a:tabLst>
            </a:pPr>
            <a:r>
              <a:rPr b="0" lang="en-US" sz="1800" spc="-1" strike="noStrike">
                <a:solidFill>
                  <a:srgbClr val="24272b"/>
                </a:solidFill>
                <a:latin typeface="Calibri"/>
                <a:ea typeface="Aptos"/>
              </a:rPr>
              <a:t>“</a:t>
            </a:r>
            <a:r>
              <a:rPr b="0" lang="en-US" sz="1800" spc="-1" strike="noStrike">
                <a:solidFill>
                  <a:srgbClr val="24272b"/>
                </a:solidFill>
                <a:latin typeface="Calibri"/>
                <a:ea typeface="Aptos"/>
              </a:rPr>
              <a:t>show me churn for enterprise customers last quarter”</a:t>
            </a:r>
            <a:endParaRPr b="0" lang="en-US" sz="1800" spc="-1" strike="noStrike">
              <a:latin typeface="Arial"/>
            </a:endParaRPr>
          </a:p>
        </p:txBody>
      </p:sp>
      <p:sp>
        <p:nvSpPr>
          <p:cNvPr id="293" name="Text 8"/>
          <p:cNvSpPr/>
          <p:nvPr/>
        </p:nvSpPr>
        <p:spPr>
          <a:xfrm>
            <a:off x="722520" y="2616480"/>
            <a:ext cx="5913720" cy="415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3366cc"/>
                </a:solidFill>
                <a:latin typeface="Calibri"/>
                <a:ea typeface="Aptos"/>
              </a:rPr>
              <a:t>Ambiguity: What does “churn” mean in this database?</a:t>
            </a:r>
            <a:endParaRPr b="0" lang="en-US" sz="1600" spc="-1" strike="noStrike">
              <a:latin typeface="Arial"/>
            </a:endParaRPr>
          </a:p>
        </p:txBody>
      </p:sp>
      <p:sp>
        <p:nvSpPr>
          <p:cNvPr id="294" name="Shape 11"/>
          <p:cNvSpPr/>
          <p:nvPr/>
        </p:nvSpPr>
        <p:spPr>
          <a:xfrm>
            <a:off x="690480" y="3018600"/>
            <a:ext cx="3611520" cy="1919880"/>
          </a:xfrm>
          <a:prstGeom prst="roundRect">
            <a:avLst>
              <a:gd name="adj" fmla="val 3191"/>
            </a:avLst>
          </a:prstGeom>
          <a:solidFill>
            <a:srgbClr val="ffffff"/>
          </a:solidFill>
          <a:ln w="11430">
            <a:solidFill>
              <a:srgbClr val="478fe1"/>
            </a:solidFill>
            <a:round/>
          </a:ln>
        </p:spPr>
        <p:style>
          <a:lnRef idx="0"/>
          <a:fillRef idx="0"/>
          <a:effectRef idx="0"/>
          <a:fontRef idx="minor"/>
        </p:style>
      </p:sp>
      <p:sp>
        <p:nvSpPr>
          <p:cNvPr id="295" name="Shape 12"/>
          <p:cNvSpPr/>
          <p:nvPr/>
        </p:nvSpPr>
        <p:spPr>
          <a:xfrm>
            <a:off x="690480" y="3018600"/>
            <a:ext cx="50040" cy="1718640"/>
          </a:xfrm>
          <a:prstGeom prst="rect">
            <a:avLst/>
          </a:prstGeom>
          <a:solidFill>
            <a:srgbClr val="2f6e3b"/>
          </a:solidFill>
          <a:ln w="12700">
            <a:solidFill>
              <a:srgbClr val="2f6e3b"/>
            </a:solidFill>
            <a:round/>
          </a:ln>
        </p:spPr>
        <p:style>
          <a:lnRef idx="0"/>
          <a:fillRef idx="0"/>
          <a:effectRef idx="0"/>
          <a:fontRef idx="minor"/>
        </p:style>
      </p:sp>
      <p:sp>
        <p:nvSpPr>
          <p:cNvPr id="296" name="Shape 13"/>
          <p:cNvSpPr/>
          <p:nvPr/>
        </p:nvSpPr>
        <p:spPr>
          <a:xfrm>
            <a:off x="818280" y="3137400"/>
            <a:ext cx="246600" cy="246600"/>
          </a:xfrm>
          <a:prstGeom prst="ellipse">
            <a:avLst/>
          </a:prstGeom>
          <a:solidFill>
            <a:srgbClr val="eaf4ec"/>
          </a:solidFill>
          <a:ln w="12700">
            <a:solidFill>
              <a:srgbClr val="2f6e3b"/>
            </a:solidFill>
            <a:round/>
          </a:ln>
        </p:spPr>
        <p:style>
          <a:lnRef idx="0"/>
          <a:fillRef idx="0"/>
          <a:effectRef idx="0"/>
          <a:fontRef idx="minor"/>
        </p:style>
      </p:sp>
      <p:sp>
        <p:nvSpPr>
          <p:cNvPr id="297" name="Text 14"/>
          <p:cNvSpPr/>
          <p:nvPr/>
        </p:nvSpPr>
        <p:spPr>
          <a:xfrm>
            <a:off x="818280" y="3146400"/>
            <a:ext cx="246600" cy="228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2f6e3b"/>
                </a:solidFill>
                <a:latin typeface="Calibri"/>
                <a:ea typeface="Aptos"/>
              </a:rPr>
              <a:t>1</a:t>
            </a:r>
            <a:endParaRPr b="0" lang="en-US" sz="1800" spc="-1" strike="noStrike">
              <a:latin typeface="Arial"/>
            </a:endParaRPr>
          </a:p>
        </p:txBody>
      </p:sp>
      <p:sp>
        <p:nvSpPr>
          <p:cNvPr id="298" name="Shape 15"/>
          <p:cNvSpPr/>
          <p:nvPr/>
        </p:nvSpPr>
        <p:spPr>
          <a:xfrm>
            <a:off x="3871080" y="3676320"/>
            <a:ext cx="200880" cy="255600"/>
          </a:xfrm>
          <a:prstGeom prst="can">
            <a:avLst>
              <a:gd name="adj" fmla="val 25000"/>
            </a:avLst>
          </a:prstGeom>
          <a:noFill/>
          <a:ln w="12700">
            <a:solidFill>
              <a:srgbClr val="2f6e3b"/>
            </a:solidFill>
            <a:round/>
          </a:ln>
        </p:spPr>
        <p:style>
          <a:lnRef idx="0"/>
          <a:fillRef idx="0"/>
          <a:effectRef idx="0"/>
          <a:fontRef idx="minor"/>
        </p:style>
      </p:sp>
      <p:sp>
        <p:nvSpPr>
          <p:cNvPr id="299" name="Shape 16"/>
          <p:cNvSpPr/>
          <p:nvPr/>
        </p:nvSpPr>
        <p:spPr>
          <a:xfrm>
            <a:off x="3889080" y="3832560"/>
            <a:ext cx="182880" cy="360"/>
          </a:xfrm>
          <a:prstGeom prst="line">
            <a:avLst/>
          </a:prstGeom>
          <a:ln w="7620">
            <a:solidFill>
              <a:srgbClr val="2f6e3b"/>
            </a:solidFill>
            <a:round/>
          </a:ln>
        </p:spPr>
        <p:style>
          <a:lnRef idx="0"/>
          <a:fillRef idx="0"/>
          <a:effectRef idx="0"/>
          <a:fontRef idx="minor"/>
        </p:style>
      </p:sp>
      <p:sp>
        <p:nvSpPr>
          <p:cNvPr id="300" name="Shape 17"/>
          <p:cNvSpPr/>
          <p:nvPr/>
        </p:nvSpPr>
        <p:spPr>
          <a:xfrm>
            <a:off x="3889080" y="3896280"/>
            <a:ext cx="182880" cy="360"/>
          </a:xfrm>
          <a:prstGeom prst="line">
            <a:avLst/>
          </a:prstGeom>
          <a:ln w="7620">
            <a:solidFill>
              <a:srgbClr val="2f6e3b"/>
            </a:solidFill>
            <a:round/>
          </a:ln>
        </p:spPr>
        <p:style>
          <a:lnRef idx="0"/>
          <a:fillRef idx="0"/>
          <a:effectRef idx="0"/>
          <a:fontRef idx="minor"/>
        </p:style>
      </p:sp>
      <p:sp>
        <p:nvSpPr>
          <p:cNvPr id="301" name="Text 18"/>
          <p:cNvSpPr/>
          <p:nvPr/>
        </p:nvSpPr>
        <p:spPr>
          <a:xfrm>
            <a:off x="1110960" y="3202200"/>
            <a:ext cx="2770200" cy="164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800" spc="-1" strike="noStrike">
                <a:solidFill>
                  <a:srgbClr val="2f6e3b"/>
                </a:solidFill>
                <a:latin typeface="Calibri"/>
                <a:ea typeface="Aptos"/>
              </a:rPr>
              <a:t>Canceled subscriptions</a:t>
            </a:r>
            <a:endParaRPr b="0" lang="en-US" sz="1800" spc="-1" strike="noStrike">
              <a:latin typeface="Arial"/>
            </a:endParaRPr>
          </a:p>
        </p:txBody>
      </p:sp>
      <p:sp>
        <p:nvSpPr>
          <p:cNvPr id="302" name="Text 19"/>
          <p:cNvSpPr/>
          <p:nvPr/>
        </p:nvSpPr>
        <p:spPr>
          <a:xfrm>
            <a:off x="3624120" y="4389840"/>
            <a:ext cx="71280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000" spc="-1" strike="noStrike">
                <a:solidFill>
                  <a:srgbClr val="2f6e3b"/>
                </a:solidFill>
                <a:latin typeface="Calibri"/>
                <a:ea typeface="Aptos"/>
              </a:rPr>
              <a:t>4,821</a:t>
            </a:r>
            <a:endParaRPr b="0" lang="en-US" sz="2000" spc="-1" strike="noStrike">
              <a:latin typeface="Arial"/>
            </a:endParaRPr>
          </a:p>
        </p:txBody>
      </p:sp>
      <p:sp>
        <p:nvSpPr>
          <p:cNvPr id="303" name="Text 22"/>
          <p:cNvSpPr/>
          <p:nvPr/>
        </p:nvSpPr>
        <p:spPr>
          <a:xfrm>
            <a:off x="818280" y="3404160"/>
            <a:ext cx="2759400" cy="1526400"/>
          </a:xfrm>
          <a:prstGeom prst="rect">
            <a:avLst/>
          </a:prstGeom>
          <a:solidFill>
            <a:srgbClr val="ffffff"/>
          </a:solidFill>
          <a:ln w="8255">
            <a:solidFill>
              <a:srgbClr val="ffffff"/>
            </a:solidFill>
            <a:round/>
          </a:ln>
        </p:spPr>
        <p:style>
          <a:lnRef idx="0"/>
          <a:fillRef idx="0"/>
          <a:effectRef idx="0"/>
          <a:fontRef idx="minor"/>
        </p:style>
        <p:txBody>
          <a:bodyPr anchor="ctr">
            <a:noAutofit/>
          </a:bodyPr>
          <a:p>
            <a:pPr>
              <a:lnSpc>
                <a:spcPct val="100000"/>
              </a:lnSpc>
              <a:buNone/>
              <a:tabLst>
                <a:tab algn="l" pos="0"/>
              </a:tabLst>
            </a:pPr>
            <a:r>
              <a:rPr b="0" lang="en-US" sz="1200" spc="-1" strike="noStrike">
                <a:solidFill>
                  <a:srgbClr val="24272b"/>
                </a:solidFill>
                <a:latin typeface="Calibri"/>
                <a:ea typeface="Aptos Mono"/>
              </a:rPr>
              <a:t>SELECT COUNT(DISTINCT s.customer_id)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FROM subscriptions s JOIN customers c USING(customer_id)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WHERE c.segment='Enterprise'</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AND</a:t>
            </a:r>
            <a:r>
              <a:rPr b="1" lang="en-US" sz="1200" spc="-1" strike="noStrike">
                <a:solidFill>
                  <a:srgbClr val="24272b"/>
                </a:solidFill>
                <a:latin typeface="Calibri"/>
                <a:ea typeface="Aptos Mono"/>
              </a:rPr>
              <a:t> s.status='canceled'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AND s.cancel_date &gt;= :q_start</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AND s.cancel_date &lt;  :q_end;</a:t>
            </a:r>
            <a:endParaRPr b="0" lang="en-US" sz="1200" spc="-1" strike="noStrike">
              <a:latin typeface="Arial"/>
            </a:endParaRPr>
          </a:p>
        </p:txBody>
      </p:sp>
      <p:sp>
        <p:nvSpPr>
          <p:cNvPr id="304" name="Shape 23"/>
          <p:cNvSpPr/>
          <p:nvPr/>
        </p:nvSpPr>
        <p:spPr>
          <a:xfrm>
            <a:off x="4494240" y="3018600"/>
            <a:ext cx="3611520" cy="1919880"/>
          </a:xfrm>
          <a:prstGeom prst="roundRect">
            <a:avLst>
              <a:gd name="adj" fmla="val 3191"/>
            </a:avLst>
          </a:prstGeom>
          <a:solidFill>
            <a:srgbClr val="ffffff"/>
          </a:solidFill>
          <a:ln w="11430">
            <a:solidFill>
              <a:srgbClr val="478fe1"/>
            </a:solidFill>
            <a:round/>
          </a:ln>
        </p:spPr>
        <p:style>
          <a:lnRef idx="0"/>
          <a:fillRef idx="0"/>
          <a:effectRef idx="0"/>
          <a:fontRef idx="minor"/>
        </p:style>
      </p:sp>
      <p:sp>
        <p:nvSpPr>
          <p:cNvPr id="305" name="Shape 24"/>
          <p:cNvSpPr/>
          <p:nvPr/>
        </p:nvSpPr>
        <p:spPr>
          <a:xfrm>
            <a:off x="4494240" y="3018600"/>
            <a:ext cx="50040" cy="1718640"/>
          </a:xfrm>
          <a:prstGeom prst="rect">
            <a:avLst/>
          </a:prstGeom>
          <a:solidFill>
            <a:srgbClr val="315d7c"/>
          </a:solidFill>
          <a:ln w="12700">
            <a:solidFill>
              <a:srgbClr val="315d7c"/>
            </a:solidFill>
            <a:round/>
          </a:ln>
        </p:spPr>
        <p:style>
          <a:lnRef idx="0"/>
          <a:fillRef idx="0"/>
          <a:effectRef idx="0"/>
          <a:fontRef idx="minor"/>
        </p:style>
      </p:sp>
      <p:sp>
        <p:nvSpPr>
          <p:cNvPr id="306" name="Shape 25"/>
          <p:cNvSpPr/>
          <p:nvPr/>
        </p:nvSpPr>
        <p:spPr>
          <a:xfrm>
            <a:off x="4622400" y="3137400"/>
            <a:ext cx="246600" cy="246600"/>
          </a:xfrm>
          <a:prstGeom prst="ellipse">
            <a:avLst/>
          </a:prstGeom>
          <a:solidFill>
            <a:srgbClr val="eaf1f6"/>
          </a:solidFill>
          <a:ln w="12700">
            <a:solidFill>
              <a:srgbClr val="315d7c"/>
            </a:solidFill>
            <a:round/>
          </a:ln>
        </p:spPr>
        <p:style>
          <a:lnRef idx="0"/>
          <a:fillRef idx="0"/>
          <a:effectRef idx="0"/>
          <a:fontRef idx="minor"/>
        </p:style>
      </p:sp>
      <p:sp>
        <p:nvSpPr>
          <p:cNvPr id="307" name="Text 26"/>
          <p:cNvSpPr/>
          <p:nvPr/>
        </p:nvSpPr>
        <p:spPr>
          <a:xfrm>
            <a:off x="4622400" y="3146400"/>
            <a:ext cx="246600" cy="228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315d7c"/>
                </a:solidFill>
                <a:latin typeface="Calibri"/>
                <a:ea typeface="Aptos"/>
              </a:rPr>
              <a:t>2</a:t>
            </a:r>
            <a:endParaRPr b="0" lang="en-US" sz="1800" spc="-1" strike="noStrike">
              <a:latin typeface="Arial"/>
            </a:endParaRPr>
          </a:p>
        </p:txBody>
      </p:sp>
      <p:sp>
        <p:nvSpPr>
          <p:cNvPr id="308" name="Shape 27"/>
          <p:cNvSpPr/>
          <p:nvPr/>
        </p:nvSpPr>
        <p:spPr>
          <a:xfrm>
            <a:off x="7535520" y="3787560"/>
            <a:ext cx="200880" cy="255600"/>
          </a:xfrm>
          <a:prstGeom prst="can">
            <a:avLst>
              <a:gd name="adj" fmla="val 25000"/>
            </a:avLst>
          </a:prstGeom>
          <a:noFill/>
          <a:ln w="12700">
            <a:solidFill>
              <a:srgbClr val="315d7c"/>
            </a:solidFill>
            <a:round/>
          </a:ln>
        </p:spPr>
        <p:style>
          <a:lnRef idx="0"/>
          <a:fillRef idx="0"/>
          <a:effectRef idx="0"/>
          <a:fontRef idx="minor"/>
        </p:style>
      </p:sp>
      <p:sp>
        <p:nvSpPr>
          <p:cNvPr id="309" name="Shape 28"/>
          <p:cNvSpPr/>
          <p:nvPr/>
        </p:nvSpPr>
        <p:spPr>
          <a:xfrm>
            <a:off x="7544520" y="3888360"/>
            <a:ext cx="182880" cy="360"/>
          </a:xfrm>
          <a:prstGeom prst="line">
            <a:avLst/>
          </a:prstGeom>
          <a:ln w="7620">
            <a:solidFill>
              <a:srgbClr val="315d7c"/>
            </a:solidFill>
            <a:round/>
          </a:ln>
        </p:spPr>
        <p:style>
          <a:lnRef idx="0"/>
          <a:fillRef idx="0"/>
          <a:effectRef idx="0"/>
          <a:fontRef idx="minor"/>
        </p:style>
      </p:sp>
      <p:sp>
        <p:nvSpPr>
          <p:cNvPr id="310" name="Shape 29"/>
          <p:cNvSpPr/>
          <p:nvPr/>
        </p:nvSpPr>
        <p:spPr>
          <a:xfrm>
            <a:off x="7544520" y="4017240"/>
            <a:ext cx="182880" cy="360"/>
          </a:xfrm>
          <a:prstGeom prst="line">
            <a:avLst/>
          </a:prstGeom>
          <a:ln w="7620">
            <a:solidFill>
              <a:srgbClr val="315d7c"/>
            </a:solidFill>
            <a:round/>
          </a:ln>
        </p:spPr>
        <p:style>
          <a:lnRef idx="0"/>
          <a:fillRef idx="0"/>
          <a:effectRef idx="0"/>
          <a:fontRef idx="minor"/>
        </p:style>
      </p:sp>
      <p:sp>
        <p:nvSpPr>
          <p:cNvPr id="311" name="Text 30"/>
          <p:cNvSpPr/>
          <p:nvPr/>
        </p:nvSpPr>
        <p:spPr>
          <a:xfrm>
            <a:off x="4989240" y="3202200"/>
            <a:ext cx="2770200" cy="164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800" spc="-1" strike="noStrike">
                <a:solidFill>
                  <a:srgbClr val="315d7c"/>
                </a:solidFill>
                <a:latin typeface="Calibri"/>
                <a:ea typeface="Aptos"/>
              </a:rPr>
              <a:t>Inactive accounts</a:t>
            </a:r>
            <a:endParaRPr b="0" lang="en-US" sz="1800" spc="-1" strike="noStrike">
              <a:latin typeface="Arial"/>
            </a:endParaRPr>
          </a:p>
        </p:txBody>
      </p:sp>
      <p:sp>
        <p:nvSpPr>
          <p:cNvPr id="312" name="Text 31"/>
          <p:cNvSpPr/>
          <p:nvPr/>
        </p:nvSpPr>
        <p:spPr>
          <a:xfrm>
            <a:off x="7275600" y="4389840"/>
            <a:ext cx="71280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000" spc="-1" strike="noStrike">
                <a:solidFill>
                  <a:srgbClr val="315d7c"/>
                </a:solidFill>
                <a:latin typeface="Calibri"/>
                <a:ea typeface="Aptos"/>
              </a:rPr>
              <a:t>137</a:t>
            </a:r>
            <a:endParaRPr b="0" lang="en-US" sz="2000" spc="-1" strike="noStrike">
              <a:latin typeface="Arial"/>
            </a:endParaRPr>
          </a:p>
        </p:txBody>
      </p:sp>
      <p:sp>
        <p:nvSpPr>
          <p:cNvPr id="313" name="Text 34"/>
          <p:cNvSpPr/>
          <p:nvPr/>
        </p:nvSpPr>
        <p:spPr>
          <a:xfrm>
            <a:off x="4651920" y="3434400"/>
            <a:ext cx="2756160" cy="1262520"/>
          </a:xfrm>
          <a:prstGeom prst="rect">
            <a:avLst/>
          </a:prstGeom>
          <a:solidFill>
            <a:srgbClr val="ffffff"/>
          </a:solidFill>
          <a:ln w="8255">
            <a:solidFill>
              <a:srgbClr val="ffffff"/>
            </a:solidFill>
            <a:round/>
          </a:ln>
        </p:spPr>
        <p:style>
          <a:lnRef idx="0"/>
          <a:fillRef idx="0"/>
          <a:effectRef idx="0"/>
          <a:fontRef idx="minor"/>
        </p:style>
        <p:txBody>
          <a:bodyPr anchor="ctr">
            <a:noAutofit/>
          </a:bodyPr>
          <a:p>
            <a:pPr>
              <a:lnSpc>
                <a:spcPct val="100000"/>
              </a:lnSpc>
              <a:buNone/>
            </a:pPr>
            <a:r>
              <a:rPr b="0" lang="en-US" sz="1200" spc="-1" strike="noStrike">
                <a:solidFill>
                  <a:srgbClr val="24272b"/>
                </a:solidFill>
                <a:latin typeface="Calibri"/>
                <a:ea typeface="Aptos Mono"/>
              </a:rPr>
              <a:t>SELECT COUNT(DISTINCT a.customer_id)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FROM accounts a JOIN customers c USING(customer_id)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WHERE c.segment='Enterprise'</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AND a.last_activity_date &lt; :q_start</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AND a.account_status='active';</a:t>
            </a:r>
            <a:endParaRPr b="0" lang="en-US" sz="1200" spc="-1" strike="noStrike">
              <a:latin typeface="Arial"/>
            </a:endParaRPr>
          </a:p>
        </p:txBody>
      </p:sp>
      <p:sp>
        <p:nvSpPr>
          <p:cNvPr id="314" name="Shape 35"/>
          <p:cNvSpPr/>
          <p:nvPr/>
        </p:nvSpPr>
        <p:spPr>
          <a:xfrm>
            <a:off x="8298000" y="3018600"/>
            <a:ext cx="3565800" cy="1919880"/>
          </a:xfrm>
          <a:prstGeom prst="roundRect">
            <a:avLst>
              <a:gd name="adj" fmla="val 3191"/>
            </a:avLst>
          </a:prstGeom>
          <a:solidFill>
            <a:srgbClr val="ffffff"/>
          </a:solidFill>
          <a:ln w="11430">
            <a:solidFill>
              <a:srgbClr val="478fe1"/>
            </a:solidFill>
            <a:round/>
          </a:ln>
        </p:spPr>
        <p:style>
          <a:lnRef idx="0"/>
          <a:fillRef idx="0"/>
          <a:effectRef idx="0"/>
          <a:fontRef idx="minor"/>
        </p:style>
      </p:sp>
      <p:sp>
        <p:nvSpPr>
          <p:cNvPr id="315" name="Shape 36"/>
          <p:cNvSpPr/>
          <p:nvPr/>
        </p:nvSpPr>
        <p:spPr>
          <a:xfrm>
            <a:off x="8298000" y="3018600"/>
            <a:ext cx="50040" cy="1718640"/>
          </a:xfrm>
          <a:prstGeom prst="rect">
            <a:avLst/>
          </a:prstGeom>
          <a:solidFill>
            <a:srgbClr val="8a5a00"/>
          </a:solidFill>
          <a:ln w="12700">
            <a:solidFill>
              <a:srgbClr val="8a5a00"/>
            </a:solidFill>
            <a:round/>
          </a:ln>
        </p:spPr>
        <p:style>
          <a:lnRef idx="0"/>
          <a:fillRef idx="0"/>
          <a:effectRef idx="0"/>
          <a:fontRef idx="minor"/>
        </p:style>
      </p:sp>
      <p:sp>
        <p:nvSpPr>
          <p:cNvPr id="316" name="Shape 37"/>
          <p:cNvSpPr/>
          <p:nvPr/>
        </p:nvSpPr>
        <p:spPr>
          <a:xfrm>
            <a:off x="8426160" y="3137400"/>
            <a:ext cx="246600" cy="246600"/>
          </a:xfrm>
          <a:prstGeom prst="ellipse">
            <a:avLst/>
          </a:prstGeom>
          <a:solidFill>
            <a:srgbClr val="fff4da"/>
          </a:solidFill>
          <a:ln w="12700">
            <a:solidFill>
              <a:srgbClr val="8a5a00"/>
            </a:solidFill>
            <a:round/>
          </a:ln>
        </p:spPr>
        <p:style>
          <a:lnRef idx="0"/>
          <a:fillRef idx="0"/>
          <a:effectRef idx="0"/>
          <a:fontRef idx="minor"/>
        </p:style>
      </p:sp>
      <p:sp>
        <p:nvSpPr>
          <p:cNvPr id="317" name="Text 38"/>
          <p:cNvSpPr/>
          <p:nvPr/>
        </p:nvSpPr>
        <p:spPr>
          <a:xfrm>
            <a:off x="8426160" y="3146400"/>
            <a:ext cx="246600" cy="228240"/>
          </a:xfrm>
          <a:prstGeom prst="rect">
            <a:avLst/>
          </a:prstGeom>
          <a:noFill/>
          <a:ln w="0">
            <a:noFill/>
          </a:ln>
        </p:spPr>
        <p:style>
          <a:lnRef idx="0"/>
          <a:fillRef idx="0"/>
          <a:effectRef idx="0"/>
          <a:fontRef idx="minor"/>
        </p:style>
        <p:txBody>
          <a:bodyPr lIns="0" rIns="0" tIns="0" bIns="0" anchor="ctr">
            <a:normAutofit/>
          </a:bodyPr>
          <a:p>
            <a:pPr algn="ctr">
              <a:lnSpc>
                <a:spcPct val="100000"/>
              </a:lnSpc>
              <a:buNone/>
              <a:tabLst>
                <a:tab algn="l" pos="0"/>
              </a:tabLst>
            </a:pPr>
            <a:r>
              <a:rPr b="1" lang="en-US" sz="1100" spc="-1" strike="noStrike">
                <a:solidFill>
                  <a:srgbClr val="8a5a00"/>
                </a:solidFill>
                <a:latin typeface="Calibri"/>
                <a:ea typeface="Aptos"/>
              </a:rPr>
              <a:t>3</a:t>
            </a:r>
            <a:endParaRPr b="0" lang="en-US" sz="1100" spc="-1" strike="noStrike">
              <a:latin typeface="Arial"/>
            </a:endParaRPr>
          </a:p>
        </p:txBody>
      </p:sp>
      <p:sp>
        <p:nvSpPr>
          <p:cNvPr id="318" name="Shape 39"/>
          <p:cNvSpPr/>
          <p:nvPr/>
        </p:nvSpPr>
        <p:spPr>
          <a:xfrm>
            <a:off x="11460240" y="3769200"/>
            <a:ext cx="200880" cy="255600"/>
          </a:xfrm>
          <a:prstGeom prst="can">
            <a:avLst>
              <a:gd name="adj" fmla="val 25000"/>
            </a:avLst>
          </a:prstGeom>
          <a:noFill/>
          <a:ln w="12700">
            <a:solidFill>
              <a:srgbClr val="8a5a00"/>
            </a:solidFill>
            <a:round/>
          </a:ln>
        </p:spPr>
        <p:style>
          <a:lnRef idx="0"/>
          <a:fillRef idx="0"/>
          <a:effectRef idx="0"/>
          <a:fontRef idx="minor"/>
        </p:style>
      </p:sp>
      <p:sp>
        <p:nvSpPr>
          <p:cNvPr id="319" name="Shape 40"/>
          <p:cNvSpPr/>
          <p:nvPr/>
        </p:nvSpPr>
        <p:spPr>
          <a:xfrm>
            <a:off x="11478600" y="3804840"/>
            <a:ext cx="182880" cy="360"/>
          </a:xfrm>
          <a:prstGeom prst="line">
            <a:avLst/>
          </a:prstGeom>
          <a:ln w="7620">
            <a:solidFill>
              <a:srgbClr val="8a5a00"/>
            </a:solidFill>
            <a:round/>
          </a:ln>
        </p:spPr>
        <p:style>
          <a:lnRef idx="0"/>
          <a:fillRef idx="0"/>
          <a:effectRef idx="0"/>
          <a:fontRef idx="minor"/>
        </p:style>
      </p:sp>
      <p:sp>
        <p:nvSpPr>
          <p:cNvPr id="320" name="Shape 41"/>
          <p:cNvSpPr/>
          <p:nvPr/>
        </p:nvSpPr>
        <p:spPr>
          <a:xfrm>
            <a:off x="11478600" y="3924360"/>
            <a:ext cx="182880" cy="360"/>
          </a:xfrm>
          <a:prstGeom prst="line">
            <a:avLst/>
          </a:prstGeom>
          <a:ln w="7620">
            <a:solidFill>
              <a:srgbClr val="8a5a00"/>
            </a:solidFill>
            <a:round/>
          </a:ln>
        </p:spPr>
        <p:style>
          <a:lnRef idx="0"/>
          <a:fillRef idx="0"/>
          <a:effectRef idx="0"/>
          <a:fontRef idx="minor"/>
        </p:style>
      </p:sp>
      <p:sp>
        <p:nvSpPr>
          <p:cNvPr id="321" name="Text 42"/>
          <p:cNvSpPr/>
          <p:nvPr/>
        </p:nvSpPr>
        <p:spPr>
          <a:xfrm>
            <a:off x="8727840" y="3146400"/>
            <a:ext cx="2770200" cy="164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800" spc="-1" strike="noStrike">
                <a:solidFill>
                  <a:srgbClr val="8a5a00"/>
                </a:solidFill>
                <a:latin typeface="Calibri"/>
                <a:ea typeface="Aptos"/>
              </a:rPr>
              <a:t>No recent purchase</a:t>
            </a:r>
            <a:endParaRPr b="0" lang="en-US" sz="1800" spc="-1" strike="noStrike">
              <a:latin typeface="Arial"/>
            </a:endParaRPr>
          </a:p>
        </p:txBody>
      </p:sp>
      <p:sp>
        <p:nvSpPr>
          <p:cNvPr id="322" name="Text 43"/>
          <p:cNvSpPr/>
          <p:nvPr/>
        </p:nvSpPr>
        <p:spPr>
          <a:xfrm>
            <a:off x="11204280" y="4395960"/>
            <a:ext cx="712800" cy="273960"/>
          </a:xfrm>
          <a:prstGeom prst="rect">
            <a:avLst/>
          </a:prstGeom>
          <a:noFill/>
          <a:ln w="0">
            <a:noFill/>
          </a:ln>
        </p:spPr>
        <p:style>
          <a:lnRef idx="0"/>
          <a:fillRef idx="0"/>
          <a:effectRef idx="0"/>
          <a:fontRef idx="minor"/>
        </p:style>
        <p:txBody>
          <a:bodyPr lIns="0" rIns="0" tIns="0" bIns="0" anchor="ctr">
            <a:normAutofit/>
          </a:bodyPr>
          <a:p>
            <a:pPr algn="ctr">
              <a:lnSpc>
                <a:spcPct val="100000"/>
              </a:lnSpc>
              <a:buNone/>
              <a:tabLst>
                <a:tab algn="l" pos="0"/>
              </a:tabLst>
            </a:pPr>
            <a:r>
              <a:rPr b="1" lang="en-US" sz="1800" spc="-1" strike="noStrike">
                <a:solidFill>
                  <a:srgbClr val="8a5a00"/>
                </a:solidFill>
                <a:latin typeface="Calibri"/>
                <a:ea typeface="Aptos"/>
              </a:rPr>
              <a:t>94</a:t>
            </a:r>
            <a:endParaRPr b="0" lang="en-US" sz="1800" spc="-1" strike="noStrike">
              <a:latin typeface="Arial"/>
            </a:endParaRPr>
          </a:p>
        </p:txBody>
      </p:sp>
      <p:sp>
        <p:nvSpPr>
          <p:cNvPr id="323" name="Text 46"/>
          <p:cNvSpPr/>
          <p:nvPr/>
        </p:nvSpPr>
        <p:spPr>
          <a:xfrm>
            <a:off x="8366760" y="3488760"/>
            <a:ext cx="3000240" cy="1325520"/>
          </a:xfrm>
          <a:prstGeom prst="rect">
            <a:avLst/>
          </a:prstGeom>
          <a:solidFill>
            <a:srgbClr val="ffffff"/>
          </a:solidFill>
          <a:ln w="8255">
            <a:noFill/>
          </a:ln>
        </p:spPr>
        <p:style>
          <a:lnRef idx="0"/>
          <a:fillRef idx="0"/>
          <a:effectRef idx="0"/>
          <a:fontRef idx="minor"/>
        </p:style>
        <p:txBody>
          <a:bodyPr anchor="ctr">
            <a:noAutofit/>
          </a:bodyPr>
          <a:p>
            <a:pPr>
              <a:lnSpc>
                <a:spcPct val="100000"/>
              </a:lnSpc>
              <a:buNone/>
              <a:tabLst>
                <a:tab algn="l" pos="0"/>
              </a:tabLst>
            </a:pPr>
            <a:r>
              <a:rPr b="0" lang="en-US" sz="1200" spc="-1" strike="noStrike">
                <a:solidFill>
                  <a:srgbClr val="24272b"/>
                </a:solidFill>
                <a:latin typeface="Calibri"/>
                <a:ea typeface="Aptos Mono"/>
              </a:rPr>
              <a:t>WITH last_order AS (</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SELECT customer_id, MAX(order_date) last_dt</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 </a:t>
            </a:r>
            <a:r>
              <a:rPr b="0" lang="en-US" sz="1200" spc="-1" strike="noStrike">
                <a:solidFill>
                  <a:srgbClr val="24272b"/>
                </a:solidFill>
                <a:latin typeface="Calibri"/>
                <a:ea typeface="Aptos Mono"/>
              </a:rPr>
              <a:t>FROM orders GROUP BY 1)</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SELECT COUNT(*) FROM customers c LEFT JOIN last_order lo USING(customer_id)</a:t>
            </a:r>
            <a:endParaRPr b="0" lang="en-US" sz="1200" spc="-1" strike="noStrike">
              <a:latin typeface="Arial"/>
            </a:endParaRPr>
          </a:p>
          <a:p>
            <a:pPr>
              <a:lnSpc>
                <a:spcPct val="100000"/>
              </a:lnSpc>
              <a:buNone/>
              <a:tabLst>
                <a:tab algn="l" pos="0"/>
              </a:tabLst>
            </a:pPr>
            <a:r>
              <a:rPr b="0" lang="en-US" sz="1200" spc="-1" strike="noStrike">
                <a:solidFill>
                  <a:srgbClr val="24272b"/>
                </a:solidFill>
                <a:latin typeface="Calibri"/>
                <a:ea typeface="Aptos Mono"/>
              </a:rPr>
              <a:t>WHERE c.segment='Enterprise' AND lo.last_dt &lt; :q_start;</a:t>
            </a:r>
            <a:endParaRPr b="0" lang="en-US" sz="1200" spc="-1" strike="noStrike">
              <a:latin typeface="Arial"/>
            </a:endParaRPr>
          </a:p>
        </p:txBody>
      </p:sp>
      <p:sp>
        <p:nvSpPr>
          <p:cNvPr id="324" name="Shape 9"/>
          <p:cNvSpPr/>
          <p:nvPr/>
        </p:nvSpPr>
        <p:spPr>
          <a:xfrm>
            <a:off x="3354120" y="3849480"/>
            <a:ext cx="384120" cy="360"/>
          </a:xfrm>
          <a:prstGeom prst="line">
            <a:avLst/>
          </a:prstGeom>
          <a:ln>
            <a:solidFill>
              <a:srgbClr val="70ad47"/>
            </a:solidFill>
            <a:round/>
            <a:tailEnd len="med" type="triangle" w="med"/>
          </a:ln>
        </p:spPr>
        <p:style>
          <a:lnRef idx="2">
            <a:schemeClr val="accent6"/>
          </a:lnRef>
          <a:fillRef idx="0">
            <a:schemeClr val="accent6"/>
          </a:fillRef>
          <a:effectRef idx="1">
            <a:schemeClr val="accent6"/>
          </a:effectRef>
          <a:fontRef idx="minor"/>
        </p:style>
      </p:sp>
      <p:sp>
        <p:nvSpPr>
          <p:cNvPr id="325" name="Shape 9"/>
          <p:cNvSpPr/>
          <p:nvPr/>
        </p:nvSpPr>
        <p:spPr>
          <a:xfrm>
            <a:off x="6968880" y="3942360"/>
            <a:ext cx="384120" cy="360"/>
          </a:xfrm>
          <a:prstGeom prst="line">
            <a:avLst/>
          </a:prstGeom>
          <a:ln>
            <a:solidFill>
              <a:srgbClr val="5b9bd5"/>
            </a:solidFill>
            <a:round/>
            <a:tailEnd len="med" type="triangle" w="med"/>
          </a:ln>
        </p:spPr>
        <p:style>
          <a:lnRef idx="2">
            <a:schemeClr val="accent6"/>
          </a:lnRef>
          <a:fillRef idx="0">
            <a:schemeClr val="accent6"/>
          </a:fillRef>
          <a:effectRef idx="1">
            <a:schemeClr val="accent6"/>
          </a:effectRef>
          <a:fontRef idx="minor"/>
        </p:style>
      </p:sp>
      <p:sp>
        <p:nvSpPr>
          <p:cNvPr id="326" name="Shape 9"/>
          <p:cNvSpPr/>
          <p:nvPr/>
        </p:nvSpPr>
        <p:spPr>
          <a:xfrm>
            <a:off x="10983240" y="3887640"/>
            <a:ext cx="383760" cy="360"/>
          </a:xfrm>
          <a:prstGeom prst="line">
            <a:avLst/>
          </a:prstGeom>
          <a:ln>
            <a:solidFill>
              <a:srgbClr val="ffc000"/>
            </a:solidFill>
            <a:round/>
            <a:tailEnd len="med" type="triangle" w="med"/>
          </a:ln>
        </p:spPr>
        <p:style>
          <a:lnRef idx="2">
            <a:schemeClr val="accent6"/>
          </a:lnRef>
          <a:fillRef idx="0">
            <a:schemeClr val="accent6"/>
          </a:fillRef>
          <a:effectRef idx="1">
            <a:schemeClr val="accent6"/>
          </a:effectRef>
          <a:fontRef idx="minor"/>
        </p:style>
      </p:sp>
      <p:sp>
        <p:nvSpPr>
          <p:cNvPr id="327" name="Shape 9"/>
          <p:cNvSpPr/>
          <p:nvPr/>
        </p:nvSpPr>
        <p:spPr>
          <a:xfrm>
            <a:off x="3960000" y="3981960"/>
            <a:ext cx="360" cy="310680"/>
          </a:xfrm>
          <a:prstGeom prst="line">
            <a:avLst/>
          </a:prstGeom>
          <a:ln>
            <a:solidFill>
              <a:srgbClr val="70ad47"/>
            </a:solidFill>
            <a:round/>
            <a:tailEnd len="med" type="triangle" w="med"/>
          </a:ln>
        </p:spPr>
        <p:style>
          <a:lnRef idx="2">
            <a:schemeClr val="accent6"/>
          </a:lnRef>
          <a:fillRef idx="0">
            <a:schemeClr val="accent6"/>
          </a:fillRef>
          <a:effectRef idx="1">
            <a:schemeClr val="accent6"/>
          </a:effectRef>
          <a:fontRef idx="minor"/>
        </p:style>
      </p:sp>
      <p:sp>
        <p:nvSpPr>
          <p:cNvPr id="328" name="Shape 9"/>
          <p:cNvSpPr/>
          <p:nvPr/>
        </p:nvSpPr>
        <p:spPr>
          <a:xfrm>
            <a:off x="7623360" y="4097160"/>
            <a:ext cx="360" cy="274320"/>
          </a:xfrm>
          <a:prstGeom prst="line">
            <a:avLst/>
          </a:prstGeom>
          <a:ln>
            <a:solidFill>
              <a:srgbClr val="5b9bd5"/>
            </a:solidFill>
            <a:round/>
            <a:tailEnd len="med" type="triangle" w="med"/>
          </a:ln>
        </p:spPr>
        <p:style>
          <a:lnRef idx="2">
            <a:schemeClr val="accent6"/>
          </a:lnRef>
          <a:fillRef idx="0">
            <a:schemeClr val="accent6"/>
          </a:fillRef>
          <a:effectRef idx="1">
            <a:schemeClr val="accent6"/>
          </a:effectRef>
          <a:fontRef idx="minor"/>
        </p:style>
      </p:sp>
      <p:sp>
        <p:nvSpPr>
          <p:cNvPr id="329" name="Shape 9"/>
          <p:cNvSpPr/>
          <p:nvPr/>
        </p:nvSpPr>
        <p:spPr>
          <a:xfrm>
            <a:off x="11566800" y="4097160"/>
            <a:ext cx="360" cy="274320"/>
          </a:xfrm>
          <a:prstGeom prst="line">
            <a:avLst/>
          </a:prstGeom>
          <a:ln>
            <a:solidFill>
              <a:srgbClr val="ffc000"/>
            </a:solidFill>
            <a:round/>
            <a:tailEnd len="med" type="triangle" w="med"/>
          </a:ln>
        </p:spPr>
        <p:style>
          <a:lnRef idx="2">
            <a:schemeClr val="accent6"/>
          </a:lnRef>
          <a:fillRef idx="0">
            <a:schemeClr val="accent6"/>
          </a:fillRef>
          <a:effectRef idx="1">
            <a:schemeClr val="accent6"/>
          </a:effectRef>
          <a:fontRef idx="minor"/>
        </p:style>
      </p:sp>
      <p:sp>
        <p:nvSpPr>
          <p:cNvPr id="330" name="Shape 48"/>
          <p:cNvSpPr/>
          <p:nvPr/>
        </p:nvSpPr>
        <p:spPr>
          <a:xfrm>
            <a:off x="850320" y="5517720"/>
            <a:ext cx="273960" cy="273960"/>
          </a:xfrm>
          <a:prstGeom prst="ellipse">
            <a:avLst/>
          </a:prstGeom>
          <a:solidFill>
            <a:srgbClr val="fbf1ef"/>
          </a:solidFill>
          <a:ln w="12700">
            <a:solidFill>
              <a:srgbClr val="c74634"/>
            </a:solidFill>
            <a:round/>
          </a:ln>
        </p:spPr>
        <p:style>
          <a:lnRef idx="0"/>
          <a:fillRef idx="0"/>
          <a:effectRef idx="0"/>
          <a:fontRef idx="minor"/>
        </p:style>
      </p:sp>
      <p:sp>
        <p:nvSpPr>
          <p:cNvPr id="331" name="Text 49"/>
          <p:cNvSpPr/>
          <p:nvPr/>
        </p:nvSpPr>
        <p:spPr>
          <a:xfrm>
            <a:off x="850320" y="5527080"/>
            <a:ext cx="273960" cy="255600"/>
          </a:xfrm>
          <a:prstGeom prst="rect">
            <a:avLst/>
          </a:prstGeom>
          <a:noFill/>
          <a:ln w="0">
            <a:noFill/>
          </a:ln>
        </p:spPr>
        <p:style>
          <a:lnRef idx="0"/>
          <a:fillRef idx="0"/>
          <a:effectRef idx="0"/>
          <a:fontRef idx="minor"/>
        </p:style>
        <p:txBody>
          <a:bodyPr lIns="0" rIns="0" tIns="0" bIns="0" anchor="ctr">
            <a:normAutofit/>
          </a:bodyPr>
          <a:p>
            <a:pPr algn="ctr">
              <a:lnSpc>
                <a:spcPct val="100000"/>
              </a:lnSpc>
              <a:buNone/>
              <a:tabLst>
                <a:tab algn="l" pos="0"/>
              </a:tabLst>
            </a:pPr>
            <a:r>
              <a:rPr b="1" lang="en-US" sz="1050" spc="-1" strike="noStrike">
                <a:solidFill>
                  <a:srgbClr val="c74634"/>
                </a:solidFill>
                <a:latin typeface="Calibri"/>
                <a:ea typeface="Aptos"/>
              </a:rPr>
              <a:t>✓</a:t>
            </a:r>
            <a:endParaRPr b="0" lang="en-US" sz="1050" spc="-1" strike="noStrike">
              <a:latin typeface="Arial"/>
            </a:endParaRPr>
          </a:p>
        </p:txBody>
      </p:sp>
      <p:sp>
        <p:nvSpPr>
          <p:cNvPr id="332" name="TextBox 19"/>
          <p:cNvSpPr/>
          <p:nvPr/>
        </p:nvSpPr>
        <p:spPr>
          <a:xfrm>
            <a:off x="1225440" y="5239440"/>
            <a:ext cx="3891600" cy="137124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nSpc>
                <a:spcPct val="100000"/>
              </a:lnSpc>
              <a:buNone/>
            </a:pPr>
            <a:r>
              <a:rPr b="1" lang="en-US" sz="1800" spc="-1" strike="noStrike">
                <a:solidFill>
                  <a:srgbClr val="2b2b2b"/>
                </a:solidFill>
                <a:latin typeface="Calibri"/>
              </a:rPr>
              <a:t>Probe report selects strongest evidence</a:t>
            </a:r>
            <a:endParaRPr b="0" lang="en-US" sz="1800" spc="-1" strike="noStrike">
              <a:latin typeface="Arial"/>
            </a:endParaRPr>
          </a:p>
          <a:p>
            <a:pPr>
              <a:lnSpc>
                <a:spcPct val="100000"/>
              </a:lnSpc>
              <a:buNone/>
            </a:pPr>
            <a:r>
              <a:rPr b="0" lang="en-US" sz="1800" spc="-1" strike="noStrike">
                <a:solidFill>
                  <a:srgbClr val="565b63"/>
                </a:solidFill>
                <a:latin typeface="Calibri"/>
              </a:rPr>
              <a:t>Canceled subscriptions has the strongest schema-supported signal.</a:t>
            </a:r>
            <a:endParaRPr b="0" lang="en-US" sz="1800" spc="-1" strike="noStrike">
              <a:latin typeface="Arial"/>
            </a:endParaRPr>
          </a:p>
        </p:txBody>
      </p:sp>
      <p:sp>
        <p:nvSpPr>
          <p:cNvPr id="333" name="Right Arrow 21"/>
          <p:cNvSpPr/>
          <p:nvPr/>
        </p:nvSpPr>
        <p:spPr>
          <a:xfrm>
            <a:off x="4070520" y="2165400"/>
            <a:ext cx="383760" cy="109440"/>
          </a:xfrm>
          <a:prstGeom prst="rightArrow">
            <a:avLst>
              <a:gd name="adj1" fmla="val 50000"/>
              <a:gd name="adj2" fmla="val 50000"/>
            </a:avLst>
          </a:prstGeom>
          <a:solidFill>
            <a:schemeClr val="bg1">
              <a:lumMod val="95000"/>
            </a:schemeClr>
          </a:solidFill>
          <a:ln>
            <a:solidFill>
              <a:srgbClr val="478f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4" name="TextBox 22"/>
          <p:cNvSpPr/>
          <p:nvPr/>
        </p:nvSpPr>
        <p:spPr>
          <a:xfrm>
            <a:off x="4635360" y="1943280"/>
            <a:ext cx="2233440" cy="82260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gn="ctr">
              <a:lnSpc>
                <a:spcPct val="100000"/>
              </a:lnSpc>
              <a:buNone/>
            </a:pPr>
            <a:r>
              <a:rPr b="1" lang="en-US" sz="1800" spc="-1" strike="noStrike">
                <a:solidFill>
                  <a:srgbClr val="2b2b2b"/>
                </a:solidFill>
                <a:latin typeface="Calibri"/>
              </a:rPr>
              <a:t>Generate </a:t>
            </a:r>
            <a:endParaRPr b="0" lang="en-US" sz="1800" spc="-1" strike="noStrike">
              <a:latin typeface="Arial"/>
            </a:endParaRPr>
          </a:p>
          <a:p>
            <a:pPr algn="ctr">
              <a:lnSpc>
                <a:spcPct val="100000"/>
              </a:lnSpc>
              <a:buNone/>
            </a:pPr>
            <a:r>
              <a:rPr b="0" lang="en-US" sz="1800" spc="-1" strike="noStrike">
                <a:solidFill>
                  <a:srgbClr val="2b2b2b"/>
                </a:solidFill>
                <a:latin typeface="Calibri"/>
              </a:rPr>
              <a:t>Competing probe SQLs</a:t>
            </a:r>
            <a:endParaRPr b="0" lang="en-US" sz="1800" spc="-1" strike="noStrike">
              <a:latin typeface="Arial"/>
            </a:endParaRPr>
          </a:p>
        </p:txBody>
      </p:sp>
      <p:sp>
        <p:nvSpPr>
          <p:cNvPr id="335" name="Right Arrow 23"/>
          <p:cNvSpPr/>
          <p:nvPr/>
        </p:nvSpPr>
        <p:spPr>
          <a:xfrm>
            <a:off x="7050240" y="2165400"/>
            <a:ext cx="383760" cy="109440"/>
          </a:xfrm>
          <a:prstGeom prst="rightArrow">
            <a:avLst>
              <a:gd name="adj1" fmla="val 50000"/>
              <a:gd name="adj2" fmla="val 50000"/>
            </a:avLst>
          </a:prstGeom>
          <a:solidFill>
            <a:schemeClr val="bg1">
              <a:lumMod val="95000"/>
            </a:schemeClr>
          </a:solidFill>
          <a:ln>
            <a:solidFill>
              <a:srgbClr val="478f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6" name="TextBox 24"/>
          <p:cNvSpPr/>
          <p:nvPr/>
        </p:nvSpPr>
        <p:spPr>
          <a:xfrm>
            <a:off x="7615080" y="1943280"/>
            <a:ext cx="1806480" cy="109692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gn="ctr">
              <a:lnSpc>
                <a:spcPct val="100000"/>
              </a:lnSpc>
              <a:buNone/>
            </a:pPr>
            <a:r>
              <a:rPr b="1" lang="en-US" sz="1800" spc="-1" strike="noStrike">
                <a:solidFill>
                  <a:srgbClr val="2b2b2b"/>
                </a:solidFill>
                <a:latin typeface="Calibri"/>
              </a:rPr>
              <a:t>Execute &amp; Resolve </a:t>
            </a:r>
            <a:endParaRPr b="0" lang="en-US" sz="1800" spc="-1" strike="noStrike">
              <a:latin typeface="Arial"/>
            </a:endParaRPr>
          </a:p>
          <a:p>
            <a:pPr algn="ctr">
              <a:lnSpc>
                <a:spcPct val="100000"/>
              </a:lnSpc>
              <a:buNone/>
            </a:pPr>
            <a:r>
              <a:rPr b="0" lang="en-US" sz="1800" spc="-1" strike="noStrike">
                <a:solidFill>
                  <a:srgbClr val="2b2b2b"/>
                </a:solidFill>
                <a:latin typeface="Calibri"/>
              </a:rPr>
              <a:t>With probe report</a:t>
            </a:r>
            <a:endParaRPr b="0" lang="en-US" sz="1800" spc="-1" strike="noStrike">
              <a:latin typeface="Arial"/>
            </a:endParaRPr>
          </a:p>
        </p:txBody>
      </p:sp>
      <p:sp>
        <p:nvSpPr>
          <p:cNvPr id="337" name="Right Arrow 25"/>
          <p:cNvSpPr/>
          <p:nvPr/>
        </p:nvSpPr>
        <p:spPr>
          <a:xfrm>
            <a:off x="9603000" y="2165400"/>
            <a:ext cx="383760" cy="109440"/>
          </a:xfrm>
          <a:prstGeom prst="rightArrow">
            <a:avLst>
              <a:gd name="adj1" fmla="val 50000"/>
              <a:gd name="adj2" fmla="val 50000"/>
            </a:avLst>
          </a:prstGeom>
          <a:solidFill>
            <a:schemeClr val="bg1">
              <a:lumMod val="95000"/>
            </a:schemeClr>
          </a:solidFill>
          <a:ln>
            <a:solidFill>
              <a:srgbClr val="478f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8" name="TextBox 26"/>
          <p:cNvSpPr/>
          <p:nvPr/>
        </p:nvSpPr>
        <p:spPr>
          <a:xfrm>
            <a:off x="10168200" y="1943280"/>
            <a:ext cx="1058400" cy="54900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gn="ctr">
              <a:lnSpc>
                <a:spcPct val="100000"/>
              </a:lnSpc>
              <a:buNone/>
            </a:pPr>
            <a:r>
              <a:rPr b="1" lang="en-US" sz="1800" spc="-1" strike="noStrike">
                <a:solidFill>
                  <a:srgbClr val="2b2b2b"/>
                </a:solidFill>
                <a:latin typeface="Calibri"/>
              </a:rPr>
              <a:t>Repair </a:t>
            </a:r>
            <a:endParaRPr b="0" lang="en-US" sz="1800" spc="-1" strike="noStrike">
              <a:latin typeface="Arial"/>
            </a:endParaRPr>
          </a:p>
          <a:p>
            <a:pPr algn="ctr">
              <a:lnSpc>
                <a:spcPct val="100000"/>
              </a:lnSpc>
              <a:buNone/>
            </a:pPr>
            <a:r>
              <a:rPr b="0" lang="en-US" sz="1800" spc="-1" strike="noStrike">
                <a:solidFill>
                  <a:srgbClr val="2b2b2b"/>
                </a:solidFill>
                <a:latin typeface="Calibri"/>
              </a:rPr>
              <a:t>Final SQL</a:t>
            </a:r>
            <a:endParaRPr b="0" lang="en-US" sz="1800" spc="-1" strike="noStrike">
              <a:latin typeface="Arial"/>
            </a:endParaRPr>
          </a:p>
        </p:txBody>
      </p:sp>
      <p:sp>
        <p:nvSpPr>
          <p:cNvPr id="339" name="Right Arrow 31"/>
          <p:cNvSpPr/>
          <p:nvPr/>
        </p:nvSpPr>
        <p:spPr>
          <a:xfrm>
            <a:off x="5616720" y="5598720"/>
            <a:ext cx="676800" cy="112320"/>
          </a:xfrm>
          <a:prstGeom prst="rightArrow">
            <a:avLst>
              <a:gd name="adj1" fmla="val 50000"/>
              <a:gd name="adj2" fmla="val 50000"/>
            </a:avLst>
          </a:prstGeom>
          <a:solidFill>
            <a:srgbClr val="c936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0" name="Shape 81"/>
          <p:cNvSpPr/>
          <p:nvPr/>
        </p:nvSpPr>
        <p:spPr>
          <a:xfrm>
            <a:off x="6725880" y="5499360"/>
            <a:ext cx="310680" cy="310680"/>
          </a:xfrm>
          <a:prstGeom prst="ellipse">
            <a:avLst/>
          </a:prstGeom>
          <a:solidFill>
            <a:srgbClr val="2f6e3b"/>
          </a:solidFill>
          <a:ln w="12700">
            <a:solidFill>
              <a:srgbClr val="2f6e3b"/>
            </a:solidFill>
            <a:round/>
          </a:ln>
        </p:spPr>
        <p:style>
          <a:lnRef idx="0"/>
          <a:fillRef idx="0"/>
          <a:effectRef idx="0"/>
          <a:fontRef idx="minor"/>
        </p:style>
      </p:sp>
      <p:sp>
        <p:nvSpPr>
          <p:cNvPr id="341" name="Text 82"/>
          <p:cNvSpPr/>
          <p:nvPr/>
        </p:nvSpPr>
        <p:spPr>
          <a:xfrm>
            <a:off x="6739200" y="5508720"/>
            <a:ext cx="310680" cy="292320"/>
          </a:xfrm>
          <a:prstGeom prst="rect">
            <a:avLst/>
          </a:prstGeom>
          <a:noFill/>
          <a:ln w="0">
            <a:noFill/>
          </a:ln>
        </p:spPr>
        <p:style>
          <a:lnRef idx="0"/>
          <a:fillRef idx="0"/>
          <a:effectRef idx="0"/>
          <a:fontRef idx="minor"/>
        </p:style>
        <p:txBody>
          <a:bodyPr lIns="0" rIns="0" tIns="0" bIns="0" anchor="ctr">
            <a:normAutofit/>
          </a:bodyPr>
          <a:p>
            <a:pPr algn="ctr">
              <a:lnSpc>
                <a:spcPct val="100000"/>
              </a:lnSpc>
              <a:buNone/>
              <a:tabLst>
                <a:tab algn="l" pos="0"/>
              </a:tabLst>
            </a:pPr>
            <a:r>
              <a:rPr b="1" lang="en-US" sz="1000" spc="-1" strike="noStrike">
                <a:solidFill>
                  <a:srgbClr val="ffffff"/>
                </a:solidFill>
                <a:latin typeface="Calibri"/>
                <a:ea typeface="Aptos"/>
              </a:rPr>
              <a:t>SQL</a:t>
            </a:r>
            <a:endParaRPr b="0" lang="en-US" sz="1000" spc="-1" strike="noStrike">
              <a:latin typeface="Arial"/>
            </a:endParaRPr>
          </a:p>
        </p:txBody>
      </p:sp>
      <p:sp>
        <p:nvSpPr>
          <p:cNvPr id="342" name="TextBox 38"/>
          <p:cNvSpPr/>
          <p:nvPr/>
        </p:nvSpPr>
        <p:spPr>
          <a:xfrm>
            <a:off x="7198200" y="5239440"/>
            <a:ext cx="4204080" cy="82332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nSpc>
                <a:spcPct val="100000"/>
              </a:lnSpc>
              <a:buNone/>
            </a:pPr>
            <a:r>
              <a:rPr b="1" lang="en-US" sz="1800" spc="-1" strike="noStrike">
                <a:solidFill>
                  <a:srgbClr val="296d3a"/>
                </a:solidFill>
                <a:latin typeface="Calibri"/>
              </a:rPr>
              <a:t>Final SQL uses resolved intent</a:t>
            </a:r>
            <a:endParaRPr b="0" lang="en-US" sz="1800" spc="-1" strike="noStrike">
              <a:latin typeface="Arial"/>
            </a:endParaRPr>
          </a:p>
          <a:p>
            <a:pPr>
              <a:lnSpc>
                <a:spcPct val="100000"/>
              </a:lnSpc>
              <a:buNone/>
            </a:pPr>
            <a:r>
              <a:rPr b="0" lang="en-US" sz="1800" spc="-1" strike="noStrike">
                <a:solidFill>
                  <a:srgbClr val="565b63"/>
                </a:solidFill>
                <a:latin typeface="Calibri"/>
              </a:rPr>
              <a:t>Apply cancellation filters; remaining probes remain audit evidence.</a:t>
            </a:r>
            <a:endParaRPr b="0" lang="en-US" sz="1800" spc="-1" strike="noStrike">
              <a:latin typeface="Arial"/>
            </a:endParaRPr>
          </a:p>
        </p:txBody>
      </p:sp>
      <p:sp>
        <p:nvSpPr>
          <p:cNvPr id="343" name="TextBox 40"/>
          <p:cNvSpPr/>
          <p:nvPr/>
        </p:nvSpPr>
        <p:spPr>
          <a:xfrm>
            <a:off x="669960" y="6279480"/>
            <a:ext cx="10851840" cy="548280"/>
          </a:xfrm>
          <a:prstGeom prst="rect">
            <a:avLst/>
          </a:prstGeom>
          <a:solidFill>
            <a:schemeClr val="bg1">
              <a:lumMod val="95000"/>
            </a:schemeClr>
          </a:solidFill>
          <a:ln w="0">
            <a:solidFill>
              <a:srgbClr val="478fe1"/>
            </a:solidFill>
          </a:ln>
        </p:spPr>
        <p:style>
          <a:lnRef idx="0"/>
          <a:fillRef idx="0"/>
          <a:effectRef idx="0"/>
          <a:fontRef idx="minor"/>
        </p:style>
        <p:txBody>
          <a:bodyPr lIns="0" rIns="0" tIns="0" bIns="0" anchor="t">
            <a:spAutoFit/>
          </a:bodyPr>
          <a:p>
            <a:pPr algn="ctr">
              <a:lnSpc>
                <a:spcPct val="100000"/>
              </a:lnSpc>
              <a:buNone/>
            </a:pPr>
            <a:r>
              <a:rPr b="1" lang="en-US" sz="1800" spc="-1" strike="noStrike">
                <a:solidFill>
                  <a:srgbClr val="282828"/>
                </a:solidFill>
                <a:latin typeface="Calibri"/>
              </a:rPr>
              <a:t>Key takeaway: </a:t>
            </a:r>
            <a:r>
              <a:rPr b="1" lang="en-US" sz="1800" spc="-1" strike="noStrike">
                <a:solidFill>
                  <a:srgbClr val="2b2b2b"/>
                </a:solidFill>
                <a:latin typeface="Calibri"/>
              </a:rPr>
              <a:t>ambiguous terms are resolved from database evidence, not guessed, combined for final SQL.</a:t>
            </a:r>
            <a:endParaRPr b="0" lang="en-US" sz="1800" spc="-1" strike="noStrike">
              <a:latin typeface="Arial"/>
            </a:endParaRPr>
          </a:p>
        </p:txBody>
      </p:sp>
      <p:sp>
        <p:nvSpPr>
          <p:cNvPr id="344" name="TextBox 43"/>
          <p:cNvSpPr/>
          <p:nvPr/>
        </p:nvSpPr>
        <p:spPr>
          <a:xfrm>
            <a:off x="541800" y="1291680"/>
            <a:ext cx="60944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3366cc"/>
                </a:solidFill>
                <a:latin typeface="Aptos"/>
              </a:rPr>
              <a:t>ONLINE: Resolve Ambiguity with Database Evidence</a:t>
            </a:r>
            <a:endParaRPr b="0" lang="en-US" sz="1800" spc="-1" strike="noStrike">
              <a:latin typeface="Arial"/>
            </a:endParaRPr>
          </a:p>
        </p:txBody>
      </p:sp>
      <p:sp>
        <p:nvSpPr>
          <p:cNvPr id="345" name="PlaceHolder 2"/>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Differentiator #2: Ambiguity-Driven Probing</a:t>
            </a:r>
            <a:endParaRPr b="0" lang="en-US" sz="40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325" dur="indefinite" restart="never" nodeType="tmRoot">
          <p:childTnLst>
            <p:seq>
              <p:cTn id="326" dur="indefinite" nodeType="mainSeq">
                <p:childTnLst>
                  <p:par>
                    <p:cTn id="327" fill="hold">
                      <p:stCondLst>
                        <p:cond delay="indefinite"/>
                      </p:stCondLst>
                      <p:childTnLst>
                        <p:par>
                          <p:cTn id="328" fill="hold">
                            <p:stCondLst>
                              <p:cond delay="0"/>
                            </p:stCondLst>
                            <p:childTnLst>
                              <p:par>
                                <p:cTn id="329" nodeType="clickEffect" fill="hold" presetClass="entr" presetID="1">
                                  <p:stCondLst>
                                    <p:cond delay="0"/>
                                  </p:stCondLst>
                                  <p:childTnLst>
                                    <p:set>
                                      <p:cBhvr>
                                        <p:cTn id="330" dur="1" fill="hold">
                                          <p:stCondLst>
                                            <p:cond delay="0"/>
                                          </p:stCondLst>
                                        </p:cTn>
                                        <p:tgtEl>
                                          <p:spTgt spid="291"/>
                                        </p:tgtEl>
                                        <p:attrNameLst>
                                          <p:attrName>style.visibility</p:attrName>
                                        </p:attrNameLst>
                                      </p:cBhvr>
                                      <p:to>
                                        <p:strVal val="visible"/>
                                      </p:to>
                                    </p:set>
                                  </p:childTnLst>
                                </p:cTn>
                              </p:par>
                              <p:par>
                                <p:cTn id="331" nodeType="withEffect" fill="hold" presetClass="entr" presetID="1">
                                  <p:stCondLst>
                                    <p:cond delay="0"/>
                                  </p:stCondLst>
                                  <p:childTnLst>
                                    <p:set>
                                      <p:cBhvr>
                                        <p:cTn id="332" dur="1" fill="hold">
                                          <p:stCondLst>
                                            <p:cond delay="0"/>
                                          </p:stCondLst>
                                        </p:cTn>
                                        <p:tgtEl>
                                          <p:spTgt spid="292"/>
                                        </p:tgtEl>
                                        <p:attrNameLst>
                                          <p:attrName>style.visibility</p:attrName>
                                        </p:attrNameLst>
                                      </p:cBhvr>
                                      <p:to>
                                        <p:strVal val="visible"/>
                                      </p:to>
                                    </p:set>
                                  </p:childTnLst>
                                </p:cTn>
                              </p:par>
                              <p:par>
                                <p:cTn id="333" nodeType="withEffect" fill="hold" presetClass="entr" presetID="1">
                                  <p:stCondLst>
                                    <p:cond delay="0"/>
                                  </p:stCondLst>
                                  <p:childTnLst>
                                    <p:set>
                                      <p:cBhvr>
                                        <p:cTn id="334" dur="1" fill="hold">
                                          <p:stCondLst>
                                            <p:cond delay="0"/>
                                          </p:stCondLst>
                                        </p:cTn>
                                        <p:tgtEl>
                                          <p:spTgt spid="293"/>
                                        </p:tgtEl>
                                        <p:attrNameLst>
                                          <p:attrName>style.visibility</p:attrName>
                                        </p:attrNameLst>
                                      </p:cBhvr>
                                      <p:to>
                                        <p:strVal val="visible"/>
                                      </p:to>
                                    </p:set>
                                  </p:childTnLst>
                                </p:cTn>
                              </p:par>
                              <p:par>
                                <p:cTn id="335" nodeType="withEffect" fill="hold" presetClass="entr" presetID="1">
                                  <p:stCondLst>
                                    <p:cond delay="0"/>
                                  </p:stCondLst>
                                  <p:childTnLst>
                                    <p:set>
                                      <p:cBhvr>
                                        <p:cTn id="336" dur="1" fill="hold">
                                          <p:stCondLst>
                                            <p:cond delay="0"/>
                                          </p:stCondLst>
                                        </p:cTn>
                                        <p:tgtEl>
                                          <p:spTgt spid="294"/>
                                        </p:tgtEl>
                                        <p:attrNameLst>
                                          <p:attrName>style.visibility</p:attrName>
                                        </p:attrNameLst>
                                      </p:cBhvr>
                                      <p:to>
                                        <p:strVal val="visible"/>
                                      </p:to>
                                    </p:set>
                                  </p:childTnLst>
                                </p:cTn>
                              </p:par>
                              <p:par>
                                <p:cTn id="337" nodeType="withEffect" fill="hold" presetClass="entr" presetID="1">
                                  <p:stCondLst>
                                    <p:cond delay="0"/>
                                  </p:stCondLst>
                                  <p:childTnLst>
                                    <p:set>
                                      <p:cBhvr>
                                        <p:cTn id="338" dur="1" fill="hold">
                                          <p:stCondLst>
                                            <p:cond delay="0"/>
                                          </p:stCondLst>
                                        </p:cTn>
                                        <p:tgtEl>
                                          <p:spTgt spid="295"/>
                                        </p:tgtEl>
                                        <p:attrNameLst>
                                          <p:attrName>style.visibility</p:attrName>
                                        </p:attrNameLst>
                                      </p:cBhvr>
                                      <p:to>
                                        <p:strVal val="visible"/>
                                      </p:to>
                                    </p:set>
                                  </p:childTnLst>
                                </p:cTn>
                              </p:par>
                              <p:par>
                                <p:cTn id="339" nodeType="withEffect" fill="hold" presetClass="entr" presetID="1">
                                  <p:stCondLst>
                                    <p:cond delay="0"/>
                                  </p:stCondLst>
                                  <p:childTnLst>
                                    <p:set>
                                      <p:cBhvr>
                                        <p:cTn id="340" dur="1" fill="hold">
                                          <p:stCondLst>
                                            <p:cond delay="0"/>
                                          </p:stCondLst>
                                        </p:cTn>
                                        <p:tgtEl>
                                          <p:spTgt spid="296"/>
                                        </p:tgtEl>
                                        <p:attrNameLst>
                                          <p:attrName>style.visibility</p:attrName>
                                        </p:attrNameLst>
                                      </p:cBhvr>
                                      <p:to>
                                        <p:strVal val="visible"/>
                                      </p:to>
                                    </p:set>
                                  </p:childTnLst>
                                </p:cTn>
                              </p:par>
                              <p:par>
                                <p:cTn id="341" nodeType="withEffect" fill="hold" presetClass="entr" presetID="1">
                                  <p:stCondLst>
                                    <p:cond delay="0"/>
                                  </p:stCondLst>
                                  <p:childTnLst>
                                    <p:set>
                                      <p:cBhvr>
                                        <p:cTn id="342" dur="1" fill="hold">
                                          <p:stCondLst>
                                            <p:cond delay="0"/>
                                          </p:stCondLst>
                                        </p:cTn>
                                        <p:tgtEl>
                                          <p:spTgt spid="297"/>
                                        </p:tgtEl>
                                        <p:attrNameLst>
                                          <p:attrName>style.visibility</p:attrName>
                                        </p:attrNameLst>
                                      </p:cBhvr>
                                      <p:to>
                                        <p:strVal val="visible"/>
                                      </p:to>
                                    </p:set>
                                  </p:childTnLst>
                                </p:cTn>
                              </p:par>
                              <p:par>
                                <p:cTn id="343" nodeType="withEffect" fill="hold" presetClass="entr" presetID="1">
                                  <p:stCondLst>
                                    <p:cond delay="0"/>
                                  </p:stCondLst>
                                  <p:childTnLst>
                                    <p:set>
                                      <p:cBhvr>
                                        <p:cTn id="344" dur="1" fill="hold">
                                          <p:stCondLst>
                                            <p:cond delay="0"/>
                                          </p:stCondLst>
                                        </p:cTn>
                                        <p:tgtEl>
                                          <p:spTgt spid="298"/>
                                        </p:tgtEl>
                                        <p:attrNameLst>
                                          <p:attrName>style.visibility</p:attrName>
                                        </p:attrNameLst>
                                      </p:cBhvr>
                                      <p:to>
                                        <p:strVal val="visible"/>
                                      </p:to>
                                    </p:set>
                                  </p:childTnLst>
                                </p:cTn>
                              </p:par>
                              <p:par>
                                <p:cTn id="345" nodeType="withEffect" fill="hold" presetClass="entr" presetID="1">
                                  <p:stCondLst>
                                    <p:cond delay="0"/>
                                  </p:stCondLst>
                                  <p:childTnLst>
                                    <p:set>
                                      <p:cBhvr>
                                        <p:cTn id="346" dur="1" fill="hold">
                                          <p:stCondLst>
                                            <p:cond delay="0"/>
                                          </p:stCondLst>
                                        </p:cTn>
                                        <p:tgtEl>
                                          <p:spTgt spid="299"/>
                                        </p:tgtEl>
                                        <p:attrNameLst>
                                          <p:attrName>style.visibility</p:attrName>
                                        </p:attrNameLst>
                                      </p:cBhvr>
                                      <p:to>
                                        <p:strVal val="visible"/>
                                      </p:to>
                                    </p:set>
                                  </p:childTnLst>
                                </p:cTn>
                              </p:par>
                              <p:par>
                                <p:cTn id="347" nodeType="withEffect" fill="hold" presetClass="entr" presetID="1">
                                  <p:stCondLst>
                                    <p:cond delay="0"/>
                                  </p:stCondLst>
                                  <p:childTnLst>
                                    <p:set>
                                      <p:cBhvr>
                                        <p:cTn id="348" dur="1" fill="hold">
                                          <p:stCondLst>
                                            <p:cond delay="0"/>
                                          </p:stCondLst>
                                        </p:cTn>
                                        <p:tgtEl>
                                          <p:spTgt spid="300"/>
                                        </p:tgtEl>
                                        <p:attrNameLst>
                                          <p:attrName>style.visibility</p:attrName>
                                        </p:attrNameLst>
                                      </p:cBhvr>
                                      <p:to>
                                        <p:strVal val="visible"/>
                                      </p:to>
                                    </p:set>
                                  </p:childTnLst>
                                </p:cTn>
                              </p:par>
                              <p:par>
                                <p:cTn id="349" nodeType="withEffect" fill="hold" presetClass="entr" presetID="1">
                                  <p:stCondLst>
                                    <p:cond delay="0"/>
                                  </p:stCondLst>
                                  <p:childTnLst>
                                    <p:set>
                                      <p:cBhvr>
                                        <p:cTn id="350" dur="1" fill="hold">
                                          <p:stCondLst>
                                            <p:cond delay="0"/>
                                          </p:stCondLst>
                                        </p:cTn>
                                        <p:tgtEl>
                                          <p:spTgt spid="301"/>
                                        </p:tgtEl>
                                        <p:attrNameLst>
                                          <p:attrName>style.visibility</p:attrName>
                                        </p:attrNameLst>
                                      </p:cBhvr>
                                      <p:to>
                                        <p:strVal val="visible"/>
                                      </p:to>
                                    </p:set>
                                  </p:childTnLst>
                                </p:cTn>
                              </p:par>
                              <p:par>
                                <p:cTn id="351" nodeType="withEffect" fill="hold" presetClass="entr" presetID="1">
                                  <p:stCondLst>
                                    <p:cond delay="0"/>
                                  </p:stCondLst>
                                  <p:childTnLst>
                                    <p:set>
                                      <p:cBhvr>
                                        <p:cTn id="352" dur="1" fill="hold">
                                          <p:stCondLst>
                                            <p:cond delay="0"/>
                                          </p:stCondLst>
                                        </p:cTn>
                                        <p:tgtEl>
                                          <p:spTgt spid="302"/>
                                        </p:tgtEl>
                                        <p:attrNameLst>
                                          <p:attrName>style.visibility</p:attrName>
                                        </p:attrNameLst>
                                      </p:cBhvr>
                                      <p:to>
                                        <p:strVal val="visible"/>
                                      </p:to>
                                    </p:set>
                                  </p:childTnLst>
                                </p:cTn>
                              </p:par>
                              <p:par>
                                <p:cTn id="353" nodeType="withEffect" fill="hold" presetClass="entr" presetID="1">
                                  <p:stCondLst>
                                    <p:cond delay="0"/>
                                  </p:stCondLst>
                                  <p:childTnLst>
                                    <p:set>
                                      <p:cBhvr>
                                        <p:cTn id="354" dur="1" fill="hold">
                                          <p:stCondLst>
                                            <p:cond delay="0"/>
                                          </p:stCondLst>
                                        </p:cTn>
                                        <p:tgtEl>
                                          <p:spTgt spid="303"/>
                                        </p:tgtEl>
                                        <p:attrNameLst>
                                          <p:attrName>style.visibility</p:attrName>
                                        </p:attrNameLst>
                                      </p:cBhvr>
                                      <p:to>
                                        <p:strVal val="visible"/>
                                      </p:to>
                                    </p:set>
                                  </p:childTnLst>
                                </p:cTn>
                              </p:par>
                              <p:par>
                                <p:cTn id="355" nodeType="withEffect" fill="hold" presetClass="entr" presetID="1">
                                  <p:stCondLst>
                                    <p:cond delay="0"/>
                                  </p:stCondLst>
                                  <p:childTnLst>
                                    <p:set>
                                      <p:cBhvr>
                                        <p:cTn id="356" dur="1" fill="hold">
                                          <p:stCondLst>
                                            <p:cond delay="0"/>
                                          </p:stCondLst>
                                        </p:cTn>
                                        <p:tgtEl>
                                          <p:spTgt spid="304"/>
                                        </p:tgtEl>
                                        <p:attrNameLst>
                                          <p:attrName>style.visibility</p:attrName>
                                        </p:attrNameLst>
                                      </p:cBhvr>
                                      <p:to>
                                        <p:strVal val="visible"/>
                                      </p:to>
                                    </p:set>
                                  </p:childTnLst>
                                </p:cTn>
                              </p:par>
                              <p:par>
                                <p:cTn id="357" nodeType="withEffect" fill="hold" presetClass="entr" presetID="1">
                                  <p:stCondLst>
                                    <p:cond delay="0"/>
                                  </p:stCondLst>
                                  <p:childTnLst>
                                    <p:set>
                                      <p:cBhvr>
                                        <p:cTn id="358" dur="1" fill="hold">
                                          <p:stCondLst>
                                            <p:cond delay="0"/>
                                          </p:stCondLst>
                                        </p:cTn>
                                        <p:tgtEl>
                                          <p:spTgt spid="305"/>
                                        </p:tgtEl>
                                        <p:attrNameLst>
                                          <p:attrName>style.visibility</p:attrName>
                                        </p:attrNameLst>
                                      </p:cBhvr>
                                      <p:to>
                                        <p:strVal val="visible"/>
                                      </p:to>
                                    </p:set>
                                  </p:childTnLst>
                                </p:cTn>
                              </p:par>
                              <p:par>
                                <p:cTn id="359" nodeType="withEffect" fill="hold" presetClass="entr" presetID="1">
                                  <p:stCondLst>
                                    <p:cond delay="0"/>
                                  </p:stCondLst>
                                  <p:childTnLst>
                                    <p:set>
                                      <p:cBhvr>
                                        <p:cTn id="360" dur="1" fill="hold">
                                          <p:stCondLst>
                                            <p:cond delay="0"/>
                                          </p:stCondLst>
                                        </p:cTn>
                                        <p:tgtEl>
                                          <p:spTgt spid="306"/>
                                        </p:tgtEl>
                                        <p:attrNameLst>
                                          <p:attrName>style.visibility</p:attrName>
                                        </p:attrNameLst>
                                      </p:cBhvr>
                                      <p:to>
                                        <p:strVal val="visible"/>
                                      </p:to>
                                    </p:set>
                                  </p:childTnLst>
                                </p:cTn>
                              </p:par>
                              <p:par>
                                <p:cTn id="361" nodeType="withEffect" fill="hold" presetClass="entr" presetID="1">
                                  <p:stCondLst>
                                    <p:cond delay="0"/>
                                  </p:stCondLst>
                                  <p:childTnLst>
                                    <p:set>
                                      <p:cBhvr>
                                        <p:cTn id="362" dur="1" fill="hold">
                                          <p:stCondLst>
                                            <p:cond delay="0"/>
                                          </p:stCondLst>
                                        </p:cTn>
                                        <p:tgtEl>
                                          <p:spTgt spid="307"/>
                                        </p:tgtEl>
                                        <p:attrNameLst>
                                          <p:attrName>style.visibility</p:attrName>
                                        </p:attrNameLst>
                                      </p:cBhvr>
                                      <p:to>
                                        <p:strVal val="visible"/>
                                      </p:to>
                                    </p:set>
                                  </p:childTnLst>
                                </p:cTn>
                              </p:par>
                              <p:par>
                                <p:cTn id="363" nodeType="withEffect" fill="hold" presetClass="entr" presetID="1">
                                  <p:stCondLst>
                                    <p:cond delay="0"/>
                                  </p:stCondLst>
                                  <p:childTnLst>
                                    <p:set>
                                      <p:cBhvr>
                                        <p:cTn id="364" dur="1" fill="hold">
                                          <p:stCondLst>
                                            <p:cond delay="0"/>
                                          </p:stCondLst>
                                        </p:cTn>
                                        <p:tgtEl>
                                          <p:spTgt spid="308"/>
                                        </p:tgtEl>
                                        <p:attrNameLst>
                                          <p:attrName>style.visibility</p:attrName>
                                        </p:attrNameLst>
                                      </p:cBhvr>
                                      <p:to>
                                        <p:strVal val="visible"/>
                                      </p:to>
                                    </p:set>
                                  </p:childTnLst>
                                </p:cTn>
                              </p:par>
                              <p:par>
                                <p:cTn id="365" nodeType="withEffect" fill="hold" presetClass="entr" presetID="1">
                                  <p:stCondLst>
                                    <p:cond delay="0"/>
                                  </p:stCondLst>
                                  <p:childTnLst>
                                    <p:set>
                                      <p:cBhvr>
                                        <p:cTn id="366" dur="1" fill="hold">
                                          <p:stCondLst>
                                            <p:cond delay="0"/>
                                          </p:stCondLst>
                                        </p:cTn>
                                        <p:tgtEl>
                                          <p:spTgt spid="309"/>
                                        </p:tgtEl>
                                        <p:attrNameLst>
                                          <p:attrName>style.visibility</p:attrName>
                                        </p:attrNameLst>
                                      </p:cBhvr>
                                      <p:to>
                                        <p:strVal val="visible"/>
                                      </p:to>
                                    </p:set>
                                  </p:childTnLst>
                                </p:cTn>
                              </p:par>
                              <p:par>
                                <p:cTn id="367" nodeType="withEffect" fill="hold" presetClass="entr" presetID="1">
                                  <p:stCondLst>
                                    <p:cond delay="0"/>
                                  </p:stCondLst>
                                  <p:childTnLst>
                                    <p:set>
                                      <p:cBhvr>
                                        <p:cTn id="368" dur="1" fill="hold">
                                          <p:stCondLst>
                                            <p:cond delay="0"/>
                                          </p:stCondLst>
                                        </p:cTn>
                                        <p:tgtEl>
                                          <p:spTgt spid="310"/>
                                        </p:tgtEl>
                                        <p:attrNameLst>
                                          <p:attrName>style.visibility</p:attrName>
                                        </p:attrNameLst>
                                      </p:cBhvr>
                                      <p:to>
                                        <p:strVal val="visible"/>
                                      </p:to>
                                    </p:set>
                                  </p:childTnLst>
                                </p:cTn>
                              </p:par>
                              <p:par>
                                <p:cTn id="369" nodeType="withEffect" fill="hold" presetClass="entr" presetID="1">
                                  <p:stCondLst>
                                    <p:cond delay="0"/>
                                  </p:stCondLst>
                                  <p:childTnLst>
                                    <p:set>
                                      <p:cBhvr>
                                        <p:cTn id="370" dur="1" fill="hold">
                                          <p:stCondLst>
                                            <p:cond delay="0"/>
                                          </p:stCondLst>
                                        </p:cTn>
                                        <p:tgtEl>
                                          <p:spTgt spid="311"/>
                                        </p:tgtEl>
                                        <p:attrNameLst>
                                          <p:attrName>style.visibility</p:attrName>
                                        </p:attrNameLst>
                                      </p:cBhvr>
                                      <p:to>
                                        <p:strVal val="visible"/>
                                      </p:to>
                                    </p:set>
                                  </p:childTnLst>
                                </p:cTn>
                              </p:par>
                              <p:par>
                                <p:cTn id="371" nodeType="withEffect" fill="hold" presetClass="entr" presetID="1">
                                  <p:stCondLst>
                                    <p:cond delay="0"/>
                                  </p:stCondLst>
                                  <p:childTnLst>
                                    <p:set>
                                      <p:cBhvr>
                                        <p:cTn id="372" dur="1" fill="hold">
                                          <p:stCondLst>
                                            <p:cond delay="0"/>
                                          </p:stCondLst>
                                        </p:cTn>
                                        <p:tgtEl>
                                          <p:spTgt spid="312"/>
                                        </p:tgtEl>
                                        <p:attrNameLst>
                                          <p:attrName>style.visibility</p:attrName>
                                        </p:attrNameLst>
                                      </p:cBhvr>
                                      <p:to>
                                        <p:strVal val="visible"/>
                                      </p:to>
                                    </p:set>
                                  </p:childTnLst>
                                </p:cTn>
                              </p:par>
                              <p:par>
                                <p:cTn id="373" nodeType="withEffect" fill="hold" presetClass="entr" presetID="1">
                                  <p:stCondLst>
                                    <p:cond delay="0"/>
                                  </p:stCondLst>
                                  <p:childTnLst>
                                    <p:set>
                                      <p:cBhvr>
                                        <p:cTn id="374" dur="1" fill="hold">
                                          <p:stCondLst>
                                            <p:cond delay="0"/>
                                          </p:stCondLst>
                                        </p:cTn>
                                        <p:tgtEl>
                                          <p:spTgt spid="313"/>
                                        </p:tgtEl>
                                        <p:attrNameLst>
                                          <p:attrName>style.visibility</p:attrName>
                                        </p:attrNameLst>
                                      </p:cBhvr>
                                      <p:to>
                                        <p:strVal val="visible"/>
                                      </p:to>
                                    </p:set>
                                  </p:childTnLst>
                                </p:cTn>
                              </p:par>
                              <p:par>
                                <p:cTn id="375" nodeType="withEffect" fill="hold" presetClass="entr" presetID="1">
                                  <p:stCondLst>
                                    <p:cond delay="0"/>
                                  </p:stCondLst>
                                  <p:childTnLst>
                                    <p:set>
                                      <p:cBhvr>
                                        <p:cTn id="376" dur="1" fill="hold">
                                          <p:stCondLst>
                                            <p:cond delay="0"/>
                                          </p:stCondLst>
                                        </p:cTn>
                                        <p:tgtEl>
                                          <p:spTgt spid="314"/>
                                        </p:tgtEl>
                                        <p:attrNameLst>
                                          <p:attrName>style.visibility</p:attrName>
                                        </p:attrNameLst>
                                      </p:cBhvr>
                                      <p:to>
                                        <p:strVal val="visible"/>
                                      </p:to>
                                    </p:set>
                                  </p:childTnLst>
                                </p:cTn>
                              </p:par>
                              <p:par>
                                <p:cTn id="377" nodeType="withEffect" fill="hold" presetClass="entr" presetID="1">
                                  <p:stCondLst>
                                    <p:cond delay="0"/>
                                  </p:stCondLst>
                                  <p:childTnLst>
                                    <p:set>
                                      <p:cBhvr>
                                        <p:cTn id="378" dur="1" fill="hold">
                                          <p:stCondLst>
                                            <p:cond delay="0"/>
                                          </p:stCondLst>
                                        </p:cTn>
                                        <p:tgtEl>
                                          <p:spTgt spid="315"/>
                                        </p:tgtEl>
                                        <p:attrNameLst>
                                          <p:attrName>style.visibility</p:attrName>
                                        </p:attrNameLst>
                                      </p:cBhvr>
                                      <p:to>
                                        <p:strVal val="visible"/>
                                      </p:to>
                                    </p:set>
                                  </p:childTnLst>
                                </p:cTn>
                              </p:par>
                              <p:par>
                                <p:cTn id="379" nodeType="withEffect" fill="hold" presetClass="entr" presetID="1">
                                  <p:stCondLst>
                                    <p:cond delay="0"/>
                                  </p:stCondLst>
                                  <p:childTnLst>
                                    <p:set>
                                      <p:cBhvr>
                                        <p:cTn id="380" dur="1" fill="hold">
                                          <p:stCondLst>
                                            <p:cond delay="0"/>
                                          </p:stCondLst>
                                        </p:cTn>
                                        <p:tgtEl>
                                          <p:spTgt spid="316"/>
                                        </p:tgtEl>
                                        <p:attrNameLst>
                                          <p:attrName>style.visibility</p:attrName>
                                        </p:attrNameLst>
                                      </p:cBhvr>
                                      <p:to>
                                        <p:strVal val="visible"/>
                                      </p:to>
                                    </p:set>
                                  </p:childTnLst>
                                </p:cTn>
                              </p:par>
                              <p:par>
                                <p:cTn id="381" nodeType="withEffect" fill="hold" presetClass="entr" presetID="1">
                                  <p:stCondLst>
                                    <p:cond delay="0"/>
                                  </p:stCondLst>
                                  <p:childTnLst>
                                    <p:set>
                                      <p:cBhvr>
                                        <p:cTn id="382" dur="1" fill="hold">
                                          <p:stCondLst>
                                            <p:cond delay="0"/>
                                          </p:stCondLst>
                                        </p:cTn>
                                        <p:tgtEl>
                                          <p:spTgt spid="317"/>
                                        </p:tgtEl>
                                        <p:attrNameLst>
                                          <p:attrName>style.visibility</p:attrName>
                                        </p:attrNameLst>
                                      </p:cBhvr>
                                      <p:to>
                                        <p:strVal val="visible"/>
                                      </p:to>
                                    </p:set>
                                  </p:childTnLst>
                                </p:cTn>
                              </p:par>
                              <p:par>
                                <p:cTn id="383" nodeType="withEffect" fill="hold" presetClass="entr" presetID="1">
                                  <p:stCondLst>
                                    <p:cond delay="0"/>
                                  </p:stCondLst>
                                  <p:childTnLst>
                                    <p:set>
                                      <p:cBhvr>
                                        <p:cTn id="384" dur="1" fill="hold">
                                          <p:stCondLst>
                                            <p:cond delay="0"/>
                                          </p:stCondLst>
                                        </p:cTn>
                                        <p:tgtEl>
                                          <p:spTgt spid="318"/>
                                        </p:tgtEl>
                                        <p:attrNameLst>
                                          <p:attrName>style.visibility</p:attrName>
                                        </p:attrNameLst>
                                      </p:cBhvr>
                                      <p:to>
                                        <p:strVal val="visible"/>
                                      </p:to>
                                    </p:set>
                                  </p:childTnLst>
                                </p:cTn>
                              </p:par>
                              <p:par>
                                <p:cTn id="385" nodeType="withEffect" fill="hold" presetClass="entr" presetID="1">
                                  <p:stCondLst>
                                    <p:cond delay="0"/>
                                  </p:stCondLst>
                                  <p:childTnLst>
                                    <p:set>
                                      <p:cBhvr>
                                        <p:cTn id="386" dur="1" fill="hold">
                                          <p:stCondLst>
                                            <p:cond delay="0"/>
                                          </p:stCondLst>
                                        </p:cTn>
                                        <p:tgtEl>
                                          <p:spTgt spid="319"/>
                                        </p:tgtEl>
                                        <p:attrNameLst>
                                          <p:attrName>style.visibility</p:attrName>
                                        </p:attrNameLst>
                                      </p:cBhvr>
                                      <p:to>
                                        <p:strVal val="visible"/>
                                      </p:to>
                                    </p:set>
                                  </p:childTnLst>
                                </p:cTn>
                              </p:par>
                              <p:par>
                                <p:cTn id="387" nodeType="withEffect" fill="hold" presetClass="entr" presetID="1">
                                  <p:stCondLst>
                                    <p:cond delay="0"/>
                                  </p:stCondLst>
                                  <p:childTnLst>
                                    <p:set>
                                      <p:cBhvr>
                                        <p:cTn id="388" dur="1" fill="hold">
                                          <p:stCondLst>
                                            <p:cond delay="0"/>
                                          </p:stCondLst>
                                        </p:cTn>
                                        <p:tgtEl>
                                          <p:spTgt spid="320"/>
                                        </p:tgtEl>
                                        <p:attrNameLst>
                                          <p:attrName>style.visibility</p:attrName>
                                        </p:attrNameLst>
                                      </p:cBhvr>
                                      <p:to>
                                        <p:strVal val="visible"/>
                                      </p:to>
                                    </p:set>
                                  </p:childTnLst>
                                </p:cTn>
                              </p:par>
                              <p:par>
                                <p:cTn id="389" nodeType="withEffect" fill="hold" presetClass="entr" presetID="1">
                                  <p:stCondLst>
                                    <p:cond delay="0"/>
                                  </p:stCondLst>
                                  <p:childTnLst>
                                    <p:set>
                                      <p:cBhvr>
                                        <p:cTn id="390" dur="1" fill="hold">
                                          <p:stCondLst>
                                            <p:cond delay="0"/>
                                          </p:stCondLst>
                                        </p:cTn>
                                        <p:tgtEl>
                                          <p:spTgt spid="321"/>
                                        </p:tgtEl>
                                        <p:attrNameLst>
                                          <p:attrName>style.visibility</p:attrName>
                                        </p:attrNameLst>
                                      </p:cBhvr>
                                      <p:to>
                                        <p:strVal val="visible"/>
                                      </p:to>
                                    </p:set>
                                  </p:childTnLst>
                                </p:cTn>
                              </p:par>
                              <p:par>
                                <p:cTn id="391" nodeType="withEffect" fill="hold" presetClass="entr" presetID="1">
                                  <p:stCondLst>
                                    <p:cond delay="0"/>
                                  </p:stCondLst>
                                  <p:childTnLst>
                                    <p:set>
                                      <p:cBhvr>
                                        <p:cTn id="392" dur="1" fill="hold">
                                          <p:stCondLst>
                                            <p:cond delay="0"/>
                                          </p:stCondLst>
                                        </p:cTn>
                                        <p:tgtEl>
                                          <p:spTgt spid="322"/>
                                        </p:tgtEl>
                                        <p:attrNameLst>
                                          <p:attrName>style.visibility</p:attrName>
                                        </p:attrNameLst>
                                      </p:cBhvr>
                                      <p:to>
                                        <p:strVal val="visible"/>
                                      </p:to>
                                    </p:set>
                                  </p:childTnLst>
                                </p:cTn>
                              </p:par>
                              <p:par>
                                <p:cTn id="393" nodeType="withEffect" fill="hold" presetClass="entr" presetID="1">
                                  <p:stCondLst>
                                    <p:cond delay="0"/>
                                  </p:stCondLst>
                                  <p:childTnLst>
                                    <p:set>
                                      <p:cBhvr>
                                        <p:cTn id="394" dur="1" fill="hold">
                                          <p:stCondLst>
                                            <p:cond delay="0"/>
                                          </p:stCondLst>
                                        </p:cTn>
                                        <p:tgtEl>
                                          <p:spTgt spid="323"/>
                                        </p:tgtEl>
                                        <p:attrNameLst>
                                          <p:attrName>style.visibility</p:attrName>
                                        </p:attrNameLst>
                                      </p:cBhvr>
                                      <p:to>
                                        <p:strVal val="visible"/>
                                      </p:to>
                                    </p:set>
                                  </p:childTnLst>
                                </p:cTn>
                              </p:par>
                              <p:par>
                                <p:cTn id="395" nodeType="withEffect" fill="hold" presetClass="entr" presetID="1">
                                  <p:stCondLst>
                                    <p:cond delay="0"/>
                                  </p:stCondLst>
                                  <p:childTnLst>
                                    <p:set>
                                      <p:cBhvr>
                                        <p:cTn id="396" dur="1" fill="hold">
                                          <p:stCondLst>
                                            <p:cond delay="0"/>
                                          </p:stCondLst>
                                        </p:cTn>
                                        <p:tgtEl>
                                          <p:spTgt spid="324"/>
                                        </p:tgtEl>
                                        <p:attrNameLst>
                                          <p:attrName>style.visibility</p:attrName>
                                        </p:attrNameLst>
                                      </p:cBhvr>
                                      <p:to>
                                        <p:strVal val="visible"/>
                                      </p:to>
                                    </p:set>
                                  </p:childTnLst>
                                </p:cTn>
                              </p:par>
                              <p:par>
                                <p:cTn id="397" nodeType="withEffect" fill="hold" presetClass="entr" presetID="1">
                                  <p:stCondLst>
                                    <p:cond delay="0"/>
                                  </p:stCondLst>
                                  <p:childTnLst>
                                    <p:set>
                                      <p:cBhvr>
                                        <p:cTn id="398" dur="1" fill="hold">
                                          <p:stCondLst>
                                            <p:cond delay="0"/>
                                          </p:stCondLst>
                                        </p:cTn>
                                        <p:tgtEl>
                                          <p:spTgt spid="325"/>
                                        </p:tgtEl>
                                        <p:attrNameLst>
                                          <p:attrName>style.visibility</p:attrName>
                                        </p:attrNameLst>
                                      </p:cBhvr>
                                      <p:to>
                                        <p:strVal val="visible"/>
                                      </p:to>
                                    </p:set>
                                  </p:childTnLst>
                                </p:cTn>
                              </p:par>
                              <p:par>
                                <p:cTn id="399" nodeType="withEffect" fill="hold" presetClass="entr" presetID="1">
                                  <p:stCondLst>
                                    <p:cond delay="0"/>
                                  </p:stCondLst>
                                  <p:childTnLst>
                                    <p:set>
                                      <p:cBhvr>
                                        <p:cTn id="400" dur="1" fill="hold">
                                          <p:stCondLst>
                                            <p:cond delay="0"/>
                                          </p:stCondLst>
                                        </p:cTn>
                                        <p:tgtEl>
                                          <p:spTgt spid="326"/>
                                        </p:tgtEl>
                                        <p:attrNameLst>
                                          <p:attrName>style.visibility</p:attrName>
                                        </p:attrNameLst>
                                      </p:cBhvr>
                                      <p:to>
                                        <p:strVal val="visible"/>
                                      </p:to>
                                    </p:set>
                                  </p:childTnLst>
                                </p:cTn>
                              </p:par>
                              <p:par>
                                <p:cTn id="401" nodeType="withEffect" fill="hold" presetClass="entr" presetID="1">
                                  <p:stCondLst>
                                    <p:cond delay="0"/>
                                  </p:stCondLst>
                                  <p:childTnLst>
                                    <p:set>
                                      <p:cBhvr>
                                        <p:cTn id="402" dur="1" fill="hold">
                                          <p:stCondLst>
                                            <p:cond delay="0"/>
                                          </p:stCondLst>
                                        </p:cTn>
                                        <p:tgtEl>
                                          <p:spTgt spid="327"/>
                                        </p:tgtEl>
                                        <p:attrNameLst>
                                          <p:attrName>style.visibility</p:attrName>
                                        </p:attrNameLst>
                                      </p:cBhvr>
                                      <p:to>
                                        <p:strVal val="visible"/>
                                      </p:to>
                                    </p:set>
                                  </p:childTnLst>
                                </p:cTn>
                              </p:par>
                              <p:par>
                                <p:cTn id="403" nodeType="withEffect" fill="hold" presetClass="entr" presetID="1">
                                  <p:stCondLst>
                                    <p:cond delay="0"/>
                                  </p:stCondLst>
                                  <p:childTnLst>
                                    <p:set>
                                      <p:cBhvr>
                                        <p:cTn id="404" dur="1" fill="hold">
                                          <p:stCondLst>
                                            <p:cond delay="0"/>
                                          </p:stCondLst>
                                        </p:cTn>
                                        <p:tgtEl>
                                          <p:spTgt spid="328"/>
                                        </p:tgtEl>
                                        <p:attrNameLst>
                                          <p:attrName>style.visibility</p:attrName>
                                        </p:attrNameLst>
                                      </p:cBhvr>
                                      <p:to>
                                        <p:strVal val="visible"/>
                                      </p:to>
                                    </p:set>
                                  </p:childTnLst>
                                </p:cTn>
                              </p:par>
                              <p:par>
                                <p:cTn id="405" nodeType="withEffect" fill="hold" presetClass="entr" presetID="1">
                                  <p:stCondLst>
                                    <p:cond delay="0"/>
                                  </p:stCondLst>
                                  <p:childTnLst>
                                    <p:set>
                                      <p:cBhvr>
                                        <p:cTn id="406" dur="1" fill="hold">
                                          <p:stCondLst>
                                            <p:cond delay="0"/>
                                          </p:stCondLst>
                                        </p:cTn>
                                        <p:tgtEl>
                                          <p:spTgt spid="329"/>
                                        </p:tgtEl>
                                        <p:attrNameLst>
                                          <p:attrName>style.visibility</p:attrName>
                                        </p:attrNameLst>
                                      </p:cBhvr>
                                      <p:to>
                                        <p:strVal val="visible"/>
                                      </p:to>
                                    </p:set>
                                  </p:childTnLst>
                                </p:cTn>
                              </p:par>
                              <p:par>
                                <p:cTn id="407" nodeType="withEffect" fill="hold" presetClass="entr" presetID="1">
                                  <p:stCondLst>
                                    <p:cond delay="0"/>
                                  </p:stCondLst>
                                  <p:childTnLst>
                                    <p:set>
                                      <p:cBhvr>
                                        <p:cTn id="408" dur="1" fill="hold">
                                          <p:stCondLst>
                                            <p:cond delay="0"/>
                                          </p:stCondLst>
                                        </p:cTn>
                                        <p:tgtEl>
                                          <p:spTgt spid="330"/>
                                        </p:tgtEl>
                                        <p:attrNameLst>
                                          <p:attrName>style.visibility</p:attrName>
                                        </p:attrNameLst>
                                      </p:cBhvr>
                                      <p:to>
                                        <p:strVal val="visible"/>
                                      </p:to>
                                    </p:set>
                                  </p:childTnLst>
                                </p:cTn>
                              </p:par>
                              <p:par>
                                <p:cTn id="409" nodeType="withEffect" fill="hold" presetClass="entr" presetID="1">
                                  <p:stCondLst>
                                    <p:cond delay="0"/>
                                  </p:stCondLst>
                                  <p:childTnLst>
                                    <p:set>
                                      <p:cBhvr>
                                        <p:cTn id="410" dur="1" fill="hold">
                                          <p:stCondLst>
                                            <p:cond delay="0"/>
                                          </p:stCondLst>
                                        </p:cTn>
                                        <p:tgtEl>
                                          <p:spTgt spid="331"/>
                                        </p:tgtEl>
                                        <p:attrNameLst>
                                          <p:attrName>style.visibility</p:attrName>
                                        </p:attrNameLst>
                                      </p:cBhvr>
                                      <p:to>
                                        <p:strVal val="visible"/>
                                      </p:to>
                                    </p:set>
                                  </p:childTnLst>
                                </p:cTn>
                              </p:par>
                              <p:par>
                                <p:cTn id="411" nodeType="withEffect" fill="hold" presetClass="entr" presetID="1">
                                  <p:stCondLst>
                                    <p:cond delay="0"/>
                                  </p:stCondLst>
                                  <p:childTnLst>
                                    <p:set>
                                      <p:cBhvr>
                                        <p:cTn id="412" dur="1" fill="hold">
                                          <p:stCondLst>
                                            <p:cond delay="0"/>
                                          </p:stCondLst>
                                        </p:cTn>
                                        <p:tgtEl>
                                          <p:spTgt spid="332"/>
                                        </p:tgtEl>
                                        <p:attrNameLst>
                                          <p:attrName>style.visibility</p:attrName>
                                        </p:attrNameLst>
                                      </p:cBhvr>
                                      <p:to>
                                        <p:strVal val="visible"/>
                                      </p:to>
                                    </p:set>
                                  </p:childTnLst>
                                </p:cTn>
                              </p:par>
                              <p:par>
                                <p:cTn id="413" nodeType="withEffect" fill="hold" presetClass="entr" presetID="1">
                                  <p:stCondLst>
                                    <p:cond delay="0"/>
                                  </p:stCondLst>
                                  <p:childTnLst>
                                    <p:set>
                                      <p:cBhvr>
                                        <p:cTn id="414" dur="1" fill="hold">
                                          <p:stCondLst>
                                            <p:cond delay="0"/>
                                          </p:stCondLst>
                                        </p:cTn>
                                        <p:tgtEl>
                                          <p:spTgt spid="333"/>
                                        </p:tgtEl>
                                        <p:attrNameLst>
                                          <p:attrName>style.visibility</p:attrName>
                                        </p:attrNameLst>
                                      </p:cBhvr>
                                      <p:to>
                                        <p:strVal val="visible"/>
                                      </p:to>
                                    </p:set>
                                  </p:childTnLst>
                                </p:cTn>
                              </p:par>
                              <p:par>
                                <p:cTn id="415" nodeType="withEffect" fill="hold" presetClass="entr" presetID="1">
                                  <p:stCondLst>
                                    <p:cond delay="0"/>
                                  </p:stCondLst>
                                  <p:childTnLst>
                                    <p:set>
                                      <p:cBhvr>
                                        <p:cTn id="416" dur="1" fill="hold">
                                          <p:stCondLst>
                                            <p:cond delay="0"/>
                                          </p:stCondLst>
                                        </p:cTn>
                                        <p:tgtEl>
                                          <p:spTgt spid="334"/>
                                        </p:tgtEl>
                                        <p:attrNameLst>
                                          <p:attrName>style.visibility</p:attrName>
                                        </p:attrNameLst>
                                      </p:cBhvr>
                                      <p:to>
                                        <p:strVal val="visible"/>
                                      </p:to>
                                    </p:set>
                                  </p:childTnLst>
                                </p:cTn>
                              </p:par>
                              <p:par>
                                <p:cTn id="417" nodeType="withEffect" fill="hold" presetClass="entr" presetID="1">
                                  <p:stCondLst>
                                    <p:cond delay="0"/>
                                  </p:stCondLst>
                                  <p:childTnLst>
                                    <p:set>
                                      <p:cBhvr>
                                        <p:cTn id="418" dur="1" fill="hold">
                                          <p:stCondLst>
                                            <p:cond delay="0"/>
                                          </p:stCondLst>
                                        </p:cTn>
                                        <p:tgtEl>
                                          <p:spTgt spid="335"/>
                                        </p:tgtEl>
                                        <p:attrNameLst>
                                          <p:attrName>style.visibility</p:attrName>
                                        </p:attrNameLst>
                                      </p:cBhvr>
                                      <p:to>
                                        <p:strVal val="visible"/>
                                      </p:to>
                                    </p:set>
                                  </p:childTnLst>
                                </p:cTn>
                              </p:par>
                              <p:par>
                                <p:cTn id="419" nodeType="withEffect" fill="hold" presetClass="entr" presetID="1">
                                  <p:stCondLst>
                                    <p:cond delay="0"/>
                                  </p:stCondLst>
                                  <p:childTnLst>
                                    <p:set>
                                      <p:cBhvr>
                                        <p:cTn id="420" dur="1" fill="hold">
                                          <p:stCondLst>
                                            <p:cond delay="0"/>
                                          </p:stCondLst>
                                        </p:cTn>
                                        <p:tgtEl>
                                          <p:spTgt spid="336"/>
                                        </p:tgtEl>
                                        <p:attrNameLst>
                                          <p:attrName>style.visibility</p:attrName>
                                        </p:attrNameLst>
                                      </p:cBhvr>
                                      <p:to>
                                        <p:strVal val="visible"/>
                                      </p:to>
                                    </p:set>
                                  </p:childTnLst>
                                </p:cTn>
                              </p:par>
                              <p:par>
                                <p:cTn id="421" nodeType="withEffect" fill="hold" presetClass="entr" presetID="1">
                                  <p:stCondLst>
                                    <p:cond delay="0"/>
                                  </p:stCondLst>
                                  <p:childTnLst>
                                    <p:set>
                                      <p:cBhvr>
                                        <p:cTn id="422" dur="1" fill="hold">
                                          <p:stCondLst>
                                            <p:cond delay="0"/>
                                          </p:stCondLst>
                                        </p:cTn>
                                        <p:tgtEl>
                                          <p:spTgt spid="337"/>
                                        </p:tgtEl>
                                        <p:attrNameLst>
                                          <p:attrName>style.visibility</p:attrName>
                                        </p:attrNameLst>
                                      </p:cBhvr>
                                      <p:to>
                                        <p:strVal val="visible"/>
                                      </p:to>
                                    </p:set>
                                  </p:childTnLst>
                                </p:cTn>
                              </p:par>
                              <p:par>
                                <p:cTn id="423" nodeType="withEffect" fill="hold" presetClass="entr" presetID="1">
                                  <p:stCondLst>
                                    <p:cond delay="0"/>
                                  </p:stCondLst>
                                  <p:childTnLst>
                                    <p:set>
                                      <p:cBhvr>
                                        <p:cTn id="424" dur="1" fill="hold">
                                          <p:stCondLst>
                                            <p:cond delay="0"/>
                                          </p:stCondLst>
                                        </p:cTn>
                                        <p:tgtEl>
                                          <p:spTgt spid="338"/>
                                        </p:tgtEl>
                                        <p:attrNameLst>
                                          <p:attrName>style.visibility</p:attrName>
                                        </p:attrNameLst>
                                      </p:cBhvr>
                                      <p:to>
                                        <p:strVal val="visible"/>
                                      </p:to>
                                    </p:set>
                                  </p:childTnLst>
                                </p:cTn>
                              </p:par>
                              <p:par>
                                <p:cTn id="425" nodeType="withEffect" fill="hold" presetClass="entr" presetID="1">
                                  <p:stCondLst>
                                    <p:cond delay="0"/>
                                  </p:stCondLst>
                                  <p:childTnLst>
                                    <p:set>
                                      <p:cBhvr>
                                        <p:cTn id="426" dur="1" fill="hold">
                                          <p:stCondLst>
                                            <p:cond delay="0"/>
                                          </p:stCondLst>
                                        </p:cTn>
                                        <p:tgtEl>
                                          <p:spTgt spid="339"/>
                                        </p:tgtEl>
                                        <p:attrNameLst>
                                          <p:attrName>style.visibility</p:attrName>
                                        </p:attrNameLst>
                                      </p:cBhvr>
                                      <p:to>
                                        <p:strVal val="visible"/>
                                      </p:to>
                                    </p:set>
                                  </p:childTnLst>
                                </p:cTn>
                              </p:par>
                              <p:par>
                                <p:cTn id="427" nodeType="withEffect" fill="hold" presetClass="entr" presetID="1">
                                  <p:stCondLst>
                                    <p:cond delay="0"/>
                                  </p:stCondLst>
                                  <p:childTnLst>
                                    <p:set>
                                      <p:cBhvr>
                                        <p:cTn id="428" dur="1" fill="hold">
                                          <p:stCondLst>
                                            <p:cond delay="0"/>
                                          </p:stCondLst>
                                        </p:cTn>
                                        <p:tgtEl>
                                          <p:spTgt spid="340"/>
                                        </p:tgtEl>
                                        <p:attrNameLst>
                                          <p:attrName>style.visibility</p:attrName>
                                        </p:attrNameLst>
                                      </p:cBhvr>
                                      <p:to>
                                        <p:strVal val="visible"/>
                                      </p:to>
                                    </p:set>
                                  </p:childTnLst>
                                </p:cTn>
                              </p:par>
                              <p:par>
                                <p:cTn id="429" nodeType="withEffect" fill="hold" presetClass="entr" presetID="1">
                                  <p:stCondLst>
                                    <p:cond delay="0"/>
                                  </p:stCondLst>
                                  <p:childTnLst>
                                    <p:set>
                                      <p:cBhvr>
                                        <p:cTn id="430" dur="1" fill="hold">
                                          <p:stCondLst>
                                            <p:cond delay="0"/>
                                          </p:stCondLst>
                                        </p:cTn>
                                        <p:tgtEl>
                                          <p:spTgt spid="341"/>
                                        </p:tgtEl>
                                        <p:attrNameLst>
                                          <p:attrName>style.visibility</p:attrName>
                                        </p:attrNameLst>
                                      </p:cBhvr>
                                      <p:to>
                                        <p:strVal val="visible"/>
                                      </p:to>
                                    </p:set>
                                  </p:childTnLst>
                                </p:cTn>
                              </p:par>
                              <p:par>
                                <p:cTn id="431" nodeType="withEffect" fill="hold" presetClass="entr" presetID="1">
                                  <p:stCondLst>
                                    <p:cond delay="0"/>
                                  </p:stCondLst>
                                  <p:childTnLst>
                                    <p:set>
                                      <p:cBhvr>
                                        <p:cTn id="432" dur="1" fill="hold">
                                          <p:stCondLst>
                                            <p:cond delay="0"/>
                                          </p:stCondLst>
                                        </p:cTn>
                                        <p:tgtEl>
                                          <p:spTgt spid="342"/>
                                        </p:tgtEl>
                                        <p:attrNameLst>
                                          <p:attrName>style.visibility</p:attrName>
                                        </p:attrNameLst>
                                      </p:cBhvr>
                                      <p:to>
                                        <p:strVal val="visible"/>
                                      </p:to>
                                    </p:set>
                                  </p:childTnLst>
                                </p:cTn>
                              </p:par>
                              <p:par>
                                <p:cTn id="433" nodeType="withEffect" fill="hold" presetClass="entr" presetID="1">
                                  <p:stCondLst>
                                    <p:cond delay="0"/>
                                  </p:stCondLst>
                                  <p:childTnLst>
                                    <p:set>
                                      <p:cBhvr>
                                        <p:cTn id="434" dur="1" fill="hold">
                                          <p:stCondLst>
                                            <p:cond delay="0"/>
                                          </p:stCondLst>
                                        </p:cTn>
                                        <p:tgtEl>
                                          <p:spTgt spid="344"/>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nodeType="clickEffect" fill="hold" presetClass="entr" presetID="1">
                                  <p:stCondLst>
                                    <p:cond delay="0"/>
                                  </p:stCondLst>
                                  <p:childTnLst>
                                    <p:set>
                                      <p:cBhvr>
                                        <p:cTn id="438"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3200" spc="-1" strike="noStrike">
                <a:solidFill>
                  <a:srgbClr val="3366cc"/>
                </a:solidFill>
                <a:latin typeface="Calibri"/>
                <a:ea typeface="Calibri"/>
              </a:rPr>
              <a:t>Consistent Gains Across Diverse NL2SQL Benchmarks</a:t>
            </a:r>
            <a:endParaRPr b="0" lang="en-US" sz="3200" spc="-1" strike="noStrike">
              <a:solidFill>
                <a:srgbClr val="000000"/>
              </a:solidFill>
              <a:latin typeface="Calibri"/>
            </a:endParaRPr>
          </a:p>
        </p:txBody>
      </p:sp>
      <p:sp>
        <p:nvSpPr>
          <p:cNvPr id="347" name="TextBox 7"/>
          <p:cNvSpPr/>
          <p:nvPr/>
        </p:nvSpPr>
        <p:spPr>
          <a:xfrm>
            <a:off x="769680" y="1332000"/>
            <a:ext cx="8916480" cy="369000"/>
          </a:xfrm>
          <a:prstGeom prst="rect">
            <a:avLst/>
          </a:prstGeom>
          <a:noFill/>
          <a:ln w="0">
            <a:noFill/>
          </a:ln>
        </p:spPr>
        <p:style>
          <a:lnRef idx="0"/>
          <a:fillRef idx="0"/>
          <a:effectRef idx="0"/>
          <a:fontRef idx="minor"/>
        </p:style>
      </p:sp>
      <p:sp>
        <p:nvSpPr>
          <p:cNvPr id="348" name="TextBox 6"/>
          <p:cNvSpPr/>
          <p:nvPr/>
        </p:nvSpPr>
        <p:spPr>
          <a:xfrm>
            <a:off x="1048680" y="921960"/>
            <a:ext cx="9470880" cy="700920"/>
          </a:xfrm>
          <a:prstGeom prst="rect">
            <a:avLst/>
          </a:prstGeom>
          <a:solidFill>
            <a:schemeClr val="bg1">
              <a:lumMod val="95000"/>
            </a:schemeClr>
          </a:solidFill>
          <a:ln w="28575">
            <a:solidFill>
              <a:srgbClr val="478fe1"/>
            </a:solidFill>
            <a:round/>
          </a:ln>
        </p:spPr>
        <p:style>
          <a:lnRef idx="0"/>
          <a:fillRef idx="0"/>
          <a:effectRef idx="0"/>
          <a:fontRef idx="minor"/>
        </p:style>
        <p:txBody>
          <a:bodyPr numCol="1" spcCol="0" horzOverflow="overflow" vertOverflow="overflow" anchor="t">
            <a:spAutoFit/>
          </a:bodyPr>
          <a:p>
            <a:pPr>
              <a:lnSpc>
                <a:spcPct val="100000"/>
              </a:lnSpc>
              <a:buNone/>
            </a:pPr>
            <a:r>
              <a:rPr b="1" lang="en-US" sz="2000" spc="-1" strike="noStrike">
                <a:solidFill>
                  <a:srgbClr val="000000"/>
                </a:solidFill>
                <a:latin typeface="Calibri"/>
              </a:rPr>
              <a:t>Average EX across 5 benchmarks, 4 SQL dialects, 2 languages, and 3 backbone models.</a:t>
            </a:r>
            <a:endParaRPr b="0" lang="en-US" sz="2000" spc="-1" strike="noStrike">
              <a:latin typeface="Arial"/>
            </a:endParaRPr>
          </a:p>
        </p:txBody>
      </p:sp>
      <p:sp>
        <p:nvSpPr>
          <p:cNvPr id="349" name="Rounded Rectangle 9"/>
          <p:cNvSpPr/>
          <p:nvPr/>
        </p:nvSpPr>
        <p:spPr>
          <a:xfrm>
            <a:off x="502920" y="1600200"/>
            <a:ext cx="9326520" cy="4708800"/>
          </a:xfrm>
          <a:prstGeom prst="roundRect">
            <a:avLst>
              <a:gd name="adj" fmla="val 16667"/>
            </a:avLst>
          </a:prstGeom>
          <a:noFill/>
          <a:ln w="12700">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graphicFrame>
        <p:nvGraphicFramePr>
          <p:cNvPr id="350" name="Chart 10"/>
          <p:cNvGraphicFramePr/>
          <p:nvPr/>
        </p:nvGraphicFramePr>
        <p:xfrm>
          <a:off x="749880" y="1901880"/>
          <a:ext cx="8947440" cy="4150080"/>
        </p:xfrm>
        <a:graphic>
          <a:graphicData uri="http://schemas.openxmlformats.org/drawingml/2006/chart">
            <c:chart xmlns:c="http://schemas.openxmlformats.org/drawingml/2006/chart" xmlns:r="http://schemas.openxmlformats.org/officeDocument/2006/relationships" r:id="rId1"/>
          </a:graphicData>
        </a:graphic>
      </p:graphicFrame>
      <p:sp>
        <p:nvSpPr>
          <p:cNvPr id="351" name="TextBox 14"/>
          <p:cNvSpPr/>
          <p:nvPr/>
        </p:nvSpPr>
        <p:spPr>
          <a:xfrm>
            <a:off x="-105840" y="6083640"/>
            <a:ext cx="11780280" cy="333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600" spc="-1" strike="noStrike">
                <a:solidFill>
                  <a:srgbClr val="787c82"/>
                </a:solidFill>
                <a:latin typeface="Calibri"/>
              </a:rPr>
              <a:t>Values are execution accuracy (EX%). Gains shown above SOMA-SQL bars are relative to the second-best method.</a:t>
            </a:r>
            <a:endParaRPr b="0" lang="en-US" sz="1600" spc="-1" strike="noStrike">
              <a:latin typeface="Arial"/>
            </a:endParaRPr>
          </a:p>
        </p:txBody>
      </p:sp>
      <p:sp>
        <p:nvSpPr>
          <p:cNvPr id="352" name="Text 53"/>
          <p:cNvSpPr/>
          <p:nvPr/>
        </p:nvSpPr>
        <p:spPr>
          <a:xfrm>
            <a:off x="9686520" y="3288600"/>
            <a:ext cx="2294280" cy="1081800"/>
          </a:xfrm>
          <a:prstGeom prst="rect">
            <a:avLst/>
          </a:prstGeom>
          <a:solidFill>
            <a:schemeClr val="bg1">
              <a:lumMod val="95000"/>
            </a:schemeClr>
          </a:solidFill>
          <a:ln w="0">
            <a:solidFill>
              <a:srgbClr val="478fe1"/>
            </a:solidFill>
          </a:ln>
        </p:spPr>
        <p:style>
          <a:lnRef idx="0"/>
          <a:fillRef idx="0"/>
          <a:effectRef idx="0"/>
          <a:fontRef idx="minor"/>
        </p:style>
        <p:txBody>
          <a:bodyPr lIns="360" rIns="360" tIns="360" bIns="360" anchor="ctr">
            <a:noAutofit/>
          </a:bodyPr>
          <a:p>
            <a:pPr algn="ctr">
              <a:lnSpc>
                <a:spcPct val="100000"/>
              </a:lnSpc>
              <a:buNone/>
            </a:pPr>
            <a:r>
              <a:rPr b="1" lang="en-US" sz="1800" spc="-1" strike="noStrike">
                <a:solidFill>
                  <a:srgbClr val="c74634"/>
                </a:solidFill>
                <a:latin typeface="Calibri"/>
              </a:rPr>
              <a:t>+9.3 to +16.7 </a:t>
            </a:r>
            <a:r>
              <a:rPr b="1" lang="en-US" sz="1800" spc="-1" strike="noStrike">
                <a:solidFill>
                  <a:srgbClr val="000000"/>
                </a:solidFill>
                <a:latin typeface="Calibri"/>
              </a:rPr>
              <a:t>Execution Accuracy gain over strongest baseline</a:t>
            </a:r>
            <a:endParaRPr b="0" lang="en-US" sz="1800" spc="-1" strike="noStrike">
              <a:latin typeface="Arial"/>
            </a:endParaRPr>
          </a:p>
        </p:txBody>
      </p:sp>
      <p:sp>
        <p:nvSpPr>
          <p:cNvPr id="353" name="TextBox 26"/>
          <p:cNvSpPr/>
          <p:nvPr/>
        </p:nvSpPr>
        <p:spPr>
          <a:xfrm>
            <a:off x="2734920" y="2493360"/>
            <a:ext cx="935640" cy="333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2f6b3a"/>
                </a:solidFill>
                <a:latin typeface="Calibri"/>
              </a:rPr>
              <a:t>▲ </a:t>
            </a:r>
            <a:r>
              <a:rPr b="1" lang="en-US" sz="1600" spc="-1" strike="noStrike">
                <a:solidFill>
                  <a:srgbClr val="2f6b3a"/>
                </a:solidFill>
                <a:latin typeface="Calibri"/>
              </a:rPr>
              <a:t>+9.3</a:t>
            </a:r>
            <a:endParaRPr b="0" lang="en-US" sz="1600" spc="-1" strike="noStrike">
              <a:latin typeface="Arial"/>
            </a:endParaRPr>
          </a:p>
        </p:txBody>
      </p:sp>
      <p:sp>
        <p:nvSpPr>
          <p:cNvPr id="354" name="TextBox 27"/>
          <p:cNvSpPr/>
          <p:nvPr/>
        </p:nvSpPr>
        <p:spPr>
          <a:xfrm>
            <a:off x="5464440" y="2493360"/>
            <a:ext cx="1077480" cy="333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2f6b3a"/>
                </a:solidFill>
                <a:latin typeface="Calibri"/>
              </a:rPr>
              <a:t>▲ </a:t>
            </a:r>
            <a:r>
              <a:rPr b="1" lang="en-US" sz="1600" spc="-1" strike="noStrike">
                <a:solidFill>
                  <a:srgbClr val="2f6b3a"/>
                </a:solidFill>
                <a:latin typeface="Calibri"/>
              </a:rPr>
              <a:t>+12.8</a:t>
            </a:r>
            <a:endParaRPr b="0" lang="en-US" sz="1600" spc="-1" strike="noStrike">
              <a:latin typeface="Arial"/>
            </a:endParaRPr>
          </a:p>
        </p:txBody>
      </p:sp>
      <p:sp>
        <p:nvSpPr>
          <p:cNvPr id="355" name="TextBox 28"/>
          <p:cNvSpPr/>
          <p:nvPr/>
        </p:nvSpPr>
        <p:spPr>
          <a:xfrm>
            <a:off x="8431200" y="2508480"/>
            <a:ext cx="10105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2f6b3a"/>
                </a:solidFill>
                <a:latin typeface="Calibri"/>
              </a:rPr>
              <a:t>▲ </a:t>
            </a:r>
            <a:r>
              <a:rPr b="1" lang="en-US" sz="1400" spc="-1" strike="noStrike">
                <a:solidFill>
                  <a:srgbClr val="2f6b3a"/>
                </a:solidFill>
                <a:latin typeface="Calibri"/>
              </a:rPr>
              <a:t>+16.7</a:t>
            </a:r>
            <a:endParaRPr b="0" lang="en-US" sz="1400" spc="-1" strike="noStrike">
              <a:latin typeface="Arial"/>
            </a:endParaRPr>
          </a:p>
        </p:txBody>
      </p:sp>
      <p:sp>
        <p:nvSpPr>
          <p:cNvPr id="356" name="TextBox 32"/>
          <p:cNvSpPr/>
          <p:nvPr/>
        </p:nvSpPr>
        <p:spPr>
          <a:xfrm>
            <a:off x="2357280" y="6426360"/>
            <a:ext cx="6853320" cy="638280"/>
          </a:xfrm>
          <a:prstGeom prst="rect">
            <a:avLst/>
          </a:prstGeom>
          <a:solidFill>
            <a:schemeClr val="bg1">
              <a:lumMod val="95000"/>
            </a:schemeClr>
          </a:solidFill>
          <a:ln w="0">
            <a:solidFill>
              <a:srgbClr val="478fe1"/>
            </a:solidFill>
          </a:ln>
        </p:spPr>
        <p:style>
          <a:lnRef idx="0"/>
          <a:fillRef idx="0"/>
          <a:effectRef idx="0"/>
          <a:fontRef idx="minor"/>
        </p:style>
        <p:txBody>
          <a:bodyPr lIns="90000" rIns="90000" tIns="45000" bIns="45000" anchor="t">
            <a:spAutoFit/>
          </a:bodyPr>
          <a:p>
            <a:pPr algn="ctr">
              <a:lnSpc>
                <a:spcPct val="100000"/>
              </a:lnSpc>
              <a:buNone/>
            </a:pPr>
            <a:r>
              <a:rPr b="1" lang="en-US" sz="1800" spc="-1" strike="noStrike">
                <a:solidFill>
                  <a:srgbClr val="000000"/>
                </a:solidFill>
                <a:latin typeface="Calibri"/>
              </a:rPr>
              <a:t>Benchmarks: Spider 2.0 Lite, BIRD, Archer-en, Archer-zh, BEAVER.</a:t>
            </a:r>
            <a:endParaRPr b="0" lang="en-US" sz="1800" spc="-1" strike="noStrike">
              <a:latin typeface="Arial"/>
            </a:endParaRPr>
          </a:p>
        </p:txBody>
      </p:sp>
      <p:pic>
        <p:nvPicPr>
          <p:cNvPr id="357" name="Picture 8" descr=""/>
          <p:cNvPicPr/>
          <p:nvPr/>
        </p:nvPicPr>
        <p:blipFill>
          <a:blip r:embed="rId2"/>
          <a:stretch/>
        </p:blipFill>
        <p:spPr>
          <a:xfrm>
            <a:off x="2542320" y="1438200"/>
            <a:ext cx="6483240" cy="478440"/>
          </a:xfrm>
          <a:prstGeom prst="rect">
            <a:avLst/>
          </a:prstGeom>
          <a:ln w="0">
            <a:noFill/>
          </a:ln>
        </p:spPr>
      </p:pic>
      <p:sp>
        <p:nvSpPr>
          <p:cNvPr id="3" name="PlaceHolder 2"/>
          <p:cNvSpPr>
            <a:spLocks noGrp="1"/>
          </p:cNvSpPr>
          <p:nvPr>
            <p:ph type="sldNum" idx="2"/>
          </p:nvPr>
        </p:nvSpPr>
        <p:spPr/>
        <p:txBody>
          <a:bodyPr/>
          <a:p>
            <a:fld id="{0AB030DC-7D23-4CAD-AB1B-25C53761A417}"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Why is it Hard?</a:t>
            </a:r>
            <a:endParaRPr b="0" lang="en-US" sz="4000" spc="-1" strike="noStrike">
              <a:solidFill>
                <a:srgbClr val="000000"/>
              </a:solidFill>
              <a:latin typeface="Calibri"/>
            </a:endParaRPr>
          </a:p>
        </p:txBody>
      </p:sp>
      <p:sp>
        <p:nvSpPr>
          <p:cNvPr id="359" name="Content Placeholder 2"/>
          <p:cNvSpPr/>
          <p:nvPr/>
        </p:nvSpPr>
        <p:spPr>
          <a:xfrm>
            <a:off x="6460920" y="1283400"/>
            <a:ext cx="5333760" cy="251748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Agentic Use</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Multiple Knowledge Sources</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Rich Documents</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How to Present the Output?</a:t>
            </a:r>
            <a:endParaRPr b="0" lang="en-US" sz="18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Planning</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Conflicting Information</a:t>
            </a:r>
            <a:endParaRPr b="0" lang="en-US" sz="2000" spc="-1" strike="noStrike">
              <a:latin typeface="Arial"/>
            </a:endParaRPr>
          </a:p>
        </p:txBody>
      </p:sp>
      <p:sp>
        <p:nvSpPr>
          <p:cNvPr id="360" name="Content Placeholder 2"/>
          <p:cNvSpPr/>
          <p:nvPr/>
        </p:nvSpPr>
        <p:spPr>
          <a:xfrm>
            <a:off x="313920" y="1283400"/>
            <a:ext cx="5333760" cy="251748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Core Difficulties: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Retrieval </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The importance of a Semantic Layer</a:t>
            </a:r>
            <a:endParaRPr b="0" lang="en-US" sz="18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Dealing with Structure</a:t>
            </a:r>
            <a:endParaRPr b="0" lang="en-US" sz="2000" spc="-1" strike="noStrike">
              <a:latin typeface="Arial"/>
            </a:endParaRPr>
          </a:p>
          <a:p>
            <a:pPr lvl="2" marL="1143000" indent="-228600">
              <a:lnSpc>
                <a:spcPct val="100000"/>
              </a:lnSpc>
              <a:spcBef>
                <a:spcPts val="360"/>
              </a:spcBef>
              <a:buClr>
                <a:srgbClr val="3b3838"/>
              </a:buClr>
              <a:buSzPct val="65000"/>
              <a:buFont typeface="Wingdings" charset="2"/>
              <a:buChar char=""/>
            </a:pPr>
            <a:r>
              <a:rPr b="0" lang="en-US" sz="1800" spc="-1" strike="noStrike">
                <a:solidFill>
                  <a:srgbClr val="000000"/>
                </a:solidFill>
                <a:latin typeface="Calibri"/>
                <a:ea typeface="Calibri"/>
              </a:rPr>
              <a:t>NL-2-[SQL,…]</a:t>
            </a:r>
            <a:endParaRPr b="0" lang="en-US" sz="1800" spc="-1" strike="noStrike">
              <a:latin typeface="Arial"/>
            </a:endParaRPr>
          </a:p>
        </p:txBody>
      </p:sp>
      <p:sp>
        <p:nvSpPr>
          <p:cNvPr id="361" name="Content Placeholder 2"/>
          <p:cNvSpPr/>
          <p:nvPr/>
        </p:nvSpPr>
        <p:spPr>
          <a:xfrm>
            <a:off x="2776320" y="4474800"/>
            <a:ext cx="6638760" cy="1099440"/>
          </a:xfrm>
          <a:prstGeom prst="rect">
            <a:avLst/>
          </a:prstGeom>
          <a:solidFill>
            <a:schemeClr val="bg1">
              <a:lumMod val="95000"/>
            </a:schemeClr>
          </a:solidFill>
          <a:ln w="28575">
            <a:solidFill>
              <a:srgbClr val="00b0f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1" lang="en-US" sz="2000" spc="-1" strike="noStrike">
                <a:solidFill>
                  <a:srgbClr val="000000"/>
                </a:solidFill>
                <a:latin typeface="Calibri"/>
                <a:ea typeface="Calibri"/>
              </a:rPr>
              <a:t>Reasoning:</a:t>
            </a:r>
            <a:r>
              <a:rPr b="0" lang="en-US" sz="2000" spc="-1" strike="noStrike">
                <a:solidFill>
                  <a:srgbClr val="000000"/>
                </a:solidFill>
                <a:latin typeface="Calibri"/>
                <a:ea typeface="Calibri"/>
              </a:rPr>
              <a:t> Underlying some of the difficulties are the needs to support specific types of reasoning that evade general purpose models</a:t>
            </a:r>
            <a:endParaRPr b="0" lang="en-US" sz="2000" spc="-1" strike="noStrike">
              <a:latin typeface="Arial"/>
            </a:endParaRPr>
          </a:p>
        </p:txBody>
      </p:sp>
      <p:sp>
        <p:nvSpPr>
          <p:cNvPr id="362" name="Arrow: Right 2"/>
          <p:cNvSpPr/>
          <p:nvPr/>
        </p:nvSpPr>
        <p:spPr>
          <a:xfrm rot="1962600">
            <a:off x="5397480" y="1156320"/>
            <a:ext cx="875880" cy="290880"/>
          </a:xfrm>
          <a:prstGeom prst="rightArrow">
            <a:avLst>
              <a:gd name="adj1" fmla="val 50000"/>
              <a:gd name="adj2" fmla="val 50000"/>
            </a:avLst>
          </a:prstGeom>
          <a:solidFill>
            <a:srgbClr val="ff0000"/>
          </a:solidFill>
          <a:ln w="12700">
            <a:solidFill>
              <a:srgbClr val="00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3" name="PlaceHolder 2"/>
          <p:cNvSpPr>
            <a:spLocks noGrp="1"/>
          </p:cNvSpPr>
          <p:nvPr>
            <p:ph type="sldNum" idx="2"/>
          </p:nvPr>
        </p:nvSpPr>
        <p:spPr/>
        <p:txBody>
          <a:bodyPr/>
          <a:p>
            <a:fld id="{21F5E783-29E0-432E-A573-F55F818FCBB1}" type="slidenum">
              <a:t>21</a:t>
            </a:fld>
          </a:p>
        </p:txBody>
      </p:sp>
    </p:spTree>
  </p:cSld>
  <mc:AlternateContent>
    <mc:Choice Requires="p14">
      <p:transition spd="slow" p14:dur="2000"/>
    </mc:Choice>
    <mc:Fallback>
      <p:transition spd="slow"/>
    </mc:Fallback>
  </mc:AlternateContent>
  <p:timing>
    <p:tnLst>
      <p:par>
        <p:cTn id="439" dur="indefinite" restart="never" nodeType="tmRoot">
          <p:childTnLst>
            <p:seq>
              <p:cTn id="440" dur="indefinite" nodeType="mainSeq">
                <p:childTnLst>
                  <p:par>
                    <p:cTn id="441" fill="hold">
                      <p:stCondLst>
                        <p:cond delay="indefinite"/>
                      </p:stCondLst>
                      <p:childTnLst>
                        <p:par>
                          <p:cTn id="442" fill="hold">
                            <p:stCondLst>
                              <p:cond delay="0"/>
                            </p:stCondLst>
                            <p:childTnLst>
                              <p:par>
                                <p:cTn id="443" nodeType="clickEffect" fill="hold" presetClass="entr" presetID="2" presetSubtype="9">
                                  <p:stCondLst>
                                    <p:cond delay="0"/>
                                  </p:stCondLst>
                                  <p:childTnLst>
                                    <p:set>
                                      <p:cBhvr>
                                        <p:cTn id="444" dur="1" fill="hold">
                                          <p:stCondLst>
                                            <p:cond delay="0"/>
                                          </p:stCondLst>
                                        </p:cTn>
                                        <p:tgtEl>
                                          <p:spTgt spid="362"/>
                                        </p:tgtEl>
                                        <p:attrNameLst>
                                          <p:attrName>style.visibility</p:attrName>
                                        </p:attrNameLst>
                                      </p:cBhvr>
                                      <p:to>
                                        <p:strVal val="visible"/>
                                      </p:to>
                                    </p:set>
                                    <p:anim calcmode="lin" valueType="num">
                                      <p:cBhvr additive="repl">
                                        <p:cTn id="445" dur="500" fill="hold"/>
                                        <p:tgtEl>
                                          <p:spTgt spid="362"/>
                                        </p:tgtEl>
                                        <p:attrNameLst>
                                          <p:attrName>ppt_x</p:attrName>
                                        </p:attrNameLst>
                                      </p:cBhvr>
                                      <p:tavLst>
                                        <p:tav tm="0">
                                          <p:val>
                                            <p:strVal val="0-#ppt_w/2"/>
                                          </p:val>
                                        </p:tav>
                                        <p:tav tm="100000">
                                          <p:val>
                                            <p:strVal val="#ppt_x"/>
                                          </p:val>
                                        </p:tav>
                                      </p:tavLst>
                                    </p:anim>
                                    <p:anim calcmode="lin" valueType="num">
                                      <p:cBhvr additive="repl">
                                        <p:cTn id="446" dur="500" fill="hold"/>
                                        <p:tgtEl>
                                          <p:spTgt spid="36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Using Multiple Information Sources</a:t>
            </a:r>
            <a:endParaRPr b="0" lang="en-US" sz="4000" spc="-1" strike="noStrike">
              <a:solidFill>
                <a:srgbClr val="000000"/>
              </a:solidFill>
              <a:latin typeface="Calibri"/>
            </a:endParaRPr>
          </a:p>
        </p:txBody>
      </p:sp>
      <p:sp>
        <p:nvSpPr>
          <p:cNvPr id="364" name="PlaceHolder 2"/>
          <p:cNvSpPr>
            <a:spLocks noGrp="1"/>
          </p:cNvSpPr>
          <p:nvPr>
            <p:ph/>
          </p:nvPr>
        </p:nvSpPr>
        <p:spPr>
          <a:xfrm>
            <a:off x="609480" y="1114200"/>
            <a:ext cx="10972440" cy="448416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(More) Natural and Complex question answering</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Decomposition into intermediate questions &amp; Planning</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Retrieval from heterogeneous information sources: Text, Tables, Lists, Images</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Aggregation and Reasoning over intermediate answers. </a:t>
            </a:r>
            <a:endParaRPr b="0" lang="en-US" sz="2000" spc="-1" strike="noStrike">
              <a:solidFill>
                <a:srgbClr val="000000"/>
              </a:solidFill>
              <a:latin typeface="Calibri"/>
            </a:endParaRPr>
          </a:p>
        </p:txBody>
      </p:sp>
      <p:pic>
        <p:nvPicPr>
          <p:cNvPr id="365" name="Picture 7" descr=""/>
          <p:cNvPicPr/>
          <p:nvPr/>
        </p:nvPicPr>
        <p:blipFill>
          <a:blip r:embed="rId1"/>
          <a:stretch/>
        </p:blipFill>
        <p:spPr>
          <a:xfrm>
            <a:off x="3659040" y="2807640"/>
            <a:ext cx="6504840" cy="3742920"/>
          </a:xfrm>
          <a:prstGeom prst="rect">
            <a:avLst/>
          </a:prstGeom>
          <a:ln w="0">
            <a:noFill/>
          </a:ln>
        </p:spPr>
      </p:pic>
      <p:sp>
        <p:nvSpPr>
          <p:cNvPr id="366" name="TextBox 5"/>
          <p:cNvSpPr/>
          <p:nvPr/>
        </p:nvSpPr>
        <p:spPr>
          <a:xfrm>
            <a:off x="102960" y="6453720"/>
            <a:ext cx="6753960" cy="63828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3366cc"/>
                </a:solidFill>
                <a:latin typeface="Calibri"/>
              </a:rPr>
              <a:t>Tomer Wolfson et al.: The MoNaCo Benchmark (TACL, 2025)</a:t>
            </a:r>
            <a:endParaRPr b="0" lang="en-US" sz="1800" spc="-1" strike="noStrike">
              <a:latin typeface="Arial"/>
            </a:endParaRPr>
          </a:p>
        </p:txBody>
      </p:sp>
      <p:sp>
        <p:nvSpPr>
          <p:cNvPr id="367" name="Arrow: Right 6"/>
          <p:cNvSpPr/>
          <p:nvPr/>
        </p:nvSpPr>
        <p:spPr>
          <a:xfrm>
            <a:off x="287640" y="2869200"/>
            <a:ext cx="875880" cy="290880"/>
          </a:xfrm>
          <a:prstGeom prst="rightArrow">
            <a:avLst>
              <a:gd name="adj1" fmla="val 50000"/>
              <a:gd name="adj2" fmla="val 50000"/>
            </a:avLst>
          </a:prstGeom>
          <a:solidFill>
            <a:srgbClr val="ff0000"/>
          </a:solidFill>
          <a:ln w="12700">
            <a:solidFill>
              <a:srgbClr val="000000"/>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368" name="Straight Connector 9"/>
          <p:cNvSpPr/>
          <p:nvPr/>
        </p:nvSpPr>
        <p:spPr>
          <a:xfrm>
            <a:off x="838800" y="1645920"/>
            <a:ext cx="360" cy="1005840"/>
          </a:xfrm>
          <a:prstGeom prst="line">
            <a:avLst/>
          </a:prstGeom>
          <a:ln w="28575">
            <a:solidFill>
              <a:srgbClr val="ec792a"/>
            </a:solidFill>
            <a:round/>
          </a:ln>
        </p:spPr>
        <p:style>
          <a:lnRef idx="1">
            <a:schemeClr val="accent2"/>
          </a:lnRef>
          <a:fillRef idx="0">
            <a:schemeClr val="accent2"/>
          </a:fillRef>
          <a:effectRef idx="0">
            <a:schemeClr val="accent2"/>
          </a:effectRef>
          <a:fontRef idx="minor"/>
        </p:style>
      </p:sp>
      <p:sp>
        <p:nvSpPr>
          <p:cNvPr id="369" name="TextBox 8"/>
          <p:cNvSpPr/>
          <p:nvPr/>
        </p:nvSpPr>
        <p:spPr>
          <a:xfrm>
            <a:off x="1318320" y="2710080"/>
            <a:ext cx="5538600" cy="912600"/>
          </a:xfrm>
          <a:prstGeom prst="rect">
            <a:avLst/>
          </a:prstGeom>
          <a:solidFill>
            <a:schemeClr val="bg1">
              <a:lumMod val="95000"/>
            </a:schemeClr>
          </a:solidFill>
          <a:ln w="28575">
            <a:solidFill>
              <a:srgbClr val="3366cc"/>
            </a:solidFill>
            <a:round/>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libri"/>
              </a:rPr>
              <a:t>Q: </a:t>
            </a:r>
            <a:r>
              <a:rPr b="0" lang="en-US" sz="1800" spc="-1" strike="noStrike">
                <a:solidFill>
                  <a:srgbClr val="000000"/>
                </a:solidFill>
                <a:latin typeface="Calibri"/>
              </a:rPr>
              <a:t>In EU countries, do right-wing parties tend to favor women leaders more than left-wing parties? </a:t>
            </a:r>
            <a:endParaRPr b="0" lang="en-US" sz="1800" spc="-1" strike="noStrike">
              <a:latin typeface="Arial"/>
            </a:endParaRPr>
          </a:p>
        </p:txBody>
      </p:sp>
      <p:sp>
        <p:nvSpPr>
          <p:cNvPr id="4" name="PlaceHolder 3"/>
          <p:cNvSpPr>
            <a:spLocks noGrp="1"/>
          </p:cNvSpPr>
          <p:nvPr>
            <p:ph type="sldNum" idx="2"/>
          </p:nvPr>
        </p:nvSpPr>
        <p:spPr/>
        <p:txBody>
          <a:bodyPr/>
          <a:p>
            <a:fld id="{06E4DA9A-F1A7-4598-AD2B-366AAAC89BFF}" type="slidenum">
              <a:t>22</a:t>
            </a:fld>
          </a:p>
        </p:txBody>
      </p:sp>
    </p:spTree>
  </p:cSld>
  <mc:AlternateContent>
    <mc:Choice Requires="p14">
      <p:transition spd="slow" p14:dur="2000"/>
    </mc:Choice>
    <mc:Fallback>
      <p:transition spd="slow"/>
    </mc:Fallback>
  </mc:AlternateContent>
  <p:timing>
    <p:tnLst>
      <p:par>
        <p:cTn id="447" dur="indefinite" restart="never" nodeType="tmRoot">
          <p:childTnLst>
            <p:seq>
              <p:cTn id="448" dur="indefinite" nodeType="mainSeq">
                <p:childTnLst>
                  <p:par>
                    <p:cTn id="449" fill="hold">
                      <p:stCondLst>
                        <p:cond delay="indefinite"/>
                      </p:stCondLst>
                      <p:childTnLst>
                        <p:par>
                          <p:cTn id="450" fill="hold">
                            <p:stCondLst>
                              <p:cond delay="0"/>
                            </p:stCondLst>
                            <p:childTnLst>
                              <p:par>
                                <p:cTn id="451" nodeType="clickEffect" fill="hold" presetClass="entr" presetID="2" presetSubtype="9">
                                  <p:stCondLst>
                                    <p:cond delay="0"/>
                                  </p:stCondLst>
                                  <p:childTnLst>
                                    <p:set>
                                      <p:cBhvr>
                                        <p:cTn id="452" dur="1" fill="hold">
                                          <p:stCondLst>
                                            <p:cond delay="0"/>
                                          </p:stCondLst>
                                        </p:cTn>
                                        <p:tgtEl>
                                          <p:spTgt spid="367"/>
                                        </p:tgtEl>
                                        <p:attrNameLst>
                                          <p:attrName>style.visibility</p:attrName>
                                        </p:attrNameLst>
                                      </p:cBhvr>
                                      <p:to>
                                        <p:strVal val="visible"/>
                                      </p:to>
                                    </p:set>
                                    <p:anim calcmode="lin" valueType="num">
                                      <p:cBhvr additive="repl">
                                        <p:cTn id="453" dur="500" fill="hold"/>
                                        <p:tgtEl>
                                          <p:spTgt spid="367"/>
                                        </p:tgtEl>
                                        <p:attrNameLst>
                                          <p:attrName>ppt_x</p:attrName>
                                        </p:attrNameLst>
                                      </p:cBhvr>
                                      <p:tavLst>
                                        <p:tav tm="0">
                                          <p:val>
                                            <p:strVal val="0-#ppt_w/2"/>
                                          </p:val>
                                        </p:tav>
                                        <p:tav tm="100000">
                                          <p:val>
                                            <p:strVal val="#ppt_x"/>
                                          </p:val>
                                        </p:tav>
                                      </p:tavLst>
                                    </p:anim>
                                    <p:anim calcmode="lin" valueType="num">
                                      <p:cBhvr additive="repl">
                                        <p:cTn id="454" dur="500" fill="hold"/>
                                        <p:tgtEl>
                                          <p:spTgt spid="367"/>
                                        </p:tgtEl>
                                        <p:attrNameLst>
                                          <p:attrName>ppt_y</p:attrName>
                                        </p:attrNameLst>
                                      </p:cBhvr>
                                      <p:tavLst>
                                        <p:tav tm="0">
                                          <p:val>
                                            <p:strVal val="0-#ppt_h/2"/>
                                          </p:val>
                                        </p:tav>
                                        <p:tav tm="100000">
                                          <p:val>
                                            <p:strVal val="#ppt_y"/>
                                          </p:val>
                                        </p:tav>
                                      </p:tavLst>
                                    </p:anim>
                                  </p:childTnLst>
                                </p:cTn>
                              </p:par>
                            </p:childTnLst>
                          </p:cTn>
                        </p:par>
                      </p:childTnLst>
                    </p:cTn>
                  </p:par>
                  <p:par>
                    <p:cTn id="455" fill="hold">
                      <p:stCondLst>
                        <p:cond delay="indefinite"/>
                      </p:stCondLst>
                      <p:childTnLst>
                        <p:par>
                          <p:cTn id="456" fill="hold">
                            <p:stCondLst>
                              <p:cond delay="0"/>
                            </p:stCondLst>
                            <p:childTnLst>
                              <p:par>
                                <p:cTn id="457" nodeType="clickEffect" fill="hold" presetClass="entr" presetID="22" presetSubtype="1">
                                  <p:stCondLst>
                                    <p:cond delay="0"/>
                                  </p:stCondLst>
                                  <p:childTnLst>
                                    <p:set>
                                      <p:cBhvr>
                                        <p:cTn id="458" dur="1" fill="hold">
                                          <p:stCondLst>
                                            <p:cond delay="0"/>
                                          </p:stCondLst>
                                        </p:cTn>
                                        <p:tgtEl>
                                          <p:spTgt spid="368"/>
                                        </p:tgtEl>
                                        <p:attrNameLst>
                                          <p:attrName>style.visibility</p:attrName>
                                        </p:attrNameLst>
                                      </p:cBhvr>
                                      <p:to>
                                        <p:strVal val="visible"/>
                                      </p:to>
                                    </p:set>
                                    <p:animEffect filter="wipe(up)" transition="in">
                                      <p:cBhvr additive="repl">
                                        <p:cTn id="459" dur="5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Models Struggle on Multi-Step Reasoning</a:t>
            </a:r>
            <a:endParaRPr b="0" lang="en-US" sz="4000" spc="-1" strike="noStrike">
              <a:solidFill>
                <a:srgbClr val="000000"/>
              </a:solidFill>
              <a:latin typeface="Calibri"/>
            </a:endParaRPr>
          </a:p>
        </p:txBody>
      </p:sp>
      <p:sp>
        <p:nvSpPr>
          <p:cNvPr id="371" name="PlaceHolder 2"/>
          <p:cNvSpPr>
            <a:spLocks noGrp="1"/>
          </p:cNvSpPr>
          <p:nvPr>
            <p:ph/>
          </p:nvPr>
        </p:nvSpPr>
        <p:spPr>
          <a:xfrm>
            <a:off x="196200" y="1251720"/>
            <a:ext cx="11284920" cy="4484520"/>
          </a:xfrm>
          <a:prstGeom prst="rect">
            <a:avLst/>
          </a:prstGeom>
          <a:noFill/>
          <a:ln w="0">
            <a:noFill/>
          </a:ln>
        </p:spPr>
        <p:txBody>
          <a:bodyPr numCol="1" spcCol="0" anchor="t">
            <a:noAutofit/>
          </a:bodyPr>
          <a:p>
            <a:pPr marL="343080" indent="-343080">
              <a:lnSpc>
                <a:spcPct val="15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Frontier LLMs suffer as a function of: </a:t>
            </a:r>
            <a:endParaRPr b="0" lang="en-US" sz="2400" spc="-1" strike="noStrike">
              <a:solidFill>
                <a:srgbClr val="000000"/>
              </a:solidFill>
              <a:latin typeface="Calibri"/>
            </a:endParaRPr>
          </a:p>
          <a:p>
            <a:pPr>
              <a:lnSpc>
                <a:spcPct val="150000"/>
              </a:lnSpc>
              <a:spcBef>
                <a:spcPts val="479"/>
              </a:spcBef>
              <a:buNone/>
              <a:tabLst>
                <a:tab algn="l" pos="0"/>
              </a:tabLst>
            </a:pPr>
            <a:r>
              <a:rPr b="1" lang="en-US" sz="2400" spc="-1" strike="noStrike">
                <a:solidFill>
                  <a:srgbClr val="c00000"/>
                </a:solidFill>
                <a:latin typeface="Calibri"/>
                <a:ea typeface="Calibri"/>
              </a:rPr>
              <a:t>     </a:t>
            </a:r>
            <a:r>
              <a:rPr b="1" lang="en-US" sz="2400" spc="-1" strike="noStrike">
                <a:solidFill>
                  <a:srgbClr val="c00000"/>
                </a:solidFill>
                <a:latin typeface="Calibri"/>
                <a:ea typeface="Calibri"/>
              </a:rPr>
              <a:t>more reasoning steps</a:t>
            </a:r>
            <a:r>
              <a:rPr b="0" lang="en-US" sz="2400" spc="-1" strike="noStrike">
                <a:solidFill>
                  <a:srgbClr val="000000"/>
                </a:solidFill>
                <a:latin typeface="Calibri"/>
                <a:ea typeface="Calibri"/>
              </a:rPr>
              <a:t> (left)      as well as            </a:t>
            </a:r>
            <a:r>
              <a:rPr b="1" lang="en-US" sz="2400" spc="-1" strike="noStrike">
                <a:solidFill>
                  <a:srgbClr val="c00000"/>
                </a:solidFill>
                <a:latin typeface="Calibri"/>
                <a:ea typeface="Calibri"/>
              </a:rPr>
              <a:t>more intermediate answers </a:t>
            </a:r>
            <a:r>
              <a:rPr b="0" lang="en-US" sz="2400" spc="-1" strike="noStrike">
                <a:solidFill>
                  <a:srgbClr val="000000"/>
                </a:solidFill>
                <a:latin typeface="Calibri"/>
                <a:ea typeface="Calibri"/>
              </a:rPr>
              <a:t>(right)</a:t>
            </a:r>
            <a:endParaRPr b="0" lang="en-US" sz="2400" spc="-1" strike="noStrike">
              <a:solidFill>
                <a:srgbClr val="000000"/>
              </a:solidFill>
              <a:latin typeface="Calibri"/>
            </a:endParaRPr>
          </a:p>
        </p:txBody>
      </p:sp>
      <p:pic>
        <p:nvPicPr>
          <p:cNvPr id="372" name="Picture 3" descr=""/>
          <p:cNvPicPr/>
          <p:nvPr/>
        </p:nvPicPr>
        <p:blipFill>
          <a:blip r:embed="rId1"/>
          <a:stretch/>
        </p:blipFill>
        <p:spPr>
          <a:xfrm>
            <a:off x="1759320" y="4118040"/>
            <a:ext cx="2874600" cy="2548080"/>
          </a:xfrm>
          <a:prstGeom prst="rect">
            <a:avLst/>
          </a:prstGeom>
          <a:ln w="0">
            <a:noFill/>
          </a:ln>
        </p:spPr>
      </p:pic>
      <p:pic>
        <p:nvPicPr>
          <p:cNvPr id="373" name="Picture 5" descr=""/>
          <p:cNvPicPr/>
          <p:nvPr/>
        </p:nvPicPr>
        <p:blipFill>
          <a:blip r:embed="rId2"/>
          <a:stretch/>
        </p:blipFill>
        <p:spPr>
          <a:xfrm>
            <a:off x="377280" y="2736720"/>
            <a:ext cx="5959080" cy="1244160"/>
          </a:xfrm>
          <a:prstGeom prst="rect">
            <a:avLst/>
          </a:prstGeom>
          <a:ln w="0">
            <a:noFill/>
          </a:ln>
        </p:spPr>
      </p:pic>
      <p:pic>
        <p:nvPicPr>
          <p:cNvPr id="374" name="Picture 6" descr=""/>
          <p:cNvPicPr/>
          <p:nvPr/>
        </p:nvPicPr>
        <p:blipFill>
          <a:blip r:embed="rId3"/>
          <a:stretch/>
        </p:blipFill>
        <p:spPr>
          <a:xfrm>
            <a:off x="6457680" y="2893680"/>
            <a:ext cx="5364000" cy="3772440"/>
          </a:xfrm>
          <a:prstGeom prst="rect">
            <a:avLst/>
          </a:prstGeom>
          <a:ln w="0">
            <a:noFill/>
          </a:ln>
        </p:spPr>
      </p:pic>
      <p:sp>
        <p:nvSpPr>
          <p:cNvPr id="4" name="PlaceHolder 3"/>
          <p:cNvSpPr>
            <a:spLocks noGrp="1"/>
          </p:cNvSpPr>
          <p:nvPr>
            <p:ph type="sldNum" idx="2"/>
          </p:nvPr>
        </p:nvSpPr>
        <p:spPr/>
        <p:txBody>
          <a:bodyPr/>
          <a:p>
            <a:fld id="{283BE5AC-EEA8-4E43-8FC1-D1E79B766681}"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Arrow: Right 15"/>
          <p:cNvSpPr/>
          <p:nvPr/>
        </p:nvSpPr>
        <p:spPr>
          <a:xfrm rot="3792000">
            <a:off x="5675400" y="3251880"/>
            <a:ext cx="2889000" cy="432000"/>
          </a:xfrm>
          <a:prstGeom prst="rightArrow">
            <a:avLst>
              <a:gd name="adj1" fmla="val 50000"/>
              <a:gd name="adj2" fmla="val 50000"/>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76" name="Rectangle 3"/>
          <p:cNvSpPr/>
          <p:nvPr/>
        </p:nvSpPr>
        <p:spPr>
          <a:xfrm>
            <a:off x="158760" y="850320"/>
            <a:ext cx="3931560" cy="220248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2000" spc="-1" strike="noStrike">
                <a:solidFill>
                  <a:srgbClr val="000000"/>
                </a:solidFill>
                <a:latin typeface="Calibri"/>
              </a:rPr>
              <a:t>Show me all my patients whose seizure frequency increased by more than 50% over the past 3 months, list their current medications, flag any that are non-adherent, and summarize what we discussed in their last visit.</a:t>
            </a:r>
            <a:endParaRPr b="0" lang="en-US" sz="2000" spc="-1" strike="noStrike">
              <a:latin typeface="Arial"/>
            </a:endParaRPr>
          </a:p>
        </p:txBody>
      </p:sp>
      <p:sp>
        <p:nvSpPr>
          <p:cNvPr id="377" name="Rectangle 5"/>
          <p:cNvSpPr/>
          <p:nvPr/>
        </p:nvSpPr>
        <p:spPr>
          <a:xfrm>
            <a:off x="1350720" y="3115080"/>
            <a:ext cx="3931560" cy="91404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800" spc="-1" strike="noStrike">
                <a:solidFill>
                  <a:srgbClr val="000000"/>
                </a:solidFill>
                <a:latin typeface="Calibri"/>
              </a:rPr>
              <a:t>Get seizure frequency trends</a:t>
            </a:r>
            <a:endParaRPr b="0" lang="en-US" sz="1800" spc="-1" strike="noStrike">
              <a:latin typeface="Arial"/>
            </a:endParaRPr>
          </a:p>
          <a:p>
            <a:pPr>
              <a:lnSpc>
                <a:spcPct val="100000"/>
              </a:lnSpc>
              <a:buNone/>
            </a:pPr>
            <a:r>
              <a:rPr b="0" lang="en-US" sz="1800" spc="-1" strike="noStrike">
                <a:solidFill>
                  <a:srgbClr val="000000"/>
                </a:solidFill>
                <a:latin typeface="Calibri"/>
              </a:rPr>
              <a:t>Function: getSeizureTrends(patientList, timePeriod)</a:t>
            </a:r>
            <a:endParaRPr b="0" lang="en-US" sz="1800" spc="-1" strike="noStrike">
              <a:latin typeface="Arial"/>
            </a:endParaRPr>
          </a:p>
        </p:txBody>
      </p:sp>
      <p:sp>
        <p:nvSpPr>
          <p:cNvPr id="378" name="Rectangle 7"/>
          <p:cNvSpPr/>
          <p:nvPr/>
        </p:nvSpPr>
        <p:spPr>
          <a:xfrm>
            <a:off x="3681720" y="4064040"/>
            <a:ext cx="3931560" cy="91404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800" spc="-1" strike="noStrike">
                <a:solidFill>
                  <a:srgbClr val="000000"/>
                </a:solidFill>
                <a:latin typeface="Calibri"/>
              </a:rPr>
              <a:t>Get current medications</a:t>
            </a:r>
            <a:endParaRPr b="0" lang="en-US" sz="1800" spc="-1" strike="noStrike">
              <a:latin typeface="Arial"/>
            </a:endParaRPr>
          </a:p>
          <a:p>
            <a:pPr>
              <a:lnSpc>
                <a:spcPct val="100000"/>
              </a:lnSpc>
              <a:buNone/>
            </a:pPr>
            <a:r>
              <a:rPr b="0" lang="en-US" sz="1800" spc="-1" strike="noStrike">
                <a:solidFill>
                  <a:srgbClr val="000000"/>
                </a:solidFill>
                <a:latin typeface="Calibri"/>
              </a:rPr>
              <a:t>Function: getCurrentMedications(patientList)</a:t>
            </a:r>
            <a:endParaRPr b="0" lang="en-US" sz="1800" spc="-1" strike="noStrike">
              <a:latin typeface="Arial"/>
            </a:endParaRPr>
          </a:p>
        </p:txBody>
      </p:sp>
      <p:sp>
        <p:nvSpPr>
          <p:cNvPr id="379" name="Rectangle 11"/>
          <p:cNvSpPr/>
          <p:nvPr/>
        </p:nvSpPr>
        <p:spPr>
          <a:xfrm>
            <a:off x="5177880" y="5013360"/>
            <a:ext cx="3931560" cy="88668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800" spc="-1" strike="noStrike">
                <a:solidFill>
                  <a:srgbClr val="000000"/>
                </a:solidFill>
                <a:latin typeface="Calibri"/>
              </a:rPr>
              <a:t>Check adherence</a:t>
            </a:r>
            <a:endParaRPr b="0" lang="en-US" sz="1800" spc="-1" strike="noStrike">
              <a:latin typeface="Arial"/>
            </a:endParaRPr>
          </a:p>
          <a:p>
            <a:pPr>
              <a:lnSpc>
                <a:spcPct val="100000"/>
              </a:lnSpc>
              <a:buNone/>
            </a:pPr>
            <a:r>
              <a:rPr b="0" lang="en-US" sz="1800" spc="-1" strike="noStrike">
                <a:solidFill>
                  <a:srgbClr val="000000"/>
                </a:solidFill>
                <a:latin typeface="Calibri"/>
              </a:rPr>
              <a:t>Function: checkMedicationAdherence(patientList)</a:t>
            </a:r>
            <a:endParaRPr b="0" lang="en-US" sz="1800" spc="-1" strike="noStrike">
              <a:latin typeface="Arial"/>
            </a:endParaRPr>
          </a:p>
        </p:txBody>
      </p:sp>
      <p:sp>
        <p:nvSpPr>
          <p:cNvPr id="380" name="Rectangle 13"/>
          <p:cNvSpPr/>
          <p:nvPr/>
        </p:nvSpPr>
        <p:spPr>
          <a:xfrm>
            <a:off x="7734240" y="5962320"/>
            <a:ext cx="3931560" cy="88668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800" spc="-1" strike="noStrike">
                <a:solidFill>
                  <a:srgbClr val="000000"/>
                </a:solidFill>
                <a:latin typeface="Calibri"/>
              </a:rPr>
              <a:t>Summarize last visit</a:t>
            </a:r>
            <a:endParaRPr b="0" lang="en-US" sz="1800" spc="-1" strike="noStrike">
              <a:latin typeface="Arial"/>
            </a:endParaRPr>
          </a:p>
          <a:p>
            <a:pPr>
              <a:lnSpc>
                <a:spcPct val="100000"/>
              </a:lnSpc>
              <a:buNone/>
            </a:pPr>
            <a:r>
              <a:rPr b="0" lang="en-US" sz="1800" spc="-1" strike="noStrike">
                <a:solidFill>
                  <a:srgbClr val="000000"/>
                </a:solidFill>
                <a:latin typeface="Calibri"/>
              </a:rPr>
              <a:t>Function: getLastVisitSummary(patientList)</a:t>
            </a:r>
            <a:endParaRPr b="0" lang="en-US" sz="1800" spc="-1" strike="noStrike">
              <a:latin typeface="Arial"/>
            </a:endParaRPr>
          </a:p>
        </p:txBody>
      </p:sp>
      <p:sp>
        <p:nvSpPr>
          <p:cNvPr id="381" name="Rectangle 1"/>
          <p:cNvSpPr/>
          <p:nvPr/>
        </p:nvSpPr>
        <p:spPr>
          <a:xfrm>
            <a:off x="5908680" y="1217160"/>
            <a:ext cx="672120" cy="782640"/>
          </a:xfrm>
          <a:prstGeom prst="rect">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i="1" lang="en-US" sz="3400" spc="-1" strike="noStrike">
                <a:solidFill>
                  <a:srgbClr val="ffffff"/>
                </a:solidFill>
                <a:latin typeface="Calibri"/>
              </a:rPr>
              <a:t>F1</a:t>
            </a:r>
            <a:endParaRPr b="0" lang="en-US" sz="3400" spc="-1" strike="noStrike">
              <a:latin typeface="Arial"/>
            </a:endParaRPr>
          </a:p>
        </p:txBody>
      </p:sp>
      <p:sp>
        <p:nvSpPr>
          <p:cNvPr id="382" name="Arrow: Right 2"/>
          <p:cNvSpPr/>
          <p:nvPr/>
        </p:nvSpPr>
        <p:spPr>
          <a:xfrm rot="18903000">
            <a:off x="4308120" y="2016000"/>
            <a:ext cx="1527120" cy="357120"/>
          </a:xfrm>
          <a:prstGeom prst="rightArrow">
            <a:avLst>
              <a:gd name="adj1" fmla="val 50000"/>
              <a:gd name="adj2" fmla="val 50000"/>
            </a:avLst>
          </a:prstGeom>
          <a:solidFill>
            <a:srgbClr val="5b9bd5"/>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83" name="Arrow: Right 4"/>
          <p:cNvSpPr/>
          <p:nvPr/>
        </p:nvSpPr>
        <p:spPr>
          <a:xfrm rot="18903000">
            <a:off x="5586120" y="3095280"/>
            <a:ext cx="1527120" cy="357120"/>
          </a:xfrm>
          <a:prstGeom prst="rightArrow">
            <a:avLst>
              <a:gd name="adj1" fmla="val 50000"/>
              <a:gd name="adj2" fmla="val 50000"/>
            </a:avLst>
          </a:prstGeom>
          <a:solidFill>
            <a:srgbClr val="5b9bd5"/>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84" name="Rectangle 6"/>
          <p:cNvSpPr/>
          <p:nvPr/>
        </p:nvSpPr>
        <p:spPr>
          <a:xfrm>
            <a:off x="7155360" y="2103840"/>
            <a:ext cx="672120" cy="782640"/>
          </a:xfrm>
          <a:prstGeom prst="rect">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i="1" lang="en-US" sz="3400" spc="-1" strike="noStrike">
                <a:solidFill>
                  <a:srgbClr val="ffffff"/>
                </a:solidFill>
                <a:latin typeface="Calibri"/>
              </a:rPr>
              <a:t>F2</a:t>
            </a:r>
            <a:endParaRPr b="0" lang="en-US" sz="3400" spc="-1" strike="noStrike">
              <a:latin typeface="Arial"/>
            </a:endParaRPr>
          </a:p>
        </p:txBody>
      </p:sp>
      <p:sp>
        <p:nvSpPr>
          <p:cNvPr id="385" name="Arrow: Right 8"/>
          <p:cNvSpPr/>
          <p:nvPr/>
        </p:nvSpPr>
        <p:spPr>
          <a:xfrm rot="6296400">
            <a:off x="5044320" y="2760840"/>
            <a:ext cx="1527120" cy="357120"/>
          </a:xfrm>
          <a:prstGeom prst="rightArrow">
            <a:avLst>
              <a:gd name="adj1" fmla="val 50000"/>
              <a:gd name="adj2" fmla="val 50000"/>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86" name="Rectangle 9"/>
          <p:cNvSpPr/>
          <p:nvPr/>
        </p:nvSpPr>
        <p:spPr>
          <a:xfrm>
            <a:off x="8589960" y="2775600"/>
            <a:ext cx="672120" cy="782640"/>
          </a:xfrm>
          <a:prstGeom prst="rect">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i="1" lang="en-US" sz="3400" spc="-1" strike="noStrike">
                <a:solidFill>
                  <a:srgbClr val="ffffff"/>
                </a:solidFill>
                <a:latin typeface="Calibri"/>
              </a:rPr>
              <a:t>F3</a:t>
            </a:r>
            <a:endParaRPr b="0" lang="en-US" sz="3400" spc="-1" strike="noStrike">
              <a:latin typeface="Arial"/>
            </a:endParaRPr>
          </a:p>
        </p:txBody>
      </p:sp>
      <p:sp>
        <p:nvSpPr>
          <p:cNvPr id="387" name="Rectangle 10"/>
          <p:cNvSpPr/>
          <p:nvPr/>
        </p:nvSpPr>
        <p:spPr>
          <a:xfrm>
            <a:off x="10100880" y="3758040"/>
            <a:ext cx="672120" cy="782640"/>
          </a:xfrm>
          <a:prstGeom prst="rect">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i="1" lang="en-US" sz="3400" spc="-1" strike="noStrike">
                <a:solidFill>
                  <a:srgbClr val="ffffff"/>
                </a:solidFill>
                <a:latin typeface="Calibri"/>
              </a:rPr>
              <a:t>F4</a:t>
            </a:r>
            <a:endParaRPr b="0" lang="en-US" sz="3400" spc="-1" strike="noStrike">
              <a:latin typeface="Arial"/>
            </a:endParaRPr>
          </a:p>
        </p:txBody>
      </p:sp>
      <p:sp>
        <p:nvSpPr>
          <p:cNvPr id="388" name="Arrow: Right 12"/>
          <p:cNvSpPr/>
          <p:nvPr/>
        </p:nvSpPr>
        <p:spPr>
          <a:xfrm rot="5983800">
            <a:off x="6493680" y="3693240"/>
            <a:ext cx="1753560" cy="347760"/>
          </a:xfrm>
          <a:prstGeom prst="rightArrow">
            <a:avLst>
              <a:gd name="adj1" fmla="val 50000"/>
              <a:gd name="adj2" fmla="val 50000"/>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89" name="Arrow: Right 16"/>
          <p:cNvSpPr/>
          <p:nvPr/>
        </p:nvSpPr>
        <p:spPr>
          <a:xfrm rot="18492000">
            <a:off x="7776720" y="4085280"/>
            <a:ext cx="1527120" cy="357120"/>
          </a:xfrm>
          <a:prstGeom prst="rightArrow">
            <a:avLst>
              <a:gd name="adj1" fmla="val 50000"/>
              <a:gd name="adj2" fmla="val 50000"/>
            </a:avLst>
          </a:prstGeom>
          <a:solidFill>
            <a:srgbClr val="5b9bd5"/>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90" name="Arrow: Right 17"/>
          <p:cNvSpPr/>
          <p:nvPr/>
        </p:nvSpPr>
        <p:spPr>
          <a:xfrm rot="4617600">
            <a:off x="8372880" y="4566960"/>
            <a:ext cx="2142000" cy="366120"/>
          </a:xfrm>
          <a:prstGeom prst="rightArrow">
            <a:avLst>
              <a:gd name="adj1" fmla="val 50000"/>
              <a:gd name="adj2" fmla="val 50000"/>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91" name="Arrow: Right 18"/>
          <p:cNvSpPr/>
          <p:nvPr/>
        </p:nvSpPr>
        <p:spPr>
          <a:xfrm rot="18492000">
            <a:off x="8774640" y="5007960"/>
            <a:ext cx="1527120" cy="357120"/>
          </a:xfrm>
          <a:prstGeom prst="rightArrow">
            <a:avLst>
              <a:gd name="adj1" fmla="val 50000"/>
              <a:gd name="adj2" fmla="val 50000"/>
            </a:avLst>
          </a:prstGeom>
          <a:solidFill>
            <a:srgbClr val="5b9bd5"/>
          </a:solidFill>
          <a:ln>
            <a:solidFill>
              <a:srgbClr val="27435d"/>
            </a:solidFill>
            <a:round/>
          </a:ln>
        </p:spPr>
        <p:style>
          <a:lnRef idx="2">
            <a:schemeClr val="accent1">
              <a:shade val="15000"/>
            </a:schemeClr>
          </a:lnRef>
          <a:fillRef idx="1">
            <a:schemeClr val="accent1"/>
          </a:fillRef>
          <a:effectRef idx="0">
            <a:schemeClr val="accent1"/>
          </a:effectRef>
          <a:fontRef idx="minor"/>
        </p:style>
      </p:sp>
      <p:sp>
        <p:nvSpPr>
          <p:cNvPr id="392" name="Arrow: Right 19"/>
          <p:cNvSpPr/>
          <p:nvPr/>
        </p:nvSpPr>
        <p:spPr>
          <a:xfrm rot="17628600">
            <a:off x="10143360" y="2841840"/>
            <a:ext cx="1144800" cy="413280"/>
          </a:xfrm>
          <a:prstGeom prst="rightArrow">
            <a:avLst>
              <a:gd name="adj1" fmla="val 50000"/>
              <a:gd name="adj2" fmla="val 50000"/>
            </a:avLst>
          </a:prstGeom>
          <a:solidFill>
            <a:schemeClr val="accent2"/>
          </a:solidFill>
          <a:ln>
            <a:solidFill>
              <a:srgbClr val="27435d"/>
            </a:solidFill>
            <a:round/>
          </a:ln>
        </p:spPr>
        <p:style>
          <a:lnRef idx="2">
            <a:schemeClr val="accent1">
              <a:shade val="15000"/>
            </a:schemeClr>
          </a:lnRef>
          <a:fillRef idx="1">
            <a:schemeClr val="accent1"/>
          </a:fillRef>
          <a:effectRef idx="0">
            <a:schemeClr val="accent1"/>
          </a:effectRef>
          <a:fontRef idx="minor"/>
        </p:style>
      </p:sp>
      <p:pic>
        <p:nvPicPr>
          <p:cNvPr id="393" name="Picture 2" descr="Clinicians as advocates for patients ..."/>
          <p:cNvPicPr/>
          <p:nvPr/>
        </p:nvPicPr>
        <p:blipFill>
          <a:blip r:embed="rId1"/>
          <a:stretch/>
        </p:blipFill>
        <p:spPr>
          <a:xfrm>
            <a:off x="9153360" y="898200"/>
            <a:ext cx="2952360" cy="1542600"/>
          </a:xfrm>
          <a:prstGeom prst="rect">
            <a:avLst/>
          </a:prstGeom>
          <a:ln w="0">
            <a:noFill/>
          </a:ln>
        </p:spPr>
      </p:pic>
      <p:sp>
        <p:nvSpPr>
          <p:cNvPr id="394"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A Realistic Electronic Health Records Example</a:t>
            </a:r>
            <a:endParaRPr b="0" lang="en-US" sz="4000" spc="-1" strike="noStrike">
              <a:solidFill>
                <a:srgbClr val="000000"/>
              </a:solidFill>
              <a:latin typeface="Calibri"/>
            </a:endParaRPr>
          </a:p>
        </p:txBody>
      </p:sp>
      <p:sp>
        <p:nvSpPr>
          <p:cNvPr id="395" name="Rectangle 22"/>
          <p:cNvSpPr/>
          <p:nvPr/>
        </p:nvSpPr>
        <p:spPr>
          <a:xfrm>
            <a:off x="1283760" y="2764080"/>
            <a:ext cx="9965520" cy="290124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3200" spc="-1" strike="noStrike">
                <a:solidFill>
                  <a:srgbClr val="000000"/>
                </a:solidFill>
                <a:latin typeface="Calibri"/>
              </a:rPr>
              <a:t>Show me all my patients whose seizure frequency increased by more than 50% over the past 3 months, list their current medications, flag any that are non-adherent, and summarize what we discussed in their last visit.</a:t>
            </a:r>
            <a:endParaRPr b="0" lang="en-US" sz="3200" spc="-1" strike="noStrike">
              <a:latin typeface="Arial"/>
            </a:endParaRPr>
          </a:p>
        </p:txBody>
      </p:sp>
      <p:sp>
        <p:nvSpPr>
          <p:cNvPr id="396" name="Rectangle 23"/>
          <p:cNvSpPr/>
          <p:nvPr/>
        </p:nvSpPr>
        <p:spPr>
          <a:xfrm>
            <a:off x="204480" y="5847840"/>
            <a:ext cx="3931560" cy="886680"/>
          </a:xfrm>
          <a:prstGeom prst="rect">
            <a:avLst/>
          </a:prstGeom>
          <a:solidFill>
            <a:schemeClr val="bg1">
              <a:lumMod val="9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2400" spc="-1" strike="noStrike">
                <a:solidFill>
                  <a:srgbClr val="000000"/>
                </a:solidFill>
                <a:latin typeface="Calibri"/>
              </a:rPr>
              <a:t>Perhaps the key challenge to agentic approaches today  </a:t>
            </a:r>
            <a:endParaRPr b="0" lang="en-US" sz="2400" spc="-1" strike="noStrike">
              <a:latin typeface="Arial"/>
            </a:endParaRPr>
          </a:p>
        </p:txBody>
      </p:sp>
      <p:sp>
        <p:nvSpPr>
          <p:cNvPr id="397" name="Rectangle 14"/>
          <p:cNvSpPr/>
          <p:nvPr/>
        </p:nvSpPr>
        <p:spPr>
          <a:xfrm>
            <a:off x="4177440" y="5945400"/>
            <a:ext cx="3122280" cy="789120"/>
          </a:xfrm>
          <a:prstGeom prst="rect">
            <a:avLst/>
          </a:prstGeom>
          <a:solidFill>
            <a:schemeClr val="bg1">
              <a:lumMod val="85000"/>
            </a:schemeClr>
          </a:solidFill>
          <a:ln>
            <a:solidFill>
              <a:srgbClr val="5b9bd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1" lang="en-US" sz="1800" spc="-1" strike="noStrike">
                <a:solidFill>
                  <a:srgbClr val="000000"/>
                </a:solidFill>
                <a:latin typeface="Calibri"/>
              </a:rPr>
              <a:t>But it all depends on retrieving the information needed </a:t>
            </a:r>
            <a:endParaRPr b="0" lang="en-US" sz="1800" spc="-1" strike="noStrike">
              <a:latin typeface="Arial"/>
            </a:endParaRPr>
          </a:p>
        </p:txBody>
      </p:sp>
      <p:sp>
        <p:nvSpPr>
          <p:cNvPr id="3" name="PlaceHolder 2"/>
          <p:cNvSpPr>
            <a:spLocks noGrp="1"/>
          </p:cNvSpPr>
          <p:nvPr>
            <p:ph type="sldNum" idx="2"/>
          </p:nvPr>
        </p:nvSpPr>
        <p:spPr/>
        <p:txBody>
          <a:bodyPr/>
          <a:p>
            <a:fld id="{2D9824B0-6001-4F63-9452-3781966E5B58}" type="slidenum">
              <a:t>24</a:t>
            </a:fld>
          </a:p>
        </p:txBody>
      </p:sp>
    </p:spTree>
  </p:cSld>
  <mc:AlternateContent>
    <mc:Choice Requires="p14">
      <p:transition spd="slow" p14:dur="2000"/>
    </mc:Choice>
    <mc:Fallback>
      <p:transition spd="slow"/>
    </mc:Fallback>
  </mc:AlternateContent>
  <p:timing>
    <p:tnLst>
      <p:par>
        <p:cTn id="460" dur="indefinite" restart="never" nodeType="tmRoot">
          <p:childTnLst>
            <p:seq>
              <p:cTn id="461" dur="indefinite" nodeType="mainSeq">
                <p:childTnLst>
                  <p:par>
                    <p:cTn id="462" fill="hold">
                      <p:stCondLst>
                        <p:cond delay="indefinite"/>
                      </p:stCondLst>
                      <p:childTnLst>
                        <p:par>
                          <p:cTn id="463" fill="hold">
                            <p:stCondLst>
                              <p:cond delay="0"/>
                            </p:stCondLst>
                            <p:childTnLst>
                              <p:par>
                                <p:cTn id="464" nodeType="clickEffect" fill="hold" presetClass="entr" presetID="53" presetSubtype="16">
                                  <p:stCondLst>
                                    <p:cond delay="0"/>
                                  </p:stCondLst>
                                  <p:childTnLst>
                                    <p:set>
                                      <p:cBhvr>
                                        <p:cTn id="465" dur="1" fill="hold">
                                          <p:stCondLst>
                                            <p:cond delay="0"/>
                                          </p:stCondLst>
                                        </p:cTn>
                                        <p:tgtEl>
                                          <p:spTgt spid="395"/>
                                        </p:tgtEl>
                                        <p:attrNameLst>
                                          <p:attrName>style.visibility</p:attrName>
                                        </p:attrNameLst>
                                      </p:cBhvr>
                                      <p:to>
                                        <p:strVal val="visible"/>
                                      </p:to>
                                    </p:set>
                                    <p:anim calcmode="lin" valueType="num">
                                      <p:cBhvr additive="repl">
                                        <p:cTn id="466" dur="500" fill="hold"/>
                                        <p:tgtEl>
                                          <p:spTgt spid="395"/>
                                        </p:tgtEl>
                                        <p:attrNameLst>
                                          <p:attrName>ppt_w</p:attrName>
                                        </p:attrNameLst>
                                      </p:cBhvr>
                                      <p:tavLst>
                                        <p:tav tm="0">
                                          <p:val>
                                            <p:fltVal val="0"/>
                                          </p:val>
                                        </p:tav>
                                        <p:tav tm="100000">
                                          <p:val>
                                            <p:strVal val="#ppt_w"/>
                                          </p:val>
                                        </p:tav>
                                      </p:tavLst>
                                    </p:anim>
                                    <p:anim calcmode="lin" valueType="num">
                                      <p:cBhvr additive="repl">
                                        <p:cTn id="467" dur="500" fill="hold"/>
                                        <p:tgtEl>
                                          <p:spTgt spid="395"/>
                                        </p:tgtEl>
                                        <p:attrNameLst>
                                          <p:attrName>ppt_h</p:attrName>
                                        </p:attrNameLst>
                                      </p:cBhvr>
                                      <p:tavLst>
                                        <p:tav tm="0">
                                          <p:val>
                                            <p:fltVal val="0"/>
                                          </p:val>
                                        </p:tav>
                                        <p:tav tm="100000">
                                          <p:val>
                                            <p:strVal val="#ppt_h"/>
                                          </p:val>
                                        </p:tav>
                                      </p:tavLst>
                                    </p:anim>
                                    <p:animEffect filter="fade" transition="in">
                                      <p:cBhvr additive="repl">
                                        <p:cTn id="468" dur="500"/>
                                        <p:tgtEl>
                                          <p:spTgt spid="395"/>
                                        </p:tgtEl>
                                      </p:cBhvr>
                                    </p:animEffect>
                                    <p:set>
                                      <p:cBhvr>
                                        <p:cTn id="469" dur="1" fill="hold"/>
                                        <p:tgtEl>
                                          <p:spTgt spid="395"/>
                                        </p:tgtEl>
                                        <p:attrNameLst>
                                          <p:attrName>style.visibility</p:attrName>
                                        </p:attrNameLst>
                                      </p:cBhvr>
                                      <p:to>
                                        <p:strVal val="hidden"/>
                                      </p:to>
                                    </p:set>
                                  </p:childTnLst>
                                </p:cTn>
                              </p:par>
                            </p:childTnLst>
                          </p:cTn>
                        </p:par>
                      </p:childTnLst>
                    </p:cTn>
                  </p:par>
                  <p:par>
                    <p:cTn id="470" fill="hold">
                      <p:stCondLst>
                        <p:cond delay="indefinite"/>
                      </p:stCondLst>
                      <p:childTnLst>
                        <p:par>
                          <p:cTn id="471" fill="hold">
                            <p:stCondLst>
                              <p:cond delay="0"/>
                            </p:stCondLst>
                            <p:childTnLst>
                              <p:par>
                                <p:cTn id="472" nodeType="clickEffect" fill="hold" presetClass="entr" presetID="1">
                                  <p:stCondLst>
                                    <p:cond delay="0"/>
                                  </p:stCondLst>
                                  <p:childTnLst>
                                    <p:set>
                                      <p:cBhvr>
                                        <p:cTn id="473" dur="1" fill="hold">
                                          <p:stCondLst>
                                            <p:cond delay="0"/>
                                          </p:stCondLst>
                                        </p:cTn>
                                        <p:tgtEl>
                                          <p:spTgt spid="396"/>
                                        </p:tgtEl>
                                        <p:attrNameLst>
                                          <p:attrName>style.visibility</p:attrName>
                                        </p:attrNameLst>
                                      </p:cBhvr>
                                      <p:to>
                                        <p:strVal val="visible"/>
                                      </p:to>
                                    </p:set>
                                  </p:childTnLst>
                                </p:cTn>
                              </p:par>
                            </p:childTnLst>
                          </p:cTn>
                        </p:par>
                      </p:childTnLst>
                    </p:cTn>
                  </p:par>
                  <p:par>
                    <p:cTn id="474" fill="hold">
                      <p:stCondLst>
                        <p:cond delay="indefinite"/>
                      </p:stCondLst>
                      <p:childTnLst>
                        <p:par>
                          <p:cTn id="475" fill="hold">
                            <p:stCondLst>
                              <p:cond delay="0"/>
                            </p:stCondLst>
                            <p:childTnLst>
                              <p:par>
                                <p:cTn id="476" nodeType="clickEffect" fill="hold" presetClass="entr" presetID="1">
                                  <p:stCondLst>
                                    <p:cond delay="0"/>
                                  </p:stCondLst>
                                  <p:childTnLst>
                                    <p:set>
                                      <p:cBhvr>
                                        <p:cTn id="477"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The Rich Data Challenge </a:t>
            </a:r>
            <a:endParaRPr b="0" lang="en-US" sz="4000" spc="-1" strike="noStrike">
              <a:solidFill>
                <a:srgbClr val="000000"/>
              </a:solidFill>
              <a:latin typeface="Calibri"/>
            </a:endParaRPr>
          </a:p>
        </p:txBody>
      </p:sp>
      <p:sp>
        <p:nvSpPr>
          <p:cNvPr id="399" name="PlaceHolder 2"/>
          <p:cNvSpPr>
            <a:spLocks noGrp="1"/>
          </p:cNvSpPr>
          <p:nvPr>
            <p:ph/>
          </p:nvPr>
        </p:nvSpPr>
        <p:spPr>
          <a:xfrm>
            <a:off x="609480" y="1252440"/>
            <a:ext cx="10972440" cy="49885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In many cases relevant information is not exposed during retrieval</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Too costly to do everything at inference time</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Ingestion becomes a bottleneck – a form of entrichment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Pre-process documents and enrich with (expected) relevant knowledge </a:t>
            </a:r>
            <a:endParaRPr b="0" lang="en-US" sz="2000" spc="-1" strike="noStrike">
              <a:solidFill>
                <a:srgbClr val="000000"/>
              </a:solidFill>
              <a:latin typeface="Calibri"/>
            </a:endParaRPr>
          </a:p>
          <a:p>
            <a:pPr>
              <a:lnSpc>
                <a:spcPct val="100000"/>
              </a:lnSpc>
              <a:spcBef>
                <a:spcPts val="479"/>
              </a:spcBef>
              <a:buNone/>
              <a:tabLst>
                <a:tab algn="l" pos="0"/>
              </a:tabLst>
            </a:pPr>
            <a:r>
              <a:rPr b="1" lang="en-US" sz="2400" spc="-1" strike="noStrike">
                <a:solidFill>
                  <a:srgbClr val="000000"/>
                </a:solidFill>
                <a:latin typeface="Calibri"/>
                <a:ea typeface="Calibri"/>
              </a:rPr>
              <a:t>[Sourati et al. ACL’26]: Visually Rich Documents</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tabLst>
                <a:tab algn="l" pos="0"/>
              </a:tabLst>
            </a:pPr>
            <a:r>
              <a:rPr b="0" lang="en-US" sz="2400" spc="-1" strike="noStrike">
                <a:solidFill>
                  <a:srgbClr val="000000"/>
                </a:solidFill>
                <a:latin typeface="Calibri"/>
                <a:ea typeface="Calibri"/>
              </a:rPr>
              <a:t>Retrieval over structured documents requires both semantic understanding and explicit structural reasoning.</a:t>
            </a:r>
            <a:r>
              <a:rPr b="0" lang="en-US" sz="2400" spc="-1" strike="noStrike">
                <a:solidFill>
                  <a:srgbClr val="000000"/>
                </a:solidFill>
                <a:latin typeface="Calibri"/>
                <a:ea typeface="Calibri"/>
              </a:rPr>
              <a:t>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3366cc"/>
                </a:solidFill>
                <a:latin typeface="Calibri"/>
                <a:ea typeface="Calibri"/>
              </a:rPr>
              <a:t>Layout, section hierarchy, element types, and cross-page links carry meaning, and must be captured at ingestion time.</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3366cc"/>
                </a:solidFill>
                <a:latin typeface="Calibri"/>
                <a:ea typeface="Calibri"/>
              </a:rPr>
              <a:t>Once structure is discarded at ingestion, no retrieval strategy can recover it.</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tabLst>
                <a:tab algn="l" pos="0"/>
              </a:tabLst>
            </a:pPr>
            <a:r>
              <a:rPr b="0" lang="en-US" sz="2400" spc="-1" strike="noStrike">
                <a:solidFill>
                  <a:srgbClr val="000000"/>
                </a:solidFill>
                <a:latin typeface="Calibri"/>
                <a:ea typeface="Calibri"/>
              </a:rPr>
              <a:t>Build an explicit, holistic document representation during ingestion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tabLst>
                <a:tab algn="l" pos="0"/>
              </a:tabLst>
            </a:pPr>
            <a:r>
              <a:rPr b="0" lang="en-US" sz="2000" spc="-1" strike="noStrike">
                <a:solidFill>
                  <a:srgbClr val="3366cc"/>
                </a:solidFill>
                <a:latin typeface="Calibri"/>
                <a:ea typeface="Calibri"/>
              </a:rPr>
              <a:t>Exposes to retrieval information &amp; structure that otherwise would not be accessible .</a:t>
            </a:r>
            <a:endParaRPr b="0" lang="en-US" sz="2000" spc="-1" strike="noStrike">
              <a:solidFill>
                <a:srgbClr val="000000"/>
              </a:solidFill>
              <a:latin typeface="Calibri"/>
            </a:endParaRPr>
          </a:p>
        </p:txBody>
      </p:sp>
      <p:sp>
        <p:nvSpPr>
          <p:cNvPr id="400" name="PlaceHolder 3"/>
          <p:cNvSpPr>
            <a:spLocks noGrp="1"/>
          </p:cNvSpPr>
          <p:nvPr>
            <p:ph type="sldNum" idx="11"/>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C7A22AF7-B645-4BE5-9EFF-59C742DB6016}" type="slidenum">
              <a:rPr b="0" lang="en-US" sz="1200" spc="-1" strike="noStrike">
                <a:solidFill>
                  <a:srgbClr val="000000"/>
                </a:solidFill>
                <a:latin typeface="Calibri"/>
                <a:ea typeface="Arial Unicode MS"/>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timing>
    <p:tnLst>
      <p:par>
        <p:cTn id="478" dur="indefinite" restart="never" nodeType="tmRoot">
          <p:childTnLst>
            <p:seq>
              <p:cTn id="479" dur="indefinite" nodeType="mainSeq">
                <p:childTnLst>
                  <p:par>
                    <p:cTn id="480" fill="hold">
                      <p:stCondLst>
                        <p:cond delay="indefinite"/>
                      </p:stCondLst>
                      <p:childTnLst>
                        <p:par>
                          <p:cTn id="481" fill="hold">
                            <p:stCondLst>
                              <p:cond delay="0"/>
                            </p:stCondLst>
                            <p:childTnLst>
                              <p:par>
                                <p:cTn id="482" nodeType="clickEffect" fill="hold" presetClass="entr" presetID="1">
                                  <p:stCondLst>
                                    <p:cond delay="0"/>
                                  </p:stCondLst>
                                  <p:childTnLst>
                                    <p:set>
                                      <p:cBhvr>
                                        <p:cTn id="483" dur="1" fill="hold">
                                          <p:stCondLst>
                                            <p:cond delay="0"/>
                                          </p:stCondLst>
                                        </p:cTn>
                                        <p:tgtEl>
                                          <p:spTgt spid="399">
                                            <p:txEl>
                                              <p:pRg st="4" end="4"/>
                                            </p:txEl>
                                          </p:spTgt>
                                        </p:tgtEl>
                                        <p:attrNameLst>
                                          <p:attrName>style.visibility</p:attrName>
                                        </p:attrNameLst>
                                      </p:cBhvr>
                                      <p:to>
                                        <p:strVal val="visible"/>
                                      </p:to>
                                    </p:set>
                                  </p:childTnLst>
                                </p:cTn>
                              </p:par>
                              <p:par>
                                <p:cTn id="484" nodeType="withEffect" fill="hold" presetClass="entr" presetID="1">
                                  <p:stCondLst>
                                    <p:cond delay="0"/>
                                  </p:stCondLst>
                                  <p:childTnLst>
                                    <p:set>
                                      <p:cBhvr>
                                        <p:cTn id="485" dur="1" fill="hold">
                                          <p:stCondLst>
                                            <p:cond delay="0"/>
                                          </p:stCondLst>
                                        </p:cTn>
                                        <p:tgtEl>
                                          <p:spTgt spid="399">
                                            <p:txEl>
                                              <p:pRg st="5" end="5"/>
                                            </p:txEl>
                                          </p:spTgt>
                                        </p:tgtEl>
                                        <p:attrNameLst>
                                          <p:attrName>style.visibility</p:attrName>
                                        </p:attrNameLst>
                                      </p:cBhvr>
                                      <p:to>
                                        <p:strVal val="visible"/>
                                      </p:to>
                                    </p:set>
                                  </p:childTnLst>
                                </p:cTn>
                              </p:par>
                              <p:par>
                                <p:cTn id="486" nodeType="withEffect" fill="hold" presetClass="entr" presetID="1">
                                  <p:stCondLst>
                                    <p:cond delay="0"/>
                                  </p:stCondLst>
                                  <p:childTnLst>
                                    <p:set>
                                      <p:cBhvr>
                                        <p:cTn id="487" dur="1" fill="hold">
                                          <p:stCondLst>
                                            <p:cond delay="0"/>
                                          </p:stCondLst>
                                        </p:cTn>
                                        <p:tgtEl>
                                          <p:spTgt spid="399">
                                            <p:txEl>
                                              <p:pRg st="6" end="6"/>
                                            </p:txEl>
                                          </p:spTgt>
                                        </p:tgtEl>
                                        <p:attrNameLst>
                                          <p:attrName>style.visibility</p:attrName>
                                        </p:attrNameLst>
                                      </p:cBhvr>
                                      <p:to>
                                        <p:strVal val="visible"/>
                                      </p:to>
                                    </p:set>
                                  </p:childTnLst>
                                </p:cTn>
                              </p:par>
                              <p:par>
                                <p:cTn id="488" nodeType="withEffect" fill="hold" presetClass="entr" presetID="1">
                                  <p:stCondLst>
                                    <p:cond delay="0"/>
                                  </p:stCondLst>
                                  <p:childTnLst>
                                    <p:set>
                                      <p:cBhvr>
                                        <p:cTn id="489" dur="1" fill="hold">
                                          <p:stCondLst>
                                            <p:cond delay="0"/>
                                          </p:stCondLst>
                                        </p:cTn>
                                        <p:tgtEl>
                                          <p:spTgt spid="399">
                                            <p:txEl>
                                              <p:pRg st="7" end="7"/>
                                            </p:txEl>
                                          </p:spTgt>
                                        </p:tgtEl>
                                        <p:attrNameLst>
                                          <p:attrName>style.visibility</p:attrName>
                                        </p:attrNameLst>
                                      </p:cBhvr>
                                      <p:to>
                                        <p:strVal val="visible"/>
                                      </p:to>
                                    </p:set>
                                  </p:childTnLst>
                                </p:cTn>
                              </p:par>
                              <p:par>
                                <p:cTn id="490" nodeType="withEffect" fill="hold" presetClass="entr" presetID="1">
                                  <p:stCondLst>
                                    <p:cond delay="0"/>
                                  </p:stCondLst>
                                  <p:childTnLst>
                                    <p:set>
                                      <p:cBhvr>
                                        <p:cTn id="491" dur="1" fill="hold">
                                          <p:stCondLst>
                                            <p:cond delay="0"/>
                                          </p:stCondLst>
                                        </p:cTn>
                                        <p:tgtEl>
                                          <p:spTgt spid="399">
                                            <p:txEl>
                                              <p:pRg st="8" end="8"/>
                                            </p:txEl>
                                          </p:spTgt>
                                        </p:tgtEl>
                                        <p:attrNameLst>
                                          <p:attrName>style.visibility</p:attrName>
                                        </p:attrNameLst>
                                      </p:cBhvr>
                                      <p:to>
                                        <p:strVal val="visible"/>
                                      </p:to>
                                    </p:set>
                                  </p:childTnLst>
                                </p:cTn>
                              </p:par>
                              <p:par>
                                <p:cTn id="492" nodeType="withEffect" fill="hold" presetClass="entr" presetID="1">
                                  <p:stCondLst>
                                    <p:cond delay="0"/>
                                  </p:stCondLst>
                                  <p:childTnLst>
                                    <p:set>
                                      <p:cBhvr>
                                        <p:cTn id="493" dur="1" fill="hold">
                                          <p:stCondLst>
                                            <p:cond delay="0"/>
                                          </p:stCondLst>
                                        </p:cTn>
                                        <p:tgtEl>
                                          <p:spTgt spid="399">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57200" y="207000"/>
            <a:ext cx="9880200" cy="533160"/>
          </a:xfrm>
          <a:prstGeom prst="rect">
            <a:avLst/>
          </a:prstGeom>
          <a:noFill/>
          <a:ln w="0">
            <a:noFill/>
          </a:ln>
        </p:spPr>
        <p:txBody>
          <a:bodyPr numCol="1" spcCol="0" anchor="ctr">
            <a:normAutofit fontScale="71000"/>
          </a:bodyPr>
          <a:p>
            <a:pPr>
              <a:lnSpc>
                <a:spcPct val="100000"/>
              </a:lnSpc>
              <a:buNone/>
            </a:pPr>
            <a:r>
              <a:rPr b="0" lang="en-US" sz="4000" spc="-1" strike="noStrike">
                <a:solidFill>
                  <a:srgbClr val="3366cc"/>
                </a:solidFill>
                <a:latin typeface="Calibri"/>
                <a:ea typeface="Calibri"/>
              </a:rPr>
              <a:t>Visually Rich Document Understanding </a:t>
            </a:r>
            <a:endParaRPr b="0" lang="en-US" sz="4000" spc="-1" strike="noStrike">
              <a:solidFill>
                <a:srgbClr val="000000"/>
              </a:solidFill>
              <a:latin typeface="Calibri"/>
            </a:endParaRPr>
          </a:p>
        </p:txBody>
      </p:sp>
      <p:sp>
        <p:nvSpPr>
          <p:cNvPr id="402" name="PlaceHolder 2"/>
          <p:cNvSpPr>
            <a:spLocks noGrp="1"/>
          </p:cNvSpPr>
          <p:nvPr>
            <p:ph/>
          </p:nvPr>
        </p:nvSpPr>
        <p:spPr>
          <a:xfrm>
            <a:off x="609480" y="1252440"/>
            <a:ext cx="5169960" cy="4484160"/>
          </a:xfrm>
          <a:prstGeom prst="rect">
            <a:avLst/>
          </a:prstGeom>
          <a:noFill/>
          <a:ln w="0">
            <a:noFill/>
          </a:ln>
        </p:spPr>
        <p:txBody>
          <a:bodyPr numCol="1" spcCol="0" anchor="t">
            <a:norm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Documents combine text, figures, tables, and charts </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Meaning depends on layout and reading order</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A caption only makes sense next to its figure</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A table cell only makes sense under its header</a:t>
            </a:r>
            <a:endParaRPr b="0" lang="en-US" sz="20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p:txBody>
      </p:sp>
      <p:sp>
        <p:nvSpPr>
          <p:cNvPr id="403" name="PlaceHolder 3"/>
          <p:cNvSpPr>
            <a:spLocks noGrp="1"/>
          </p:cNvSpPr>
          <p:nvPr>
            <p:ph type="sldNum" idx="12"/>
          </p:nvPr>
        </p:nvSpPr>
        <p:spPr>
          <a:xfrm>
            <a:off x="11292120" y="6523920"/>
            <a:ext cx="507600" cy="228240"/>
          </a:xfrm>
          <a:prstGeom prst="rect">
            <a:avLst/>
          </a:prstGeom>
          <a:noFill/>
          <a:ln w="0">
            <a:noFill/>
          </a:ln>
        </p:spPr>
        <p:txBody>
          <a:bodyPr numCol="1" spcCol="0" anchor="b">
            <a:normAutofit fontScale="75000"/>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934C8403-3159-4FCB-A129-B9AED3EE11F4}" type="slidenum">
              <a:rPr b="0" lang="en-US" sz="1200" spc="-1" strike="noStrike">
                <a:solidFill>
                  <a:srgbClr val="000000"/>
                </a:solidFill>
                <a:latin typeface="Calibri"/>
                <a:ea typeface="Arial Unicode MS"/>
              </a:rPr>
              <a:t>&lt;number&gt;</a:t>
            </a:fld>
            <a:endParaRPr b="0" lang="en-US" sz="1200" spc="-1" strike="noStrike">
              <a:latin typeface="Times New Roman"/>
            </a:endParaRPr>
          </a:p>
        </p:txBody>
      </p:sp>
      <p:pic>
        <p:nvPicPr>
          <p:cNvPr id="404" name="Picture 5" descr=""/>
          <p:cNvPicPr/>
          <p:nvPr/>
        </p:nvPicPr>
        <p:blipFill>
          <a:blip r:embed="rId1"/>
          <a:stretch/>
        </p:blipFill>
        <p:spPr>
          <a:xfrm>
            <a:off x="5596920" y="1909800"/>
            <a:ext cx="6202800" cy="32407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Off-Line &amp; Inference-Time Processing</a:t>
            </a:r>
            <a:endParaRPr b="0" lang="en-US" sz="4000" spc="-1" strike="noStrike">
              <a:solidFill>
                <a:srgbClr val="000000"/>
              </a:solidFill>
              <a:latin typeface="Calibri"/>
            </a:endParaRPr>
          </a:p>
        </p:txBody>
      </p:sp>
      <p:sp>
        <p:nvSpPr>
          <p:cNvPr id="406" name="PlaceHolder 2"/>
          <p:cNvSpPr>
            <a:spLocks noGrp="1"/>
          </p:cNvSpPr>
          <p:nvPr>
            <p:ph/>
          </p:nvPr>
        </p:nvSpPr>
        <p:spPr>
          <a:xfrm>
            <a:off x="363600" y="1118160"/>
            <a:ext cx="5732280" cy="4988520"/>
          </a:xfrm>
          <a:prstGeom prst="rect">
            <a:avLst/>
          </a:prstGeom>
          <a:solidFill>
            <a:srgbClr val="f2f2f2"/>
          </a:solidFill>
          <a:ln w="28440">
            <a:solidFill>
              <a:srgbClr val="478fe1"/>
            </a:solidFill>
            <a:round/>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3366cc"/>
                </a:solidFill>
                <a:latin typeface="Calibri"/>
                <a:ea typeface="Calibri"/>
              </a:rPr>
              <a:t>Ingestion:</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VLM processing page by page. </a:t>
            </a:r>
            <a:endParaRPr b="0" lang="en-US" sz="24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For each page, extract visible elements: </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paragraphs, tables, figures, section headers, footnotes, </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Generate rich metadata for each:</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Positions; types; content; summary </a:t>
            </a:r>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Generate two indices:</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Symbolic index: structured properties and explicit relationships. </a:t>
            </a:r>
            <a:endParaRPr b="0" lang="en-US" sz="20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Neural index: Vector embeddings of the self-contained summaries of all nodes.</a:t>
            </a:r>
            <a:endParaRPr b="0" lang="en-US" sz="20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a:p>
            <a:pPr>
              <a:lnSpc>
                <a:spcPct val="100000"/>
              </a:lnSpc>
              <a:spcBef>
                <a:spcPts val="479"/>
              </a:spcBef>
              <a:buNone/>
              <a:tabLst>
                <a:tab algn="l" pos="0"/>
              </a:tabLst>
            </a:pPr>
            <a:endParaRPr b="0" lang="en-US" sz="2400" spc="-1" strike="noStrike">
              <a:solidFill>
                <a:srgbClr val="000000"/>
              </a:solidFill>
              <a:latin typeface="Calibri"/>
            </a:endParaRPr>
          </a:p>
        </p:txBody>
      </p:sp>
      <p:sp>
        <p:nvSpPr>
          <p:cNvPr id="407" name="PlaceHolder 3"/>
          <p:cNvSpPr>
            <a:spLocks noGrp="1"/>
          </p:cNvSpPr>
          <p:nvPr>
            <p:ph type="sldNum" idx="13"/>
          </p:nvPr>
        </p:nvSpPr>
        <p:spPr>
          <a:xfrm>
            <a:off x="11292120" y="6523920"/>
            <a:ext cx="507600" cy="228240"/>
          </a:xfrm>
          <a:prstGeom prst="rect">
            <a:avLst/>
          </a:prstGeom>
          <a:noFill/>
          <a:ln w="0">
            <a:noFill/>
          </a:ln>
        </p:spPr>
        <p:txBody>
          <a:bodyPr numCol="1" spcCol="0" anchor="b">
            <a:noAutofit/>
          </a:bodyPr>
          <a:lstStyle>
            <a:lvl1pPr algn="ctr">
              <a:lnSpc>
                <a:spcPct val="100000"/>
              </a:lnSpc>
              <a:buNone/>
              <a:defRPr b="0" lang="en-US" sz="1200" spc="-1" strike="noStrike">
                <a:solidFill>
                  <a:srgbClr val="000000"/>
                </a:solidFill>
                <a:latin typeface="Calibri"/>
                <a:ea typeface="Arial Unicode MS"/>
              </a:defRPr>
            </a:lvl1pPr>
          </a:lstStyle>
          <a:p>
            <a:pPr algn="ctr">
              <a:lnSpc>
                <a:spcPct val="100000"/>
              </a:lnSpc>
              <a:buNone/>
            </a:pPr>
            <a:fld id="{4AC45171-FFFF-4487-909D-C580A993009F}" type="slidenum">
              <a:rPr b="0" lang="en-US" sz="1200" spc="-1" strike="noStrike">
                <a:solidFill>
                  <a:srgbClr val="000000"/>
                </a:solidFill>
                <a:latin typeface="Calibri"/>
                <a:ea typeface="Arial Unicode MS"/>
              </a:rPr>
              <a:t>&lt;number&gt;</a:t>
            </a:fld>
            <a:endParaRPr b="0" lang="en-US" sz="1200" spc="-1" strike="noStrike">
              <a:latin typeface="Times New Roman"/>
            </a:endParaRPr>
          </a:p>
        </p:txBody>
      </p:sp>
      <p:sp>
        <p:nvSpPr>
          <p:cNvPr id="408" name="Content Placeholder 2"/>
          <p:cNvSpPr/>
          <p:nvPr/>
        </p:nvSpPr>
        <p:spPr>
          <a:xfrm>
            <a:off x="6508440" y="1118160"/>
            <a:ext cx="5732280" cy="4988520"/>
          </a:xfrm>
          <a:prstGeom prst="rect">
            <a:avLst/>
          </a:prstGeom>
          <a:solidFill>
            <a:schemeClr val="bg1">
              <a:lumMod val="85000"/>
            </a:schemeClr>
          </a:solidFill>
          <a:ln w="28575">
            <a:solidFill>
              <a:srgbClr val="478fe1"/>
            </a:solidFill>
            <a:miter/>
          </a:ln>
        </p:spPr>
        <p:style>
          <a:lnRef idx="0"/>
          <a:fillRef idx="0"/>
          <a:effectRef idx="0"/>
          <a:fontRef idx="minor"/>
        </p:style>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3366cc"/>
                </a:solidFill>
                <a:latin typeface="Calibri"/>
                <a:ea typeface="Calibri"/>
              </a:rPr>
              <a:t>Inference:</a:t>
            </a:r>
            <a:endParaRPr b="0" lang="en-US" sz="24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Uses an LLM agent to iteratively search  across both indices, with three tools:</a:t>
            </a:r>
            <a:endParaRPr b="0" lang="en-US" sz="2400" spc="-1" strike="noStrike">
              <a:latin typeface="Arial"/>
            </a:endParaRPr>
          </a:p>
          <a:p>
            <a:pPr>
              <a:lnSpc>
                <a:spcPct val="100000"/>
              </a:lnSpc>
              <a:spcBef>
                <a:spcPts val="479"/>
              </a:spcBef>
              <a:buNone/>
            </a:pPr>
            <a:endParaRPr b="0" lang="en-US" sz="24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NeuroSemanticSearch(query):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Standard embedding similarity search. </a:t>
            </a:r>
            <a:endParaRPr b="0" lang="en-US" sz="20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SymbolicGraphQuery: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Structured queries over the document graph. </a:t>
            </a:r>
            <a:endParaRPr b="0" lang="en-US" sz="2000" spc="-1" strike="noStrike">
              <a:latin typeface="Arial"/>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Contextualize: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Given a node, expand to related content via graph structure. (Louvain community detection)</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Off-Line &amp; Inference-Time Processing</a:t>
            </a:r>
            <a:endParaRPr b="0" lang="en-US" sz="4000" spc="-1" strike="noStrike">
              <a:solidFill>
                <a:srgbClr val="000000"/>
              </a:solidFill>
              <a:latin typeface="Calibri"/>
            </a:endParaRPr>
          </a:p>
        </p:txBody>
      </p:sp>
      <p:pic>
        <p:nvPicPr>
          <p:cNvPr id="410" name="Content Placeholder 8" descr=""/>
          <p:cNvPicPr/>
          <p:nvPr/>
        </p:nvPicPr>
        <p:blipFill>
          <a:blip r:embed="rId1"/>
          <a:stretch/>
        </p:blipFill>
        <p:spPr>
          <a:xfrm>
            <a:off x="1413720" y="951120"/>
            <a:ext cx="9364320" cy="5122440"/>
          </a:xfrm>
          <a:prstGeom prst="rect">
            <a:avLst/>
          </a:prstGeom>
          <a:ln w="0">
            <a:noFill/>
          </a:ln>
        </p:spPr>
      </p:pic>
      <p:sp>
        <p:nvSpPr>
          <p:cNvPr id="411" name="TextBox 13"/>
          <p:cNvSpPr/>
          <p:nvPr/>
        </p:nvSpPr>
        <p:spPr>
          <a:xfrm>
            <a:off x="2047320" y="5702400"/>
            <a:ext cx="8097120" cy="912600"/>
          </a:xfrm>
          <a:prstGeom prst="rect">
            <a:avLst/>
          </a:prstGeom>
          <a:solidFill>
            <a:schemeClr val="bg1">
              <a:lumMod val="95000"/>
            </a:schemeClr>
          </a:solidFill>
          <a:ln w="28575">
            <a:solidFill>
              <a:srgbClr val="478fe1"/>
            </a:solidFill>
            <a:round/>
          </a:ln>
        </p:spPr>
        <p:style>
          <a:lnRef idx="0"/>
          <a:fillRef idx="0"/>
          <a:effectRef idx="0"/>
          <a:fontRef idx="minor"/>
        </p:style>
        <p:txBody>
          <a:bodyPr lIns="90000" rIns="90000" tIns="45000" bIns="45000" anchor="t">
            <a:spAutoFit/>
          </a:bodyPr>
          <a:p>
            <a:pPr algn="ctr">
              <a:lnSpc>
                <a:spcPct val="100000"/>
              </a:lnSpc>
              <a:spcAft>
                <a:spcPts val="1199"/>
              </a:spcAft>
              <a:buNone/>
              <a:tabLst>
                <a:tab algn="l" pos="0"/>
              </a:tabLst>
            </a:pPr>
            <a:r>
              <a:rPr b="0" lang="en-US" sz="1800" spc="-1" strike="noStrike">
                <a:solidFill>
                  <a:srgbClr val="000000"/>
                </a:solidFill>
                <a:latin typeface="Calibri"/>
              </a:rPr>
              <a:t>LAD-RAG consistently outperforms all retrieval baselines across multiple benchmarks (multiple models) both at Retrieval evaluation and end-2-end QA performance. </a:t>
            </a:r>
            <a:endParaRPr b="0" lang="en-US" sz="1800" spc="-1" strike="noStrike">
              <a:latin typeface="Arial"/>
            </a:endParaRPr>
          </a:p>
        </p:txBody>
      </p:sp>
      <p:sp>
        <p:nvSpPr>
          <p:cNvPr id="3" name="PlaceHolder 2"/>
          <p:cNvSpPr>
            <a:spLocks noGrp="1"/>
          </p:cNvSpPr>
          <p:nvPr>
            <p:ph type="sldNum" idx="2"/>
          </p:nvPr>
        </p:nvSpPr>
        <p:spPr/>
        <p:txBody>
          <a:bodyPr/>
          <a:p>
            <a:fld id="{559719F5-2B81-4F87-9153-46FFA696FCDD}"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Planning &amp; Optimization </a:t>
            </a:r>
            <a:endParaRPr b="0" lang="en-US" sz="4000" spc="-1" strike="noStrike">
              <a:solidFill>
                <a:srgbClr val="000000"/>
              </a:solidFill>
              <a:latin typeface="Calibri"/>
            </a:endParaRPr>
          </a:p>
        </p:txBody>
      </p:sp>
      <p:sp>
        <p:nvSpPr>
          <p:cNvPr id="413" name="PlaceHolder 2"/>
          <p:cNvSpPr>
            <a:spLocks noGrp="1"/>
          </p:cNvSpPr>
          <p:nvPr>
            <p:ph/>
          </p:nvPr>
        </p:nvSpPr>
        <p:spPr>
          <a:xfrm>
            <a:off x="609480" y="1251720"/>
            <a:ext cx="10972440" cy="4484520"/>
          </a:xfrm>
          <a:prstGeom prst="rect">
            <a:avLst/>
          </a:prstGeom>
          <a:noFill/>
          <a:ln w="0">
            <a:noFill/>
          </a:ln>
        </p:spPr>
        <p:txBody>
          <a:bodyPr numCol="1" spcCol="0" anchor="t">
            <a:no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There is a lot to say about the computational issues underlying planning</a:t>
            </a: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Constraint Optimization Problem: Models cannot do it well without translation to external solvers [Wang et al.’26]</a:t>
            </a:r>
            <a:endParaRPr b="0" lang="en-US" sz="2000" spc="-1" strike="noStrike">
              <a:solidFill>
                <a:srgbClr val="000000"/>
              </a:solidFill>
              <a:latin typeface="Calibri"/>
            </a:endParaRPr>
          </a:p>
          <a:p>
            <a:endParaRPr b="0" lang="en-US" sz="2000" spc="-1" strike="noStrike">
              <a:solidFill>
                <a:srgbClr val="000000"/>
              </a:solidFill>
              <a:latin typeface="Calibri"/>
            </a:endParaRPr>
          </a:p>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Planning for accessing, aggregating &amp; organizing data for AI</a:t>
            </a:r>
            <a:endParaRPr b="0" lang="en-US" sz="2400" spc="-1" strike="noStrike">
              <a:solidFill>
                <a:srgbClr val="000000"/>
              </a:solidFill>
              <a:latin typeface="Calibri"/>
            </a:endParaRPr>
          </a:p>
          <a:p>
            <a:pPr>
              <a:lnSpc>
                <a:spcPct val="100000"/>
              </a:lnSpc>
              <a:spcBef>
                <a:spcPts val="479"/>
              </a:spcBef>
              <a:buNone/>
            </a:pPr>
            <a:endParaRPr b="0" lang="en-US" sz="2400" spc="-1" strike="noStrike">
              <a:solidFill>
                <a:srgbClr val="000000"/>
              </a:solidFill>
              <a:latin typeface="Calibri"/>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The challenge: Planning to access multiple knowledge sources is typically done with incomplete information</a:t>
            </a:r>
            <a:endParaRPr b="0" lang="en-US" sz="2000" spc="-1" strike="noStrike">
              <a:solidFill>
                <a:srgbClr val="000000"/>
              </a:solidFill>
              <a:latin typeface="Calibri"/>
            </a:endParaRPr>
          </a:p>
        </p:txBody>
      </p:sp>
      <p:sp>
        <p:nvSpPr>
          <p:cNvPr id="4" name="PlaceHolder 3"/>
          <p:cNvSpPr>
            <a:spLocks noGrp="1"/>
          </p:cNvSpPr>
          <p:nvPr>
            <p:ph type="sldNum" idx="2"/>
          </p:nvPr>
        </p:nvSpPr>
        <p:spPr/>
        <p:txBody>
          <a:bodyPr/>
          <a:p>
            <a:fld id="{50C2ECAD-CDFF-4CFD-85FE-369F8B430E00}"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And How About Coding Agents?</a:t>
            </a:r>
            <a:endParaRPr b="0" lang="en-US" sz="4000" spc="-1" strike="noStrike">
              <a:solidFill>
                <a:srgbClr val="000000"/>
              </a:solidFill>
              <a:latin typeface="Calibri"/>
            </a:endParaRPr>
          </a:p>
        </p:txBody>
      </p:sp>
      <p:pic>
        <p:nvPicPr>
          <p:cNvPr id="415" name="Content Placeholder 7" descr=""/>
          <p:cNvPicPr/>
          <p:nvPr/>
        </p:nvPicPr>
        <p:blipFill>
          <a:blip r:embed="rId1"/>
          <a:stretch/>
        </p:blipFill>
        <p:spPr>
          <a:xfrm>
            <a:off x="784080" y="1523880"/>
            <a:ext cx="5239080" cy="4999680"/>
          </a:xfrm>
          <a:prstGeom prst="rect">
            <a:avLst/>
          </a:prstGeom>
          <a:ln w="28575">
            <a:solidFill>
              <a:srgbClr val="000000"/>
            </a:solidFill>
            <a:miter/>
          </a:ln>
        </p:spPr>
      </p:pic>
      <p:sp>
        <p:nvSpPr>
          <p:cNvPr id="416" name="Speech Bubble: Rectangle 8"/>
          <p:cNvSpPr/>
          <p:nvPr/>
        </p:nvSpPr>
        <p:spPr>
          <a:xfrm>
            <a:off x="8397720" y="2576880"/>
            <a:ext cx="1787760" cy="614160"/>
          </a:xfrm>
          <a:prstGeom prst="wedgeRectCallout">
            <a:avLst>
              <a:gd name="adj1" fmla="val -176504"/>
              <a:gd name="adj2" fmla="val 213910"/>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Which is bigger?</a:t>
            </a:r>
            <a:endParaRPr b="0" lang="en-US" sz="1800" spc="-1" strike="noStrike">
              <a:latin typeface="Arial"/>
            </a:endParaRPr>
          </a:p>
        </p:txBody>
      </p:sp>
      <p:sp>
        <p:nvSpPr>
          <p:cNvPr id="417" name="Speech Bubble: Rectangle 9"/>
          <p:cNvSpPr/>
          <p:nvPr/>
        </p:nvSpPr>
        <p:spPr>
          <a:xfrm>
            <a:off x="8397720" y="2584800"/>
            <a:ext cx="1787760" cy="614160"/>
          </a:xfrm>
          <a:prstGeom prst="wedgeRectCallout">
            <a:avLst>
              <a:gd name="adj1" fmla="val -173067"/>
              <a:gd name="adj2" fmla="val 275282"/>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Which is bigger?</a:t>
            </a:r>
            <a:endParaRPr b="0" lang="en-US" sz="1800" spc="-1" strike="noStrike">
              <a:latin typeface="Arial"/>
            </a:endParaRPr>
          </a:p>
        </p:txBody>
      </p:sp>
      <p:sp>
        <p:nvSpPr>
          <p:cNvPr id="418" name="Speech Bubble: Rectangle 10"/>
          <p:cNvSpPr/>
          <p:nvPr/>
        </p:nvSpPr>
        <p:spPr>
          <a:xfrm>
            <a:off x="6430320" y="2584800"/>
            <a:ext cx="1787760" cy="614160"/>
          </a:xfrm>
          <a:prstGeom prst="wedgeRectCallout">
            <a:avLst>
              <a:gd name="adj1" fmla="val -64112"/>
              <a:gd name="adj2" fmla="val -96511"/>
            </a:avLst>
          </a:prstGeom>
          <a:solidFill>
            <a:schemeClr val="bg1">
              <a:lumMod val="9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Anyone missing?</a:t>
            </a:r>
            <a:endParaRPr b="0" lang="en-US" sz="1800" spc="-1" strike="noStrike">
              <a:latin typeface="Arial"/>
            </a:endParaRPr>
          </a:p>
        </p:txBody>
      </p:sp>
      <p:sp>
        <p:nvSpPr>
          <p:cNvPr id="419" name="Speech Bubble: Rectangle 11"/>
          <p:cNvSpPr/>
          <p:nvPr/>
        </p:nvSpPr>
        <p:spPr>
          <a:xfrm>
            <a:off x="8625240" y="3868560"/>
            <a:ext cx="1787760" cy="614160"/>
          </a:xfrm>
          <a:prstGeom prst="wedgeRectCallout">
            <a:avLst>
              <a:gd name="adj1" fmla="val -189849"/>
              <a:gd name="adj2" fmla="val 3267"/>
            </a:avLst>
          </a:prstGeom>
          <a:solidFill>
            <a:schemeClr val="bg1">
              <a:lumMod val="8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Which is bigger?</a:t>
            </a:r>
            <a:endParaRPr b="0" lang="en-US" sz="1800" spc="-1" strike="noStrike">
              <a:latin typeface="Arial"/>
            </a:endParaRPr>
          </a:p>
        </p:txBody>
      </p:sp>
      <p:sp>
        <p:nvSpPr>
          <p:cNvPr id="420" name="Speech Bubble: Rectangle 12"/>
          <p:cNvSpPr/>
          <p:nvPr/>
        </p:nvSpPr>
        <p:spPr>
          <a:xfrm>
            <a:off x="8549640" y="3868560"/>
            <a:ext cx="1938960" cy="614160"/>
          </a:xfrm>
          <a:prstGeom prst="wedgeRectCallout">
            <a:avLst>
              <a:gd name="adj1" fmla="val -177202"/>
              <a:gd name="adj2" fmla="val 109819"/>
            </a:avLst>
          </a:prstGeom>
          <a:solidFill>
            <a:schemeClr val="bg1">
              <a:lumMod val="85000"/>
            </a:schemeClr>
          </a:solidFill>
          <a:ln w="12700">
            <a:solidFill>
              <a:srgbClr val="5b9bd5"/>
            </a:solidFill>
            <a:round/>
          </a:ln>
          <a:effectLst>
            <a:outerShdw algn="tl" blurRad="50760" dir="2700000" dist="37674"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alibri"/>
                <a:ea typeface="Calibri"/>
              </a:rPr>
              <a:t>Identical Income?</a:t>
            </a:r>
            <a:endParaRPr b="0" lang="en-US" sz="1800" spc="-1" strike="noStrike">
              <a:latin typeface="Arial"/>
            </a:endParaRPr>
          </a:p>
        </p:txBody>
      </p:sp>
      <p:sp>
        <p:nvSpPr>
          <p:cNvPr id="421" name="Content Placeholder 2"/>
          <p:cNvSpPr/>
          <p:nvPr/>
        </p:nvSpPr>
        <p:spPr>
          <a:xfrm>
            <a:off x="6168600" y="5040720"/>
            <a:ext cx="5860080" cy="1361880"/>
          </a:xfrm>
          <a:prstGeom prst="rect">
            <a:avLst/>
          </a:prstGeom>
          <a:solidFill>
            <a:schemeClr val="bg1">
              <a:lumMod val="95000"/>
            </a:schemeClr>
          </a:solidFill>
          <a:ln w="9525">
            <a:solidFill>
              <a:srgbClr val="00000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1" lang="en-US" sz="2000" spc="-1" strike="noStrike">
                <a:solidFill>
                  <a:srgbClr val="000000"/>
                </a:solidFill>
                <a:latin typeface="Calibri"/>
                <a:ea typeface="Calibri"/>
              </a:rPr>
              <a:t>Coding Agents are doing things faster than we can</a:t>
            </a:r>
            <a:endParaRPr b="0" lang="en-US" sz="2000" spc="-1" strike="noStrike">
              <a:latin typeface="Arial"/>
            </a:endParaRPr>
          </a:p>
          <a:p>
            <a:pPr marL="343080" indent="-343080">
              <a:lnSpc>
                <a:spcPct val="100000"/>
              </a:lnSpc>
              <a:spcBef>
                <a:spcPts val="400"/>
              </a:spcBef>
              <a:buClr>
                <a:srgbClr val="3b3838"/>
              </a:buClr>
              <a:buSzPct val="75000"/>
              <a:buFont typeface="Wingdings" charset="2"/>
              <a:buChar char=""/>
            </a:pPr>
            <a:r>
              <a:rPr b="1" lang="en-US" sz="2000" spc="-1" strike="noStrike">
                <a:solidFill>
                  <a:srgbClr val="000000"/>
                </a:solidFill>
                <a:latin typeface="Calibri"/>
                <a:ea typeface="Calibri"/>
              </a:rPr>
              <a:t>But they are prone to errors &amp; high cost</a:t>
            </a:r>
            <a:endParaRPr b="0" lang="en-US" sz="2000" spc="-1" strike="noStrike">
              <a:latin typeface="Arial"/>
            </a:endParaRPr>
          </a:p>
          <a:p>
            <a:pPr lvl="1" marL="743040" indent="-285840">
              <a:lnSpc>
                <a:spcPct val="100000"/>
              </a:lnSpc>
              <a:spcBef>
                <a:spcPts val="360"/>
              </a:spcBef>
              <a:buClr>
                <a:srgbClr val="3b3838"/>
              </a:buClr>
              <a:buSzPct val="80000"/>
              <a:buFont typeface="Wingdings" charset="2"/>
              <a:buChar char=""/>
            </a:pPr>
            <a:r>
              <a:rPr b="0" lang="en-US" sz="1800" spc="-1" strike="noStrike">
                <a:solidFill>
                  <a:srgbClr val="3366cc"/>
                </a:solidFill>
                <a:latin typeface="Calibri"/>
                <a:ea typeface="Calibri"/>
              </a:rPr>
              <a:t>From </a:t>
            </a:r>
            <a:r>
              <a:rPr b="1" lang="en-US" sz="1800" spc="-1" strike="noStrike">
                <a:solidFill>
                  <a:srgbClr val="3366cc"/>
                </a:solidFill>
                <a:latin typeface="Calibri"/>
                <a:ea typeface="Calibri"/>
              </a:rPr>
              <a:t>safety</a:t>
            </a:r>
            <a:r>
              <a:rPr b="0" lang="en-US" sz="1800" spc="-1" strike="noStrike">
                <a:solidFill>
                  <a:srgbClr val="3366cc"/>
                </a:solidFill>
                <a:latin typeface="Calibri"/>
                <a:ea typeface="Calibri"/>
              </a:rPr>
              <a:t> to </a:t>
            </a:r>
            <a:r>
              <a:rPr b="1" lang="en-US" sz="1800" spc="-1" strike="noStrike">
                <a:solidFill>
                  <a:srgbClr val="3366cc"/>
                </a:solidFill>
                <a:latin typeface="Calibri"/>
                <a:ea typeface="Calibri"/>
              </a:rPr>
              <a:t>mistakes</a:t>
            </a:r>
            <a:r>
              <a:rPr b="0" lang="en-US" sz="1800" spc="-1" strike="noStrike">
                <a:solidFill>
                  <a:srgbClr val="3366cc"/>
                </a:solidFill>
                <a:latin typeface="Calibri"/>
                <a:ea typeface="Calibri"/>
              </a:rPr>
              <a:t> – especially when the tasks involve knowledge retrieval and use</a:t>
            </a:r>
            <a:endParaRPr b="0" lang="en-US" sz="1800" spc="-1" strike="noStrike">
              <a:latin typeface="Arial"/>
            </a:endParaRPr>
          </a:p>
        </p:txBody>
      </p:sp>
      <p:pic>
        <p:nvPicPr>
          <p:cNvPr id="422" name="Picture 15" descr=""/>
          <p:cNvPicPr/>
          <p:nvPr/>
        </p:nvPicPr>
        <p:blipFill>
          <a:blip r:embed="rId2"/>
          <a:stretch/>
        </p:blipFill>
        <p:spPr>
          <a:xfrm>
            <a:off x="703440" y="879480"/>
            <a:ext cx="5400360" cy="580680"/>
          </a:xfrm>
          <a:prstGeom prst="rect">
            <a:avLst/>
          </a:prstGeom>
          <a:ln w="28575">
            <a:solidFill>
              <a:srgbClr val="c00000"/>
            </a:solidFill>
            <a:round/>
          </a:ln>
        </p:spPr>
      </p:pic>
      <p:sp>
        <p:nvSpPr>
          <p:cNvPr id="423" name="Content Placeholder 2"/>
          <p:cNvSpPr/>
          <p:nvPr/>
        </p:nvSpPr>
        <p:spPr>
          <a:xfrm>
            <a:off x="6217560" y="899640"/>
            <a:ext cx="5860080" cy="1361880"/>
          </a:xfrm>
          <a:prstGeom prst="rect">
            <a:avLst/>
          </a:prstGeom>
          <a:solidFill>
            <a:schemeClr val="bg1">
              <a:lumMod val="95000"/>
            </a:schemeClr>
          </a:solidFill>
          <a:ln w="9525">
            <a:solidFill>
              <a:srgbClr val="000000"/>
            </a:solidFill>
            <a:miter/>
          </a:ln>
        </p:spPr>
        <p:style>
          <a:lnRef idx="0"/>
          <a:fillRef idx="0"/>
          <a:effectRef idx="0"/>
          <a:fontRef idx="minor"/>
        </p:style>
        <p:txBody>
          <a:bodyPr numCol="1" spcCol="0" anchor="t">
            <a:noAutofit/>
          </a:bodyPr>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One key difficulty is </a:t>
            </a:r>
            <a:r>
              <a:rPr b="1" lang="en-US" sz="2000" spc="-1" strike="noStrike">
                <a:solidFill>
                  <a:srgbClr val="000000"/>
                </a:solidFill>
                <a:latin typeface="Calibri"/>
                <a:ea typeface="Calibri"/>
              </a:rPr>
              <a:t>planning: </a:t>
            </a:r>
            <a:r>
              <a:rPr b="0" lang="en-US" sz="2000" spc="-1" strike="noStrike">
                <a:solidFill>
                  <a:srgbClr val="000000"/>
                </a:solidFill>
                <a:latin typeface="Calibri"/>
                <a:ea typeface="Calibri"/>
              </a:rPr>
              <a:t>some plans are easier to execute than others.</a:t>
            </a:r>
            <a:endParaRPr b="0" lang="en-US" sz="2000" spc="-1" strike="noStrike">
              <a:latin typeface="Arial"/>
            </a:endParaRPr>
          </a:p>
          <a:p>
            <a:pPr lvl="1" marL="743040" indent="-285840">
              <a:lnSpc>
                <a:spcPct val="100000"/>
              </a:lnSpc>
              <a:spcBef>
                <a:spcPts val="320"/>
              </a:spcBef>
              <a:buClr>
                <a:srgbClr val="3b3838"/>
              </a:buClr>
              <a:buSzPct val="80000"/>
              <a:buFont typeface="Wingdings" charset="2"/>
              <a:buChar char=""/>
            </a:pPr>
            <a:r>
              <a:rPr b="0" lang="en-US" sz="1600" spc="-1" strike="noStrike">
                <a:solidFill>
                  <a:srgbClr val="3366cc"/>
                </a:solidFill>
                <a:latin typeface="Calibri"/>
                <a:ea typeface="Calibri"/>
              </a:rPr>
              <a:t>Should we start with a list of tournaments or players?</a:t>
            </a:r>
            <a:endParaRPr b="0" lang="en-US" sz="1600" spc="-1" strike="noStrike">
              <a:latin typeface="Arial"/>
            </a:endParaRPr>
          </a:p>
          <a:p>
            <a:pPr marL="343080" indent="-343080">
              <a:lnSpc>
                <a:spcPct val="100000"/>
              </a:lnSpc>
              <a:spcBef>
                <a:spcPts val="400"/>
              </a:spcBef>
              <a:buClr>
                <a:srgbClr val="3b3838"/>
              </a:buClr>
              <a:buSzPct val="75000"/>
              <a:buFont typeface="Wingdings" charset="2"/>
              <a:buChar char=""/>
            </a:pPr>
            <a:r>
              <a:rPr b="0" lang="en-US" sz="2000" spc="-1" strike="noStrike">
                <a:solidFill>
                  <a:srgbClr val="000000"/>
                </a:solidFill>
                <a:latin typeface="Calibri"/>
                <a:ea typeface="Calibri"/>
              </a:rPr>
              <a:t>Depends on understanding the data in the domain </a:t>
            </a:r>
            <a:endParaRPr b="0" lang="en-US" sz="2000" spc="-1" strike="noStrike">
              <a:latin typeface="Arial"/>
            </a:endParaRPr>
          </a:p>
        </p:txBody>
      </p:sp>
      <p:sp>
        <p:nvSpPr>
          <p:cNvPr id="3" name="PlaceHolder 2"/>
          <p:cNvSpPr>
            <a:spLocks noGrp="1"/>
          </p:cNvSpPr>
          <p:nvPr>
            <p:ph type="sldNum" idx="2"/>
          </p:nvPr>
        </p:nvSpPr>
        <p:spPr/>
        <p:txBody>
          <a:bodyPr/>
          <a:p>
            <a:fld id="{7FA8F3F1-B3F7-4BDA-A1A1-33AEC4EDCC89}" type="slidenum">
              <a:t>30</a:t>
            </a:fld>
          </a:p>
        </p:txBody>
      </p:sp>
    </p:spTree>
  </p:cSld>
  <mc:AlternateContent>
    <mc:Choice Requires="p14">
      <p:transition spd="slow" p14:dur="2000"/>
    </mc:Choice>
    <mc:Fallback>
      <p:transition spd="slow"/>
    </mc:Fallback>
  </mc:AlternateContent>
  <p:timing>
    <p:tnLst>
      <p:par>
        <p:cTn id="494" dur="indefinite" restart="never" nodeType="tmRoot">
          <p:childTnLst>
            <p:seq>
              <p:cTn id="495" dur="indefinite" nodeType="mainSeq">
                <p:childTnLst>
                  <p:par>
                    <p:cTn id="496" fill="hold">
                      <p:stCondLst>
                        <p:cond delay="indefinite"/>
                      </p:stCondLst>
                      <p:childTnLst>
                        <p:par>
                          <p:cTn id="497" fill="hold">
                            <p:stCondLst>
                              <p:cond delay="0"/>
                            </p:stCondLst>
                            <p:childTnLst>
                              <p:par>
                                <p:cTn id="498" nodeType="clickEffect" fill="hold" presetClass="entr" presetID="1">
                                  <p:stCondLst>
                                    <p:cond delay="0"/>
                                  </p:stCondLst>
                                  <p:childTnLst>
                                    <p:set>
                                      <p:cBhvr>
                                        <p:cTn id="499" dur="1" fill="hold">
                                          <p:stCondLst>
                                            <p:cond delay="0"/>
                                          </p:stCondLst>
                                        </p:cTn>
                                        <p:tgtEl>
                                          <p:spTgt spid="416"/>
                                        </p:tgtEl>
                                        <p:attrNameLst>
                                          <p:attrName>style.visibility</p:attrName>
                                        </p:attrNameLst>
                                      </p:cBhvr>
                                      <p:to>
                                        <p:strVal val="visible"/>
                                      </p:to>
                                    </p:set>
                                  </p:childTnLst>
                                </p:cTn>
                              </p:par>
                              <p:par>
                                <p:cTn id="500" nodeType="withEffect" fill="hold" presetClass="entr" presetID="1">
                                  <p:stCondLst>
                                    <p:cond delay="0"/>
                                  </p:stCondLst>
                                  <p:childTnLst>
                                    <p:set>
                                      <p:cBhvr>
                                        <p:cTn id="501" dur="1" fill="hold">
                                          <p:stCondLst>
                                            <p:cond delay="0"/>
                                          </p:stCondLst>
                                        </p:cTn>
                                        <p:tgtEl>
                                          <p:spTgt spid="417"/>
                                        </p:tgtEl>
                                        <p:attrNameLst>
                                          <p:attrName>style.visibility</p:attrName>
                                        </p:attrNameLst>
                                      </p:cBhvr>
                                      <p:to>
                                        <p:strVal val="visible"/>
                                      </p:to>
                                    </p:set>
                                  </p:childTnLst>
                                </p:cTn>
                              </p:par>
                            </p:childTnLst>
                          </p:cTn>
                        </p:par>
                      </p:childTnLst>
                    </p:cTn>
                  </p:par>
                  <p:par>
                    <p:cTn id="502" fill="hold">
                      <p:stCondLst>
                        <p:cond delay="indefinite"/>
                      </p:stCondLst>
                      <p:childTnLst>
                        <p:par>
                          <p:cTn id="503" fill="hold">
                            <p:stCondLst>
                              <p:cond delay="0"/>
                            </p:stCondLst>
                            <p:childTnLst>
                              <p:par>
                                <p:cTn id="504" nodeType="clickEffect" fill="hold" presetClass="entr" presetID="1">
                                  <p:stCondLst>
                                    <p:cond delay="0"/>
                                  </p:stCondLst>
                                  <p:childTnLst>
                                    <p:set>
                                      <p:cBhvr>
                                        <p:cTn id="505" dur="1" fill="hold">
                                          <p:stCondLst>
                                            <p:cond delay="0"/>
                                          </p:stCondLst>
                                        </p:cTn>
                                        <p:tgtEl>
                                          <p:spTgt spid="418"/>
                                        </p:tgtEl>
                                        <p:attrNameLst>
                                          <p:attrName>style.visibility</p:attrName>
                                        </p:attrNameLst>
                                      </p:cBhvr>
                                      <p:to>
                                        <p:strVal val="visible"/>
                                      </p:to>
                                    </p:set>
                                  </p:childTnLst>
                                </p:cTn>
                              </p:par>
                            </p:childTnLst>
                          </p:cTn>
                        </p:par>
                      </p:childTnLst>
                    </p:cTn>
                  </p:par>
                  <p:par>
                    <p:cTn id="506" fill="hold">
                      <p:stCondLst>
                        <p:cond delay="indefinite"/>
                      </p:stCondLst>
                      <p:childTnLst>
                        <p:par>
                          <p:cTn id="507" fill="hold">
                            <p:stCondLst>
                              <p:cond delay="0"/>
                            </p:stCondLst>
                            <p:childTnLst>
                              <p:par>
                                <p:cTn id="508" nodeType="clickEffect" fill="hold" presetClass="entr" presetID="1">
                                  <p:stCondLst>
                                    <p:cond delay="0"/>
                                  </p:stCondLst>
                                  <p:childTnLst>
                                    <p:set>
                                      <p:cBhvr>
                                        <p:cTn id="509" dur="1" fill="hold">
                                          <p:stCondLst>
                                            <p:cond delay="0"/>
                                          </p:stCondLst>
                                        </p:cTn>
                                        <p:tgtEl>
                                          <p:spTgt spid="419"/>
                                        </p:tgtEl>
                                        <p:attrNameLst>
                                          <p:attrName>style.visibility</p:attrName>
                                        </p:attrNameLst>
                                      </p:cBhvr>
                                      <p:to>
                                        <p:strVal val="visible"/>
                                      </p:to>
                                    </p:set>
                                  </p:childTnLst>
                                </p:cTn>
                              </p:par>
                              <p:par>
                                <p:cTn id="510" nodeType="withEffect" fill="hold" presetClass="entr" presetID="1">
                                  <p:stCondLst>
                                    <p:cond delay="0"/>
                                  </p:stCondLst>
                                  <p:childTnLst>
                                    <p:set>
                                      <p:cBhvr>
                                        <p:cTn id="511" dur="1" fill="hold">
                                          <p:stCondLst>
                                            <p:cond delay="0"/>
                                          </p:stCondLst>
                                        </p:cTn>
                                        <p:tgtEl>
                                          <p:spTgt spid="420"/>
                                        </p:tgtEl>
                                        <p:attrNameLst>
                                          <p:attrName>style.visibility</p:attrName>
                                        </p:attrNameLst>
                                      </p:cBhvr>
                                      <p:to>
                                        <p:strVal val="visible"/>
                                      </p:to>
                                    </p:set>
                                  </p:childTnLst>
                                </p:cTn>
                              </p:par>
                            </p:childTnLst>
                          </p:cTn>
                        </p:par>
                      </p:childTnLst>
                    </p:cTn>
                  </p:par>
                  <p:par>
                    <p:cTn id="512" fill="hold">
                      <p:stCondLst>
                        <p:cond delay="indefinite"/>
                      </p:stCondLst>
                      <p:childTnLst>
                        <p:par>
                          <p:cTn id="513" fill="hold">
                            <p:stCondLst>
                              <p:cond delay="0"/>
                            </p:stCondLst>
                            <p:childTnLst>
                              <p:par>
                                <p:cTn id="514" nodeType="clickEffect" fill="hold" presetClass="entr" presetID="1">
                                  <p:stCondLst>
                                    <p:cond delay="0"/>
                                  </p:stCondLst>
                                  <p:childTnLst>
                                    <p:set>
                                      <p:cBhvr>
                                        <p:cTn id="515" dur="1" fill="hold">
                                          <p:stCondLst>
                                            <p:cond delay="0"/>
                                          </p:stCondLst>
                                        </p:cTn>
                                        <p:tgtEl>
                                          <p:spTgt spid="423"/>
                                        </p:tgtEl>
                                        <p:attrNameLst>
                                          <p:attrName>style.visibility</p:attrName>
                                        </p:attrNameLst>
                                      </p:cBhvr>
                                      <p:to>
                                        <p:strVal val="visible"/>
                                      </p:to>
                                    </p:set>
                                  </p:childTnLst>
                                </p:cTn>
                              </p:par>
                            </p:childTnLst>
                          </p:cTn>
                        </p:par>
                      </p:childTnLst>
                    </p:cTn>
                  </p:par>
                  <p:par>
                    <p:cTn id="516" fill="hold">
                      <p:stCondLst>
                        <p:cond delay="indefinite"/>
                      </p:stCondLst>
                      <p:childTnLst>
                        <p:par>
                          <p:cTn id="517" fill="hold">
                            <p:stCondLst>
                              <p:cond delay="0"/>
                            </p:stCondLst>
                            <p:childTnLst>
                              <p:par>
                                <p:cTn id="518" nodeType="clickEffect" fill="hold" presetClass="entr" presetID="1">
                                  <p:stCondLst>
                                    <p:cond delay="0"/>
                                  </p:stCondLst>
                                  <p:childTnLst>
                                    <p:set>
                                      <p:cBhvr>
                                        <p:cTn id="519"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4" name="Google Shape;119;p25" descr=""/>
          <p:cNvPicPr/>
          <p:nvPr/>
        </p:nvPicPr>
        <p:blipFill>
          <a:blip r:embed="rId1"/>
          <a:stretch/>
        </p:blipFill>
        <p:spPr>
          <a:xfrm>
            <a:off x="223920" y="922320"/>
            <a:ext cx="3607200" cy="4308480"/>
          </a:xfrm>
          <a:prstGeom prst="rect">
            <a:avLst/>
          </a:prstGeom>
          <a:ln w="28575">
            <a:solidFill>
              <a:srgbClr val="5b9bd5"/>
            </a:solidFill>
            <a:round/>
          </a:ln>
        </p:spPr>
      </p:pic>
      <p:pic>
        <p:nvPicPr>
          <p:cNvPr id="425" name="Google Shape;129;p26" descr=""/>
          <p:cNvPicPr/>
          <p:nvPr/>
        </p:nvPicPr>
        <p:blipFill>
          <a:blip r:embed="rId2"/>
          <a:stretch/>
        </p:blipFill>
        <p:spPr>
          <a:xfrm>
            <a:off x="4028040" y="922320"/>
            <a:ext cx="3817440" cy="2746440"/>
          </a:xfrm>
          <a:prstGeom prst="rect">
            <a:avLst/>
          </a:prstGeom>
          <a:ln w="28575">
            <a:solidFill>
              <a:srgbClr val="5b9bd5"/>
            </a:solidFill>
            <a:round/>
          </a:ln>
        </p:spPr>
      </p:pic>
      <p:sp>
        <p:nvSpPr>
          <p:cNvPr id="426"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3600" spc="-1" strike="noStrike">
                <a:solidFill>
                  <a:srgbClr val="3366cc"/>
                </a:solidFill>
                <a:latin typeface="Calibri"/>
                <a:ea typeface="Calibri"/>
              </a:rPr>
              <a:t>Conflicts, Perspectives, and Mis-/Disinformation</a:t>
            </a:r>
            <a:endParaRPr b="0" lang="en-US" sz="3600" spc="-1" strike="noStrike">
              <a:solidFill>
                <a:srgbClr val="000000"/>
              </a:solidFill>
              <a:latin typeface="Calibri"/>
            </a:endParaRPr>
          </a:p>
        </p:txBody>
      </p:sp>
      <p:sp>
        <p:nvSpPr>
          <p:cNvPr id="427" name="TextBox 7"/>
          <p:cNvSpPr/>
          <p:nvPr/>
        </p:nvSpPr>
        <p:spPr>
          <a:xfrm>
            <a:off x="223920" y="5444280"/>
            <a:ext cx="3607200" cy="819720"/>
          </a:xfrm>
          <a:prstGeom prst="rect">
            <a:avLst/>
          </a:prstGeom>
          <a:solidFill>
            <a:schemeClr val="bg1">
              <a:lumMod val="95000"/>
            </a:schemeClr>
          </a:solidFill>
          <a:ln w="0">
            <a:solidFill>
              <a:srgbClr val="5b9bd5"/>
            </a:solid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Calibri"/>
              </a:rPr>
              <a:t>Conflicts in Texts: Data, Implications and Challenges</a:t>
            </a:r>
            <a:r>
              <a:rPr b="0" lang="en-US" sz="1600" spc="-1" strike="noStrike">
                <a:solidFill>
                  <a:srgbClr val="000000"/>
                </a:solidFill>
                <a:latin typeface="Calibri"/>
              </a:rPr>
              <a:t>, Liu &amp; Roth, EMNLP 2025</a:t>
            </a:r>
            <a:endParaRPr b="0" lang="en-US" sz="1600" spc="-1" strike="noStrike">
              <a:latin typeface="Arial"/>
            </a:endParaRPr>
          </a:p>
        </p:txBody>
      </p:sp>
      <p:pic>
        <p:nvPicPr>
          <p:cNvPr id="428" name="Google Shape;206;p35" descr=""/>
          <p:cNvPicPr/>
          <p:nvPr/>
        </p:nvPicPr>
        <p:blipFill>
          <a:blip r:embed="rId3"/>
          <a:stretch/>
        </p:blipFill>
        <p:spPr>
          <a:xfrm>
            <a:off x="8042400" y="922320"/>
            <a:ext cx="3949200" cy="3742560"/>
          </a:xfrm>
          <a:prstGeom prst="rect">
            <a:avLst/>
          </a:prstGeom>
          <a:ln w="28575">
            <a:solidFill>
              <a:srgbClr val="5b9bd5"/>
            </a:solidFill>
            <a:round/>
          </a:ln>
        </p:spPr>
      </p:pic>
      <p:sp>
        <p:nvSpPr>
          <p:cNvPr id="429" name="Google Shape;204;p35"/>
          <p:cNvSpPr/>
          <p:nvPr/>
        </p:nvSpPr>
        <p:spPr>
          <a:xfrm>
            <a:off x="8146440" y="4734720"/>
            <a:ext cx="3741480" cy="884520"/>
          </a:xfrm>
          <a:prstGeom prst="rect">
            <a:avLst/>
          </a:prstGeom>
          <a:solidFill>
            <a:schemeClr val="bg1">
              <a:lumMod val="95000"/>
            </a:schemeClr>
          </a:solidFill>
          <a:ln w="0">
            <a:solidFill>
              <a:srgbClr val="5b9bd5"/>
            </a:solidFill>
          </a:ln>
        </p:spPr>
        <p:style>
          <a:lnRef idx="0"/>
          <a:fillRef idx="0"/>
          <a:effectRef idx="0"/>
          <a:fontRef idx="minor"/>
        </p:style>
        <p:txBody>
          <a:bodyPr tIns="91440" bIns="91440" anchor="t">
            <a:noAutofit/>
          </a:bodyPr>
          <a:p>
            <a:pPr>
              <a:lnSpc>
                <a:spcPct val="100000"/>
              </a:lnSpc>
              <a:buNone/>
              <a:tabLst>
                <a:tab algn="l" pos="0"/>
              </a:tabLst>
            </a:pPr>
            <a:r>
              <a:rPr b="0" lang="en" sz="1600" spc="-1" strike="noStrike">
                <a:solidFill>
                  <a:srgbClr val="000000"/>
                </a:solidFill>
                <a:latin typeface="Calibri"/>
                <a:ea typeface="Calibri"/>
              </a:rPr>
              <a:t>Sihao Chen, et al. </a:t>
            </a:r>
            <a:r>
              <a:rPr b="1" lang="en" sz="1600" spc="-1" strike="noStrike">
                <a:solidFill>
                  <a:srgbClr val="000000"/>
                </a:solidFill>
                <a:latin typeface="Calibri"/>
                <a:ea typeface="Calibri"/>
              </a:rPr>
              <a:t>Seeing things from a different angle: discovering diverse perspectives about claims</a:t>
            </a:r>
            <a:r>
              <a:rPr b="0" lang="en" sz="1600" spc="-1" strike="noStrike">
                <a:solidFill>
                  <a:srgbClr val="000000"/>
                </a:solidFill>
                <a:latin typeface="Calibri"/>
                <a:ea typeface="Calibri"/>
              </a:rPr>
              <a:t>. NAACL 2019.</a:t>
            </a:r>
            <a:endParaRPr b="0" lang="en-US" sz="1600" spc="-1" strike="noStrike">
              <a:latin typeface="Arial"/>
            </a:endParaRPr>
          </a:p>
        </p:txBody>
      </p:sp>
      <p:pic>
        <p:nvPicPr>
          <p:cNvPr id="430" name="Google Shape;163;p30" descr=""/>
          <p:cNvPicPr/>
          <p:nvPr/>
        </p:nvPicPr>
        <p:blipFill>
          <a:blip r:embed="rId4"/>
          <a:stretch/>
        </p:blipFill>
        <p:spPr>
          <a:xfrm>
            <a:off x="4065840" y="4332600"/>
            <a:ext cx="3741480" cy="2160360"/>
          </a:xfrm>
          <a:prstGeom prst="rect">
            <a:avLst/>
          </a:prstGeom>
          <a:ln w="28575">
            <a:solidFill>
              <a:srgbClr val="5b9bd5"/>
            </a:solidFill>
            <a:round/>
          </a:ln>
        </p:spPr>
      </p:pic>
      <p:sp>
        <p:nvSpPr>
          <p:cNvPr id="431" name="Google Shape;165;p30"/>
          <p:cNvSpPr/>
          <p:nvPr/>
        </p:nvSpPr>
        <p:spPr>
          <a:xfrm>
            <a:off x="7898760" y="5844600"/>
            <a:ext cx="4236840" cy="688320"/>
          </a:xfrm>
          <a:prstGeom prst="rect">
            <a:avLst/>
          </a:prstGeom>
          <a:solidFill>
            <a:schemeClr val="bg1">
              <a:lumMod val="95000"/>
            </a:schemeClr>
          </a:solidFill>
          <a:ln w="0">
            <a:solidFill>
              <a:srgbClr val="5b9bd5"/>
            </a:solidFill>
          </a:ln>
        </p:spPr>
        <p:style>
          <a:lnRef idx="0"/>
          <a:fillRef idx="0"/>
          <a:effectRef idx="0"/>
          <a:fontRef idx="minor"/>
        </p:style>
        <p:txBody>
          <a:bodyPr tIns="91440" bIns="91440" anchor="t">
            <a:noAutofit/>
          </a:bodyPr>
          <a:p>
            <a:pPr>
              <a:lnSpc>
                <a:spcPct val="100000"/>
              </a:lnSpc>
              <a:buNone/>
              <a:tabLst>
                <a:tab algn="l" pos="0"/>
              </a:tabLst>
            </a:pPr>
            <a:r>
              <a:rPr b="0" lang="en" sz="1600" spc="-1" strike="noStrike">
                <a:solidFill>
                  <a:srgbClr val="000000"/>
                </a:solidFill>
                <a:latin typeface="Calibri"/>
                <a:ea typeface="Calibri"/>
              </a:rPr>
              <a:t>Siyi Liu et al., </a:t>
            </a:r>
            <a:r>
              <a:rPr b="1" lang="en" sz="1600" spc="-1" strike="noStrike">
                <a:solidFill>
                  <a:srgbClr val="000000"/>
                </a:solidFill>
                <a:latin typeface="Calibri"/>
                <a:ea typeface="Calibri"/>
              </a:rPr>
              <a:t>Open domain question answering with conflicting contexts</a:t>
            </a:r>
            <a:r>
              <a:rPr b="0" lang="en" sz="1600" spc="-1" strike="noStrike">
                <a:solidFill>
                  <a:srgbClr val="000000"/>
                </a:solidFill>
                <a:latin typeface="Calibri"/>
                <a:ea typeface="Calibri"/>
              </a:rPr>
              <a:t>. NAACL 2025</a:t>
            </a:r>
            <a:endParaRPr b="0" lang="en-US" sz="1600" spc="-1" strike="noStrike">
              <a:latin typeface="Arial"/>
            </a:endParaRPr>
          </a:p>
        </p:txBody>
      </p:sp>
      <p:sp>
        <p:nvSpPr>
          <p:cNvPr id="3" name="PlaceHolder 2"/>
          <p:cNvSpPr>
            <a:spLocks noGrp="1"/>
          </p:cNvSpPr>
          <p:nvPr>
            <p:ph type="sldNum" idx="2"/>
          </p:nvPr>
        </p:nvSpPr>
        <p:spPr/>
        <p:txBody>
          <a:bodyPr/>
          <a:p>
            <a:fld id="{51573B2C-1185-42F0-B2A9-062E4666B313}"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title"/>
          </p:nvPr>
        </p:nvSpPr>
        <p:spPr>
          <a:xfrm>
            <a:off x="457200" y="207000"/>
            <a:ext cx="9880200" cy="533160"/>
          </a:xfrm>
          <a:prstGeom prst="rect">
            <a:avLst/>
          </a:prstGeom>
          <a:noFill/>
          <a:ln w="0">
            <a:noFill/>
          </a:ln>
        </p:spPr>
        <p:txBody>
          <a:bodyPr numCol="1" spcCol="0" anchor="ctr">
            <a:noAutofit/>
          </a:bodyPr>
          <a:p>
            <a:pPr>
              <a:lnSpc>
                <a:spcPct val="100000"/>
              </a:lnSpc>
              <a:buNone/>
            </a:pPr>
            <a:r>
              <a:rPr b="0" lang="en-US" sz="4000" spc="-1" strike="noStrike">
                <a:solidFill>
                  <a:srgbClr val="3366cc"/>
                </a:solidFill>
                <a:latin typeface="Calibri"/>
                <a:ea typeface="Calibri"/>
              </a:rPr>
              <a:t>Conclusion</a:t>
            </a:r>
            <a:endParaRPr b="0" lang="en-US" sz="4000" spc="-1" strike="noStrike">
              <a:solidFill>
                <a:srgbClr val="000000"/>
              </a:solidFill>
              <a:latin typeface="Calibri"/>
            </a:endParaRPr>
          </a:p>
        </p:txBody>
      </p:sp>
      <p:sp>
        <p:nvSpPr>
          <p:cNvPr id="433" name="PlaceHolder 2"/>
          <p:cNvSpPr>
            <a:spLocks noGrp="1"/>
          </p:cNvSpPr>
          <p:nvPr>
            <p:ph/>
          </p:nvPr>
        </p:nvSpPr>
        <p:spPr>
          <a:xfrm>
            <a:off x="609480" y="1251720"/>
            <a:ext cx="10972440" cy="4484520"/>
          </a:xfrm>
          <a:prstGeom prst="rect">
            <a:avLst/>
          </a:prstGeom>
          <a:noFill/>
          <a:ln w="0">
            <a:noFill/>
          </a:ln>
        </p:spPr>
        <p:txBody>
          <a:bodyPr numCol="1" spcCol="0" anchor="t">
            <a:noAutofit/>
          </a:bodyPr>
          <a:p>
            <a:endParaRPr b="0" lang="en-US" sz="2400" spc="-1" strike="noStrike">
              <a:solidFill>
                <a:srgbClr val="000000"/>
              </a:solidFill>
              <a:latin typeface="Calibri"/>
            </a:endParaRPr>
          </a:p>
        </p:txBody>
      </p:sp>
      <p:pic>
        <p:nvPicPr>
          <p:cNvPr id="434" name="Picture 5" descr=""/>
          <p:cNvPicPr/>
          <p:nvPr/>
        </p:nvPicPr>
        <p:blipFill>
          <a:blip r:embed="rId1"/>
          <a:stretch/>
        </p:blipFill>
        <p:spPr>
          <a:xfrm>
            <a:off x="10819440" y="975960"/>
            <a:ext cx="1162440" cy="5547600"/>
          </a:xfrm>
          <a:prstGeom prst="rect">
            <a:avLst/>
          </a:prstGeom>
          <a:ln w="0">
            <a:solidFill>
              <a:srgbClr val="3366cc"/>
            </a:solidFill>
          </a:ln>
        </p:spPr>
      </p:pic>
      <p:pic>
        <p:nvPicPr>
          <p:cNvPr id="435" name="Picture 7" descr=""/>
          <p:cNvPicPr/>
          <p:nvPr/>
        </p:nvPicPr>
        <p:blipFill>
          <a:blip r:embed="rId2"/>
          <a:stretch/>
        </p:blipFill>
        <p:spPr>
          <a:xfrm>
            <a:off x="8038440" y="975960"/>
            <a:ext cx="2761920" cy="3740040"/>
          </a:xfrm>
          <a:prstGeom prst="rect">
            <a:avLst/>
          </a:prstGeom>
          <a:ln w="0">
            <a:solidFill>
              <a:srgbClr val="3366cc"/>
            </a:solidFill>
          </a:ln>
        </p:spPr>
      </p:pic>
      <p:pic>
        <p:nvPicPr>
          <p:cNvPr id="436" name="Picture 9" descr=""/>
          <p:cNvPicPr/>
          <p:nvPr/>
        </p:nvPicPr>
        <p:blipFill>
          <a:blip r:embed="rId3"/>
          <a:stretch/>
        </p:blipFill>
        <p:spPr>
          <a:xfrm>
            <a:off x="8113680" y="4924080"/>
            <a:ext cx="2616120" cy="1625400"/>
          </a:xfrm>
          <a:prstGeom prst="rect">
            <a:avLst/>
          </a:prstGeom>
          <a:ln w="0">
            <a:solidFill>
              <a:srgbClr val="3366cc"/>
            </a:solidFill>
          </a:ln>
        </p:spPr>
      </p:pic>
      <p:pic>
        <p:nvPicPr>
          <p:cNvPr id="437" name="Picture 2" descr=""/>
          <p:cNvPicPr/>
          <p:nvPr/>
        </p:nvPicPr>
        <p:blipFill>
          <a:blip r:embed="rId4"/>
          <a:stretch/>
        </p:blipFill>
        <p:spPr>
          <a:xfrm>
            <a:off x="209880" y="975960"/>
            <a:ext cx="7682760" cy="4349880"/>
          </a:xfrm>
          <a:prstGeom prst="rect">
            <a:avLst/>
          </a:prstGeom>
          <a:ln w="9525">
            <a:solidFill>
              <a:srgbClr val="3366cc"/>
            </a:solidFill>
            <a:miter/>
          </a:ln>
        </p:spPr>
      </p:pic>
      <p:pic>
        <p:nvPicPr>
          <p:cNvPr id="438" name="Picture 11" descr=""/>
          <p:cNvPicPr/>
          <p:nvPr/>
        </p:nvPicPr>
        <p:blipFill>
          <a:blip r:embed="rId5"/>
          <a:stretch/>
        </p:blipFill>
        <p:spPr>
          <a:xfrm>
            <a:off x="2447280" y="5304600"/>
            <a:ext cx="4286160" cy="1333080"/>
          </a:xfrm>
          <a:prstGeom prst="rect">
            <a:avLst/>
          </a:prstGeom>
          <a:ln w="0">
            <a:solidFill>
              <a:srgbClr val="3366cc"/>
            </a:solidFill>
          </a:ln>
        </p:spPr>
      </p:pic>
      <p:sp>
        <p:nvSpPr>
          <p:cNvPr id="439" name="TextBox 4"/>
          <p:cNvSpPr/>
          <p:nvPr/>
        </p:nvSpPr>
        <p:spPr>
          <a:xfrm>
            <a:off x="59400" y="6331680"/>
            <a:ext cx="2344320" cy="576360"/>
          </a:xfrm>
          <a:prstGeom prst="rect">
            <a:avLst/>
          </a:prstGeom>
          <a:solidFill>
            <a:schemeClr val="bg1">
              <a:lumMod val="95000"/>
            </a:schemeClr>
          </a:solidFill>
          <a:ln w="0">
            <a:solidFill>
              <a:srgbClr val="3366cc"/>
            </a:solidFill>
          </a:ln>
        </p:spPr>
        <p:style>
          <a:lnRef idx="0"/>
          <a:fillRef idx="0"/>
          <a:effectRef idx="0"/>
          <a:fontRef idx="minor"/>
        </p:style>
        <p:txBody>
          <a:bodyPr lIns="90000" rIns="90000" tIns="45000" bIns="45000" anchor="t">
            <a:spAutoFit/>
          </a:bodyPr>
          <a:p>
            <a:pPr algn="ctr">
              <a:lnSpc>
                <a:spcPct val="100000"/>
              </a:lnSpc>
              <a:buNone/>
            </a:pPr>
            <a:r>
              <a:rPr b="0" lang="en-US" sz="1600" spc="-1" strike="noStrike">
                <a:solidFill>
                  <a:srgbClr val="000000"/>
                </a:solidFill>
                <a:latin typeface="Calibri"/>
              </a:rPr>
              <a:t>With Vivek Gupta, et al.</a:t>
            </a:r>
            <a:endParaRPr b="0" lang="en-US" sz="1600" spc="-1" strike="noStrike">
              <a:latin typeface="Arial"/>
            </a:endParaRPr>
          </a:p>
        </p:txBody>
      </p:sp>
      <p:sp>
        <p:nvSpPr>
          <p:cNvPr id="440" name="TextBox 8"/>
          <p:cNvSpPr/>
          <p:nvPr/>
        </p:nvSpPr>
        <p:spPr>
          <a:xfrm>
            <a:off x="2747520" y="869760"/>
            <a:ext cx="6696360" cy="912600"/>
          </a:xfrm>
          <a:prstGeom prst="rect">
            <a:avLst/>
          </a:prstGeom>
          <a:solidFill>
            <a:schemeClr val="bg1">
              <a:lumMod val="95000"/>
            </a:schemeClr>
          </a:solidFill>
          <a:ln w="28575">
            <a:solidFill>
              <a:srgbClr val="3366cc"/>
            </a:solidFill>
            <a:round/>
          </a:ln>
        </p:spPr>
        <p:style>
          <a:lnRef idx="0"/>
          <a:fillRef idx="0"/>
          <a:effectRef idx="0"/>
          <a:fontRef idx="minor"/>
        </p:style>
        <p:txBody>
          <a:bodyPr lIns="90000" rIns="90000" tIns="45000" bIns="45000" anchor="t">
            <a:spAutoFit/>
          </a:bodyPr>
          <a:p>
            <a:pPr>
              <a:lnSpc>
                <a:spcPct val="100000"/>
              </a:lnSpc>
              <a:spcBef>
                <a:spcPts val="1199"/>
              </a:spcBef>
              <a:buNone/>
              <a:tabLst>
                <a:tab algn="l" pos="0"/>
              </a:tabLst>
            </a:pPr>
            <a:r>
              <a:rPr b="0" lang="en-US" sz="1800" spc="-1" strike="noStrike">
                <a:solidFill>
                  <a:srgbClr val="000000"/>
                </a:solidFill>
                <a:latin typeface="Calibri"/>
              </a:rPr>
              <a:t>Real-world data is often </a:t>
            </a:r>
            <a:r>
              <a:rPr b="1" lang="en-US" sz="1800" spc="-1" strike="noStrike">
                <a:solidFill>
                  <a:srgbClr val="000000"/>
                </a:solidFill>
                <a:latin typeface="Calibri"/>
              </a:rPr>
              <a:t>multimodal</a:t>
            </a:r>
            <a:r>
              <a:rPr b="0" lang="en-US" sz="1800" spc="-1" strike="noStrike">
                <a:solidFill>
                  <a:srgbClr val="000000"/>
                </a:solidFill>
                <a:latin typeface="Calibri"/>
              </a:rPr>
              <a:t>, </a:t>
            </a:r>
            <a:r>
              <a:rPr b="1" lang="en-US" sz="1800" spc="-1" strike="noStrike">
                <a:solidFill>
                  <a:srgbClr val="000000"/>
                </a:solidFill>
                <a:latin typeface="Calibri"/>
              </a:rPr>
              <a:t>temporal</a:t>
            </a:r>
            <a:r>
              <a:rPr b="0" lang="en-US" sz="1800" spc="-1" strike="noStrike">
                <a:solidFill>
                  <a:srgbClr val="000000"/>
                </a:solidFill>
                <a:latin typeface="Calibri"/>
              </a:rPr>
              <a:t>, </a:t>
            </a:r>
            <a:r>
              <a:rPr b="1" lang="en-US" sz="1800" spc="-1" strike="noStrike">
                <a:solidFill>
                  <a:srgbClr val="000000"/>
                </a:solidFill>
                <a:latin typeface="Calibri"/>
              </a:rPr>
              <a:t>multilingual</a:t>
            </a:r>
            <a:r>
              <a:rPr b="0" lang="en-US" sz="1800" spc="-1" strike="noStrike">
                <a:solidFill>
                  <a:srgbClr val="000000"/>
                </a:solidFill>
                <a:latin typeface="Calibri"/>
              </a:rPr>
              <a:t>, and it is still challenging to access, understand, and use it reliably</a:t>
            </a:r>
            <a:endParaRPr b="0" lang="en-US" sz="1800" spc="-1" strike="noStrike">
              <a:latin typeface="Arial"/>
            </a:endParaRPr>
          </a:p>
        </p:txBody>
      </p:sp>
      <p:sp>
        <p:nvSpPr>
          <p:cNvPr id="441" name="TextBox 14"/>
          <p:cNvSpPr/>
          <p:nvPr/>
        </p:nvSpPr>
        <p:spPr>
          <a:xfrm>
            <a:off x="1175760" y="2786400"/>
            <a:ext cx="9839880" cy="1471680"/>
          </a:xfrm>
          <a:prstGeom prst="rect">
            <a:avLst/>
          </a:prstGeom>
          <a:solidFill>
            <a:schemeClr val="bg1">
              <a:lumMod val="85000"/>
            </a:schemeClr>
          </a:solidFill>
          <a:ln w="38100">
            <a:solidFill>
              <a:srgbClr val="478fe1"/>
            </a:solidFill>
            <a:round/>
          </a:ln>
        </p:spPr>
        <p:style>
          <a:lnRef idx="0"/>
          <a:fillRef idx="0"/>
          <a:effectRef idx="0"/>
          <a:fontRef idx="minor"/>
        </p:style>
        <p:txBody>
          <a:bodyPr lIns="90000" rIns="90000" tIns="45000" bIns="45000" anchor="t">
            <a:spAutoFit/>
          </a:bodyPr>
          <a:p>
            <a:pPr marL="343080" indent="-343080">
              <a:lnSpc>
                <a:spcPct val="100000"/>
              </a:lnSpc>
              <a:spcBef>
                <a:spcPts val="479"/>
              </a:spcBef>
              <a:buClr>
                <a:srgbClr val="3b3838"/>
              </a:buClr>
              <a:buSzPct val="75000"/>
              <a:buFont typeface="Wingdings" charset="2"/>
              <a:buChar char=""/>
            </a:pPr>
            <a:r>
              <a:rPr b="0" lang="en-US" sz="2400" spc="-1" strike="noStrike">
                <a:solidFill>
                  <a:srgbClr val="000000"/>
                </a:solidFill>
                <a:latin typeface="Calibri"/>
                <a:ea typeface="Calibri"/>
              </a:rPr>
              <a:t>The key use case for LLMs is going to be that of </a:t>
            </a:r>
            <a:endParaRPr b="0" lang="en-US" sz="24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Orchestrating and supporting </a:t>
            </a:r>
            <a:r>
              <a:rPr b="1" lang="en-US" sz="2000" spc="-1" strike="noStrike">
                <a:solidFill>
                  <a:srgbClr val="3366cc"/>
                </a:solidFill>
                <a:latin typeface="Calibri"/>
                <a:ea typeface="Calibri"/>
              </a:rPr>
              <a:t>access and use of external data </a:t>
            </a:r>
            <a:endParaRPr b="0" lang="en-US" sz="2000" spc="-1" strike="noStrike">
              <a:latin typeface="Arial"/>
            </a:endParaRPr>
          </a:p>
          <a:p>
            <a:pPr lvl="1" marL="743040" indent="-285840">
              <a:lnSpc>
                <a:spcPct val="100000"/>
              </a:lnSpc>
              <a:spcBef>
                <a:spcPts val="400"/>
              </a:spcBef>
              <a:buClr>
                <a:srgbClr val="3b3838"/>
              </a:buClr>
              <a:buSzPct val="80000"/>
              <a:buFont typeface="Wingdings" charset="2"/>
              <a:buChar char=""/>
            </a:pPr>
            <a:r>
              <a:rPr b="0" lang="en-US" sz="2000" spc="-1" strike="noStrike">
                <a:solidFill>
                  <a:srgbClr val="3366cc"/>
                </a:solidFill>
                <a:latin typeface="Calibri"/>
                <a:ea typeface="Calibri"/>
              </a:rPr>
              <a:t>Multiple heterogenous knowledge sources that models will not see prior to run time</a:t>
            </a:r>
            <a:endParaRPr b="0" lang="en-US" sz="2000" spc="-1" strike="noStrike">
              <a:latin typeface="Arial"/>
            </a:endParaRPr>
          </a:p>
        </p:txBody>
      </p:sp>
      <p:sp>
        <p:nvSpPr>
          <p:cNvPr id="442" name="TextBox 15"/>
          <p:cNvSpPr/>
          <p:nvPr/>
        </p:nvSpPr>
        <p:spPr>
          <a:xfrm>
            <a:off x="1602360" y="4321800"/>
            <a:ext cx="8484480" cy="821160"/>
          </a:xfrm>
          <a:prstGeom prst="rect">
            <a:avLst/>
          </a:prstGeom>
          <a:solidFill>
            <a:schemeClr val="bg1">
              <a:lumMod val="85000"/>
            </a:schemeClr>
          </a:solidFill>
          <a:ln w="38100">
            <a:solidFill>
              <a:srgbClr val="478fe1"/>
            </a:solidFill>
            <a:round/>
          </a:ln>
        </p:spPr>
        <p:style>
          <a:lnRef idx="0"/>
          <a:fillRef idx="0"/>
          <a:effectRef idx="0"/>
          <a:fontRef idx="minor"/>
        </p:style>
        <p:txBody>
          <a:bodyPr lIns="90000" rIns="90000" tIns="45000" bIns="45000" anchor="t">
            <a:spAutoFit/>
          </a:bodyPr>
          <a:p>
            <a:pPr algn="ctr">
              <a:lnSpc>
                <a:spcPct val="100000"/>
              </a:lnSpc>
              <a:spcBef>
                <a:spcPts val="479"/>
              </a:spcBef>
              <a:buNone/>
            </a:pPr>
            <a:r>
              <a:rPr b="0" lang="en-US" sz="2400" spc="-1" strike="noStrike">
                <a:solidFill>
                  <a:srgbClr val="000000"/>
                </a:solidFill>
                <a:latin typeface="Calibri"/>
                <a:ea typeface="Calibri"/>
              </a:rPr>
              <a:t>And the consumers are going to be both humans and AI agents. </a:t>
            </a:r>
            <a:endParaRPr b="0" lang="en-US" sz="2400" spc="-1" strike="noStrike">
              <a:latin typeface="Arial"/>
            </a:endParaRPr>
          </a:p>
        </p:txBody>
      </p:sp>
      <p:sp>
        <p:nvSpPr>
          <p:cNvPr id="443" name="TextBox 16"/>
          <p:cNvSpPr/>
          <p:nvPr/>
        </p:nvSpPr>
        <p:spPr>
          <a:xfrm>
            <a:off x="1602360" y="5211720"/>
            <a:ext cx="8484480" cy="1186920"/>
          </a:xfrm>
          <a:prstGeom prst="rect">
            <a:avLst/>
          </a:prstGeom>
          <a:solidFill>
            <a:schemeClr val="bg1">
              <a:lumMod val="85000"/>
            </a:schemeClr>
          </a:solidFill>
          <a:ln w="38100">
            <a:solidFill>
              <a:srgbClr val="478fe1"/>
            </a:solidFill>
            <a:round/>
          </a:ln>
        </p:spPr>
        <p:style>
          <a:lnRef idx="0"/>
          <a:fillRef idx="0"/>
          <a:effectRef idx="0"/>
          <a:fontRef idx="minor"/>
        </p:style>
        <p:txBody>
          <a:bodyPr lIns="90000" rIns="90000" tIns="45000" bIns="45000" anchor="t">
            <a:spAutoFit/>
          </a:bodyPr>
          <a:p>
            <a:pPr algn="ctr">
              <a:lnSpc>
                <a:spcPct val="100000"/>
              </a:lnSpc>
              <a:spcBef>
                <a:spcPts val="479"/>
              </a:spcBef>
              <a:buNone/>
            </a:pPr>
            <a:r>
              <a:rPr b="0" lang="en-US" sz="2400" spc="-1" strike="noStrike">
                <a:solidFill>
                  <a:srgbClr val="000000"/>
                </a:solidFill>
                <a:latin typeface="Calibri"/>
                <a:ea typeface="Calibri"/>
              </a:rPr>
              <a:t>There is work to do in core problems – from retrieval, to structure, to planning and dealing with conflicting information. </a:t>
            </a:r>
            <a:endParaRPr b="0" lang="en-US" sz="2400" spc="-1" strike="noStrike">
              <a:latin typeface="Arial"/>
            </a:endParaRPr>
          </a:p>
        </p:txBody>
      </p:sp>
      <p:sp>
        <p:nvSpPr>
          <p:cNvPr id="444" name="TextBox 17"/>
          <p:cNvSpPr/>
          <p:nvPr/>
        </p:nvSpPr>
        <p:spPr>
          <a:xfrm>
            <a:off x="5981400" y="186120"/>
            <a:ext cx="1916280" cy="455400"/>
          </a:xfrm>
          <a:prstGeom prst="rect">
            <a:avLst/>
          </a:prstGeom>
          <a:solidFill>
            <a:schemeClr val="bg1">
              <a:lumMod val="95000"/>
            </a:schemeClr>
          </a:solidFill>
          <a:ln w="9525">
            <a:solidFill>
              <a:srgbClr val="3366cc"/>
            </a:solidFill>
            <a:miter/>
          </a:ln>
        </p:spPr>
        <p:style>
          <a:lnRef idx="0"/>
          <a:fillRef idx="0"/>
          <a:effectRef idx="0"/>
          <a:fontRef idx="minor"/>
        </p:style>
        <p:txBody>
          <a:bodyPr lIns="90000" rIns="90000" tIns="45000" bIns="45000" anchor="t">
            <a:spAutoFit/>
          </a:bodyPr>
          <a:p>
            <a:pPr algn="ctr">
              <a:lnSpc>
                <a:spcPct val="100000"/>
              </a:lnSpc>
              <a:buNone/>
            </a:pPr>
            <a:r>
              <a:rPr b="0" lang="en-US" sz="2400" spc="-1" strike="noStrike">
                <a:solidFill>
                  <a:srgbClr val="000000"/>
                </a:solidFill>
                <a:latin typeface="Calibri"/>
              </a:rPr>
              <a:t>Thank You!</a:t>
            </a:r>
            <a:endParaRPr b="0" lang="en-US" sz="2400" spc="-1" strike="noStrike">
              <a:latin typeface="Arial"/>
            </a:endParaRPr>
          </a:p>
        </p:txBody>
      </p:sp>
      <p:sp>
        <p:nvSpPr>
          <p:cNvPr id="4" name="PlaceHolder 3"/>
          <p:cNvSpPr>
            <a:spLocks noGrp="1"/>
          </p:cNvSpPr>
          <p:nvPr>
            <p:ph type="sldNum" idx="2"/>
          </p:nvPr>
        </p:nvSpPr>
        <p:spPr/>
        <p:txBody>
          <a:bodyPr/>
          <a:p>
            <a:fld id="{F30F82AA-7C97-4B83-95EA-6A15C7F3786D}" type="slidenum">
              <a:t>32</a:t>
            </a:fld>
          </a:p>
        </p:txBody>
      </p:sp>
    </p:spTree>
  </p:cSld>
  <mc:AlternateContent>
    <mc:Choice Requires="p14">
      <p:transition spd="slow" p14:dur="2000"/>
    </mc:Choice>
    <mc:Fallback>
      <p:transition spd="slow"/>
    </mc:Fallback>
  </mc:AlternateContent>
  <p:timing>
    <p:tnLst>
      <p:par>
        <p:cTn id="520" dur="indefinite" restart="never" nodeType="tmRoot">
          <p:childTnLst>
            <p:seq>
              <p:cTn id="521" dur="indefinite" nodeType="mainSeq">
                <p:childTnLst>
                  <p:par>
                    <p:cTn id="522" fill="hold">
                      <p:stCondLst>
                        <p:cond delay="indefinite"/>
                      </p:stCondLst>
                      <p:childTnLst>
                        <p:par>
                          <p:cTn id="523" fill="hold">
                            <p:stCondLst>
                              <p:cond delay="0"/>
                            </p:stCondLst>
                            <p:childTnLst>
                              <p:par>
                                <p:cTn id="524" nodeType="clickEffect" fill="hold" presetClass="entr" presetID="1">
                                  <p:stCondLst>
                                    <p:cond delay="0"/>
                                  </p:stCondLst>
                                  <p:childTnLst>
                                    <p:set>
                                      <p:cBhvr>
                                        <p:cTn id="525" dur="1" fill="hold">
                                          <p:stCondLst>
                                            <p:cond delay="0"/>
                                          </p:stCondLst>
                                        </p:cTn>
                                        <p:tgtEl>
                                          <p:spTgt spid="440"/>
                                        </p:tgtEl>
                                        <p:attrNameLst>
                                          <p:attrName>style.visibility</p:attrName>
                                        </p:attrNameLst>
                                      </p:cBhvr>
                                      <p:to>
                                        <p:strVal val="visible"/>
                                      </p:to>
                                    </p:set>
                                  </p:childTnLst>
                                </p:cTn>
                              </p:par>
                            </p:childTnLst>
                          </p:cTn>
                        </p:par>
                      </p:childTnLst>
                    </p:cTn>
                  </p:par>
                  <p:par>
                    <p:cTn id="526" fill="hold">
                      <p:stCondLst>
                        <p:cond delay="indefinite"/>
                      </p:stCondLst>
                      <p:childTnLst>
                        <p:par>
                          <p:cTn id="527" fill="hold">
                            <p:stCondLst>
                              <p:cond delay="0"/>
                            </p:stCondLst>
                            <p:childTnLst>
                              <p:par>
                                <p:cTn id="528" nodeType="clickEffect" fill="hold" presetClass="entr" presetID="1">
                                  <p:stCondLst>
                                    <p:cond delay="0"/>
                                  </p:stCondLst>
                                  <p:childTnLst>
                                    <p:set>
                                      <p:cBhvr>
                                        <p:cTn id="529" dur="1" fill="hold">
                                          <p:stCondLst>
                                            <p:cond delay="0"/>
                                          </p:stCondLst>
                                        </p:cTn>
                                        <p:tgtEl>
                                          <p:spTgt spid="441"/>
                                        </p:tgtEl>
                                        <p:attrNameLst>
                                          <p:attrName>style.visibility</p:attrName>
                                        </p:attrNameLst>
                                      </p:cBhvr>
                                      <p:to>
                                        <p:strVal val="visible"/>
                                      </p:to>
                                    </p:set>
                                  </p:childTnLst>
                                </p:cTn>
                              </p:par>
                              <p:par>
                                <p:cTn id="530" nodeType="withEffect" fill="hold" presetClass="entr" presetID="1">
                                  <p:stCondLst>
                                    <p:cond delay="0"/>
                                  </p:stCondLst>
                                  <p:childTnLst>
                                    <p:set>
                                      <p:cBhvr>
                                        <p:cTn id="531" dur="1" fill="hold">
                                          <p:stCondLst>
                                            <p:cond delay="0"/>
                                          </p:stCondLst>
                                        </p:cTn>
                                        <p:tgtEl>
                                          <p:spTgt spid="442"/>
                                        </p:tgtEl>
                                        <p:attrNameLst>
                                          <p:attrName>style.visibility</p:attrName>
                                        </p:attrNameLst>
                                      </p:cBhvr>
                                      <p:to>
                                        <p:strVal val="visible"/>
                                      </p:to>
                                    </p:set>
                                  </p:childTnLst>
                                </p:cTn>
                              </p:par>
                              <p:par>
                                <p:cTn id="532" nodeType="withEffect" fill="hold" presetClass="entr" presetID="1">
                                  <p:stCondLst>
                                    <p:cond delay="0"/>
                                  </p:stCondLst>
                                  <p:childTnLst>
                                    <p:set>
                                      <p:cBhvr>
                                        <p:cTn id="533" dur="1" fill="hold">
                                          <p:stCondLst>
                                            <p:cond delay="0"/>
                                          </p:stCondLst>
                                        </p:cTn>
                                        <p:tgtEl>
                                          <p:spTgt spid="443"/>
                                        </p:tgtEl>
                                        <p:attrNameLst>
                                          <p:attrName>style.visibility</p:attrName>
                                        </p:attrNameLst>
                                      </p:cBhvr>
                                      <p:to>
                                        <p:strVal val="visible"/>
                                      </p:to>
                                    </p:set>
                                  </p:childTnLst>
                                </p:cTn>
                              </p:par>
                            </p:childTnLst>
                          </p:cTn>
                        </p:par>
                      </p:childTnLst>
                    </p:cTn>
                  </p:par>
                  <p:par>
                    <p:cTn id="534" fill="hold">
                      <p:stCondLst>
                        <p:cond delay="indefinite"/>
                      </p:stCondLst>
                      <p:childTnLst>
                        <p:par>
                          <p:cTn id="535" fill="hold">
                            <p:stCondLst>
                              <p:cond delay="0"/>
                            </p:stCondLst>
                            <p:childTnLst>
                              <p:par>
                                <p:cTn id="536" nodeType="clickEffect" fill="hold" presetClass="entr" presetID="5" presetSubtype="10">
                                  <p:stCondLst>
                                    <p:cond delay="0"/>
                                  </p:stCondLst>
                                  <p:childTnLst>
                                    <p:set>
                                      <p:cBhvr>
                                        <p:cTn id="537" dur="1" fill="hold">
                                          <p:stCondLst>
                                            <p:cond delay="0"/>
                                          </p:stCondLst>
                                        </p:cTn>
                                        <p:tgtEl>
                                          <p:spTgt spid="444"/>
                                        </p:tgtEl>
                                        <p:attrNameLst>
                                          <p:attrName>style.visibility</p:attrName>
                                        </p:attrNameLst>
                                      </p:cBhvr>
                                      <p:to>
                                        <p:strVal val="visible"/>
                                      </p:to>
                                    </p:set>
                                    <p:animEffect filter="checkerboard(across)" transition="in">
                                      <p:cBhvr additive="repl">
                                        <p:cTn id="538" dur="5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penn-ccg</Template>
  <TotalTime>120912</TotalTime>
  <Application>LibreOffice/7.3.7.2$Linux_X86_64 LibreOffice_project/30$Build-2</Application>
  <AppVersion>15.0000</AppVersion>
  <Words>3548</Words>
  <Paragraphs>486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2017-10-04T15:10:59Z</dcterms:created>
  <dc:creator>danroth@seas.upenn.edu</dc:creator>
  <dc:description/>
  <dc:language>en-US</dc:language>
  <cp:lastModifiedBy>Roth, Dan</cp:lastModifiedBy>
  <dcterms:modified xsi:type="dcterms:W3CDTF">2026-06-04T22:51:20Z</dcterms:modified>
  <cp:revision>1056</cp:revision>
  <dc:subject/>
  <dc:title>Planning Slides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4</vt:i4>
  </property>
  <property fmtid="{D5CDD505-2E9C-101B-9397-08002B2CF9AE}" pid="3" name="Notes">
    <vt:i4>12</vt:i4>
  </property>
  <property fmtid="{D5CDD505-2E9C-101B-9397-08002B2CF9AE}" pid="4" name="PresentationFormat">
    <vt:lpwstr>Widescreen</vt:lpwstr>
  </property>
  <property fmtid="{D5CDD505-2E9C-101B-9397-08002B2CF9AE}" pid="5" name="Slides">
    <vt:i4>32</vt:i4>
  </property>
</Properties>
</file>